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Mad Dog Facility Partners — Confidential Investor Teaser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SDVOSB  ·  Janitorial &amp; Facility Services  ·  IL  ·  WI  ·  AZ  ·  TX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2787319" cy="1024128"/>
          </a:xfrm>
          <a:prstGeom prst="rect">
            <a:avLst/>
          </a:prstGeom>
          <a:solidFill>
            <a:srgbClr val="1A355C"/>
          </a:solidFill>
          <a:ln w="1905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2025 Revenue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$693K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+19% vs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6231" y="1078992"/>
            <a:ext cx="2787319" cy="1024128"/>
          </a:xfrm>
          <a:prstGeom prst="rect">
            <a:avLst/>
          </a:prstGeom>
          <a:solidFill>
            <a:srgbClr val="1A355C"/>
          </a:solidFill>
          <a:ln w="1905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2025 Net Income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$134K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19% margin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1078992"/>
            <a:ext cx="2787319" cy="1024128"/>
          </a:xfrm>
          <a:prstGeom prst="rect">
            <a:avLst/>
          </a:prstGeom>
          <a:solidFill>
            <a:srgbClr val="1A355C"/>
          </a:solidFill>
          <a:ln w="1905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Current MRR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~$50K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+$170K ARR added YTD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30055" y="1078992"/>
            <a:ext cx="2787319" cy="1024128"/>
          </a:xfrm>
          <a:prstGeom prst="rect">
            <a:avLst/>
          </a:prstGeom>
          <a:solidFill>
            <a:srgbClr val="1A355C"/>
          </a:solidFill>
          <a:ln w="1905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Raise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$300K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Convertible 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12848"/>
            <a:ext cx="5730087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12848"/>
            <a:ext cx="5730087" cy="3017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263648"/>
            <a:ext cx="56203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story so far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660904"/>
            <a:ext cx="64008" cy="6400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578608"/>
            <a:ext cx="5382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Acquired at $425K revenue in 2024, grew to $693K by end of 2025.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3182111"/>
            <a:ext cx="64008" cy="6400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099815"/>
            <a:ext cx="5382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Lost largest customer Sept 2025 — $336K ARR gone overnight.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3703318"/>
            <a:ext cx="64008" cy="6400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621022"/>
            <a:ext cx="5382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Added $170K ARR in under 4 months on fractional sales effort with no dedicated SDR.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4224525"/>
            <a:ext cx="64008" cy="6400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142229"/>
            <a:ext cx="5382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2026 Q1 at ~$141K revenue (including $33K in AR) — run rate on recovery trajectory.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4709156"/>
            <a:ext cx="5474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355C"/>
                </a:solidFill>
                <a:latin typeface="Calibri"/>
              </a:rPr>
              <a:t>We did this part-time. Imagine what a full-time SDR unlocks.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2212848"/>
            <a:ext cx="5730087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2212848"/>
            <a:ext cx="5730087" cy="3017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7015" y="2263648"/>
            <a:ext cx="56203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 of proceeds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2560320"/>
            <a:ext cx="5547207" cy="3566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2598420"/>
            <a:ext cx="5181447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SDR hire (base + ramp)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59007" y="2598420"/>
            <a:ext cx="502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2E"/>
                </a:solidFill>
                <a:latin typeface="Calibri"/>
              </a:rPr>
              <a:t>$110K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8727" y="2916936"/>
            <a:ext cx="5547207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1879" y="2955036"/>
            <a:ext cx="5181447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Founder comp increase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59007" y="2955036"/>
            <a:ext cx="502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2E"/>
                </a:solidFill>
                <a:latin typeface="Calibri"/>
              </a:rPr>
              <a:t>$20K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8727" y="3273552"/>
            <a:ext cx="5547207" cy="3566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1879" y="3311652"/>
            <a:ext cx="5181447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Working capital cushion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59007" y="3311652"/>
            <a:ext cx="502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2E"/>
                </a:solidFill>
                <a:latin typeface="Calibri"/>
              </a:rPr>
              <a:t>$40K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8727" y="3630168"/>
            <a:ext cx="5547207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1879" y="3668268"/>
            <a:ext cx="5181447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M&amp;A dry powder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59007" y="3668268"/>
            <a:ext cx="502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2E"/>
                </a:solidFill>
                <a:latin typeface="Calibri"/>
              </a:rPr>
              <a:t>$130K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8727" y="3986784"/>
            <a:ext cx="5547207" cy="35661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1879" y="4024884"/>
            <a:ext cx="5181447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59007" y="4024884"/>
            <a:ext cx="502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$300K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8727" y="4453128"/>
            <a:ext cx="1345653" cy="566928"/>
          </a:xfrm>
          <a:prstGeom prst="rect">
            <a:avLst/>
          </a:prstGeom>
          <a:solidFill>
            <a:srgbClr val="1A355C"/>
          </a:solidFill>
          <a:ln w="1524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Amount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$300K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79245" y="4453128"/>
            <a:ext cx="1345653" cy="566928"/>
          </a:xfrm>
          <a:prstGeom prst="rect">
            <a:avLst/>
          </a:prstGeom>
          <a:solidFill>
            <a:srgbClr val="1A355C"/>
          </a:solidFill>
          <a:ln w="1524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PIK Rate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15%/yr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79763" y="4453128"/>
            <a:ext cx="1345653" cy="566928"/>
          </a:xfrm>
          <a:prstGeom prst="rect">
            <a:avLst/>
          </a:prstGeom>
          <a:solidFill>
            <a:srgbClr val="1A355C"/>
          </a:solidFill>
          <a:ln w="1524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Maturity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3yr + 2yr option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80281" y="4453128"/>
            <a:ext cx="1345653" cy="566928"/>
          </a:xfrm>
          <a:prstGeom prst="rect">
            <a:avLst/>
          </a:prstGeom>
          <a:solidFill>
            <a:srgbClr val="1A355C"/>
          </a:solidFill>
          <a:ln w="1524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Val. Cap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$3.5M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03492"/>
            <a:ext cx="11825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partnerships@maddogcleaning.com  ·  Confidential — not an offer to sell securities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Why this works — growth thesis and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377129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3771290" cy="274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9792"/>
            <a:ext cx="36249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Proven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36249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9A02C"/>
                </a:solidFill>
                <a:latin typeface="Calibri"/>
              </a:rPr>
              <a:t>Proven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360669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$170K ARR added in under 4 months on fractional effort. A dedicated SDR is the multiplier on an already-proven playbook.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0202" y="1078992"/>
            <a:ext cx="377129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0202" y="1078992"/>
            <a:ext cx="3771290" cy="274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9930" y="1129792"/>
            <a:ext cx="36249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M&amp;A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9930" y="1371600"/>
            <a:ext cx="36249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9A02C"/>
                </a:solidFill>
                <a:latin typeface="Calibri"/>
              </a:rPr>
              <a:t>Acquisition-led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9930" y="1627632"/>
            <a:ext cx="360669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LOI out on a Midwest target at $1.1M revenue, expected to contribute ~$150K EBITDA. Acquisition-led growth is the long game.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6084" y="1078992"/>
            <a:ext cx="377129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6084" y="1078992"/>
            <a:ext cx="3771290" cy="27432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5812" y="1129792"/>
            <a:ext cx="36249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SDVOSB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812" y="1371600"/>
            <a:ext cx="36249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9A02C"/>
                </a:solidFill>
                <a:latin typeface="Calibri"/>
              </a:rPr>
              <a:t>Structural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812" y="1627632"/>
            <a:ext cx="360669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Set-aside certifications, multi-state footprint, and 8-figure industry mentors. Not a standing-start bet.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89504"/>
            <a:ext cx="11643055" cy="1965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4320" y="4892040"/>
            <a:ext cx="116430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  <a:latin typeface="Calibri"/>
              </a:rPr>
              <a:t>Yr 5 assumes $1M EBITDA at 5x valuation ($5M). Investor owns 8.6% equity ($300K/$3.5M cap) plus full PIK accrual. Yr 3 exit assumes $3M 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166360"/>
            <a:ext cx="11643055" cy="402336"/>
          </a:xfrm>
          <a:prstGeom prst="rect">
            <a:avLst/>
          </a:prstGeom>
          <a:solidFill>
            <a:srgbClr val="1A355C"/>
          </a:solidFill>
          <a:ln w="15240">
            <a:solidFill>
              <a:srgbClr val="C9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Target: $5–6M revenue · $1M EBITDA within 5 years via organic growth + M&amp;A. Recap via SBA at maturity returns capital to investors cleanly.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603492"/>
            <a:ext cx="11825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partnerships@maddogcleaning.com  ·  Confidential — not an offer to sell securities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