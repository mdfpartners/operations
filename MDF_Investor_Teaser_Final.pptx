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0100"/>
          </a:xfrm>
          <a:prstGeom prst="rect">
            <a:avLst/>
          </a:prstGeom>
          <a:solidFill>
            <a:srgbClr val="3D4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00100"/>
            <a:ext cx="12191695" cy="38100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82296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Mad Dog Facility Partners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66344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A8BAC5"/>
                </a:solidFill>
                <a:latin typeface="Arial"/>
              </a:rPr>
              <a:t>SDVOSB  ·  Janitorial &amp; Facility Services  ·  IL  ·  WI  ·  AZ  ·  TX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85071" y="208026"/>
            <a:ext cx="2450592" cy="384048"/>
          </a:xfrm>
          <a:prstGeom prst="roundRect">
            <a:avLst>
              <a:gd name="adj" fmla="val 50000"/>
            </a:avLst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Seeking $300K  ·  Convertible Note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854964"/>
            <a:ext cx="285132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4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900684"/>
            <a:ext cx="2705023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B84C30"/>
                </a:solidFill>
                <a:latin typeface="Arial"/>
              </a:rPr>
              <a:t>$300K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" y="1357884"/>
            <a:ext cx="2741599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750" b="0" i="0">
                <a:solidFill>
                  <a:srgbClr val="8A939C"/>
                </a:solidFill>
                <a:latin typeface="Arial"/>
              </a:rPr>
              <a:t>RAISE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98799" y="854964"/>
            <a:ext cx="285132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4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1951" y="900684"/>
            <a:ext cx="2705023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B84C30"/>
                </a:solidFill>
                <a:latin typeface="Arial"/>
              </a:rPr>
              <a:t>15%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3663" y="1357884"/>
            <a:ext cx="2741599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750" b="0" i="0">
                <a:solidFill>
                  <a:srgbClr val="8A939C"/>
                </a:solidFill>
                <a:latin typeface="Arial"/>
              </a:rPr>
              <a:t>PIK RATE, COMPOUNDING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1567" y="854964"/>
            <a:ext cx="285132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4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4719" y="900684"/>
            <a:ext cx="2705023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B84C30"/>
                </a:solidFill>
                <a:latin typeface="Arial"/>
              </a:rPr>
              <a:t>3+2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6431" y="1357884"/>
            <a:ext cx="2741599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750" b="0" i="0">
                <a:solidFill>
                  <a:srgbClr val="8A939C"/>
                </a:solidFill>
                <a:latin typeface="Arial"/>
              </a:rPr>
              <a:t>MATURITY + EXTENSION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4335" y="854964"/>
            <a:ext cx="2851327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4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7487" y="900684"/>
            <a:ext cx="2705023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1" i="0">
                <a:solidFill>
                  <a:srgbClr val="B84C30"/>
                </a:solidFill>
                <a:latin typeface="Arial"/>
              </a:rPr>
              <a:t>$3.5M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9199" y="1357884"/>
            <a:ext cx="2741599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750" b="0" i="0">
                <a:solidFill>
                  <a:srgbClr val="8A939C"/>
                </a:solidFill>
                <a:latin typeface="Arial"/>
              </a:rPr>
              <a:t>VALUATION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" y="1755648"/>
            <a:ext cx="574837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3D4F5C"/>
                </a:solidFill>
                <a:latin typeface="Arial"/>
              </a:rPr>
              <a:t>Illustrative Returns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" y="2029968"/>
            <a:ext cx="914400" cy="31750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6032" y="2121408"/>
            <a:ext cx="5748375" cy="402336"/>
          </a:xfrm>
          <a:prstGeom prst="rect">
            <a:avLst/>
          </a:prstGeom>
          <a:solidFill>
            <a:srgbClr val="FBE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2203704"/>
            <a:ext cx="1463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B84C30"/>
                </a:solidFill>
                <a:latin typeface="Arial"/>
              </a:rPr>
              <a:t>Year 3 exit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32607" y="2203704"/>
            <a:ext cx="2834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B84C30"/>
                </a:solidFill>
                <a:latin typeface="Arial"/>
              </a:rPr>
              <a:t>~$735K returned  ·  ~2.5x MOIC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2569464"/>
            <a:ext cx="5748375" cy="402336"/>
          </a:xfrm>
          <a:prstGeom prst="rect">
            <a:avLst/>
          </a:prstGeom>
          <a:solidFill>
            <a:srgbClr val="3D4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2651760"/>
            <a:ext cx="1463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Year 5 exit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32607" y="2651760"/>
            <a:ext cx="2834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1" i="0">
                <a:solidFill>
                  <a:srgbClr val="FFFFFF"/>
                </a:solidFill>
                <a:latin typeface="Arial"/>
              </a:rPr>
              <a:t>~$1.05M returned  ·  ~3.5x MOIC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" y="3063240"/>
            <a:ext cx="5748375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750" b="0" i="1">
                <a:solidFill>
                  <a:srgbClr val="8A939C"/>
                </a:solidFill>
                <a:latin typeface="Arial"/>
              </a:rPr>
              <a:t>Investor owns 8.6% equity at cap ($300K / $3.5M). Yr 5 assumes $1M EBITDA at 5x valuation. Paid out via SBA recap — founder retains 100% ownership.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3721608"/>
            <a:ext cx="2837611" cy="676656"/>
          </a:xfrm>
          <a:prstGeom prst="rect">
            <a:avLst/>
          </a:prstGeom>
          <a:solidFill>
            <a:srgbClr val="E6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896" y="3794760"/>
            <a:ext cx="272788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B84C30"/>
                </a:solidFill>
                <a:latin typeface="Arial"/>
              </a:rPr>
              <a:t>$300K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" y="4114800"/>
            <a:ext cx="2727883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750" b="0" i="0">
                <a:solidFill>
                  <a:srgbClr val="8A939C"/>
                </a:solidFill>
                <a:latin typeface="Arial"/>
              </a:rPr>
              <a:t>Principal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6795" y="3721608"/>
            <a:ext cx="2837611" cy="676656"/>
          </a:xfrm>
          <a:prstGeom prst="rect">
            <a:avLst/>
          </a:prstGeom>
          <a:solidFill>
            <a:srgbClr val="E6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21659" y="3794760"/>
            <a:ext cx="272788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B84C30"/>
                </a:solidFill>
                <a:latin typeface="Arial"/>
              </a:rPr>
              <a:t>15% PIK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21659" y="4114800"/>
            <a:ext cx="2727883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750" b="0" i="0">
                <a:solidFill>
                  <a:srgbClr val="8A939C"/>
                </a:solidFill>
                <a:latin typeface="Arial"/>
              </a:rPr>
              <a:t>Annual compounding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32" y="4471416"/>
            <a:ext cx="2837611" cy="676656"/>
          </a:xfrm>
          <a:prstGeom prst="rect">
            <a:avLst/>
          </a:prstGeom>
          <a:solidFill>
            <a:srgbClr val="E6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4544568"/>
            <a:ext cx="272788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B84C30"/>
                </a:solidFill>
                <a:latin typeface="Arial"/>
              </a:rPr>
              <a:t>3 yr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" y="4864608"/>
            <a:ext cx="2727883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750" b="0" i="0">
                <a:solidFill>
                  <a:srgbClr val="8A939C"/>
                </a:solidFill>
                <a:latin typeface="Arial"/>
              </a:rPr>
              <a:t>Maturity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6795" y="4471416"/>
            <a:ext cx="2837611" cy="676656"/>
          </a:xfrm>
          <a:prstGeom prst="rect">
            <a:avLst/>
          </a:prstGeom>
          <a:solidFill>
            <a:srgbClr val="E6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21659" y="4544568"/>
            <a:ext cx="2727883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B84C30"/>
                </a:solidFill>
                <a:latin typeface="Arial"/>
              </a:rPr>
              <a:t>+2 yr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21659" y="4864608"/>
            <a:ext cx="2727883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750" b="0" i="0">
                <a:solidFill>
                  <a:srgbClr val="8A939C"/>
                </a:solidFill>
                <a:latin typeface="Arial"/>
              </a:rPr>
              <a:t>Investor extension option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87287" y="1755648"/>
            <a:ext cx="5748375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3D4F5C"/>
                </a:solidFill>
                <a:latin typeface="Arial"/>
              </a:rPr>
              <a:t>Use of Proceeds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7287" y="2029968"/>
            <a:ext cx="914400" cy="31750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87287" y="2121408"/>
            <a:ext cx="5748375" cy="3657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7015" y="2203704"/>
            <a:ext cx="4998567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50" b="0" i="0">
                <a:solidFill>
                  <a:srgbClr val="1E1E1E"/>
                </a:solidFill>
                <a:latin typeface="Arial"/>
              </a:rPr>
              <a:t>SDR hire Year 1 (base + ramp)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77295" y="2203704"/>
            <a:ext cx="56692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50" b="0" i="0">
                <a:solidFill>
                  <a:srgbClr val="1E1E1E"/>
                </a:solidFill>
                <a:latin typeface="Arial"/>
              </a:rPr>
              <a:t>$110K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87287" y="2487168"/>
            <a:ext cx="5748375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97015" y="2569464"/>
            <a:ext cx="4998567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50" b="0" i="0">
                <a:solidFill>
                  <a:srgbClr val="1E1E1E"/>
                </a:solidFill>
                <a:latin typeface="Arial"/>
              </a:rPr>
              <a:t>M&amp;A dry powder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277295" y="2569464"/>
            <a:ext cx="56692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50" b="0" i="0">
                <a:solidFill>
                  <a:srgbClr val="1E1E1E"/>
                </a:solidFill>
                <a:latin typeface="Arial"/>
              </a:rPr>
              <a:t>$130K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87287" y="2852928"/>
            <a:ext cx="5748375" cy="3657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97015" y="2935224"/>
            <a:ext cx="4998567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50" b="0" i="0">
                <a:solidFill>
                  <a:srgbClr val="1E1E1E"/>
                </a:solidFill>
                <a:latin typeface="Arial"/>
              </a:rPr>
              <a:t>Working capital cushion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77295" y="2935224"/>
            <a:ext cx="56692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50" b="0" i="0">
                <a:solidFill>
                  <a:srgbClr val="1E1E1E"/>
                </a:solidFill>
                <a:latin typeface="Arial"/>
              </a:rPr>
              <a:t>$40K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87287" y="3218688"/>
            <a:ext cx="5748375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97015" y="3300984"/>
            <a:ext cx="4998567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50" b="0" i="0">
                <a:solidFill>
                  <a:srgbClr val="1E1E1E"/>
                </a:solidFill>
                <a:latin typeface="Arial"/>
              </a:rPr>
              <a:t>Founder comp increase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7295" y="3300984"/>
            <a:ext cx="56692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50" b="0" i="0">
                <a:solidFill>
                  <a:srgbClr val="1E1E1E"/>
                </a:solidFill>
                <a:latin typeface="Arial"/>
              </a:rPr>
              <a:t>$20K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87287" y="3584448"/>
            <a:ext cx="5748375" cy="19050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87287" y="3584448"/>
            <a:ext cx="5748375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97015" y="3666744"/>
            <a:ext cx="4998567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50" b="1" i="0">
                <a:solidFill>
                  <a:srgbClr val="B84C30"/>
                </a:solidFill>
                <a:latin typeface="Arial"/>
              </a:rPr>
              <a:t>Total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77295" y="3666744"/>
            <a:ext cx="56692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50" b="1" i="0">
                <a:solidFill>
                  <a:srgbClr val="B84C30"/>
                </a:solidFill>
                <a:latin typeface="Arial"/>
              </a:rPr>
              <a:t>$300K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87287" y="4133088"/>
            <a:ext cx="5748375" cy="1243584"/>
          </a:xfrm>
          <a:prstGeom prst="rect">
            <a:avLst/>
          </a:prstGeom>
          <a:solidFill>
            <a:srgbClr val="E6EBEE"/>
          </a:solidFill>
          <a:ln w="9525">
            <a:solidFill>
              <a:srgbClr val="D4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15303" y="4224528"/>
            <a:ext cx="128016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1" i="0">
                <a:solidFill>
                  <a:srgbClr val="3D4F5C"/>
                </a:solidFill>
                <a:latin typeface="Arial"/>
              </a:rPr>
              <a:t>5-year target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15303" y="4462272"/>
            <a:ext cx="5547207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3D4F5C"/>
                </a:solidFill>
                <a:latin typeface="Arial"/>
              </a:rPr>
              <a:t>$5–6M revenue  ·  $1M EBITDA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15303" y="4718304"/>
            <a:ext cx="5547207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3D4F5C"/>
                </a:solidFill>
                <a:latin typeface="Arial"/>
              </a:rPr>
              <a:t>Organic growth + M&amp;A platform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15303" y="4974336"/>
            <a:ext cx="5547207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3D4F5C"/>
                </a:solidFill>
                <a:latin typeface="Arial"/>
              </a:rPr>
              <a:t>SBA recap at maturity — clean investor exit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3D4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2880" y="6592824"/>
            <a:ext cx="11825935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750" b="0" i="0">
                <a:solidFill>
                  <a:srgbClr val="A8BAC5"/>
                </a:solidFill>
                <a:latin typeface="Arial"/>
              </a:rPr>
              <a:t>partnerships@maddogcleaning.com  ·  Confidential — not an offer to sell securities  ·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0100"/>
          </a:xfrm>
          <a:prstGeom prst="rect">
            <a:avLst/>
          </a:prstGeom>
          <a:solidFill>
            <a:srgbClr val="3D4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00100"/>
            <a:ext cx="12191695" cy="38100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82296"/>
            <a:ext cx="8686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The story and the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75488"/>
            <a:ext cx="86868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A8BAC5"/>
                </a:solidFill>
                <a:latin typeface="Arial"/>
              </a:rPr>
              <a:t>Where we've been  ·  Where we are  ·  Where we're going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854964"/>
            <a:ext cx="3820058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4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900684"/>
            <a:ext cx="3673754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600" b="1" i="0">
                <a:solidFill>
                  <a:srgbClr val="B84C30"/>
                </a:solidFill>
                <a:latin typeface="Arial"/>
              </a:rPr>
              <a:t>$693K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" y="1357884"/>
            <a:ext cx="371033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800" b="0" i="0">
                <a:solidFill>
                  <a:srgbClr val="8A939C"/>
                </a:solidFill>
                <a:latin typeface="Arial"/>
              </a:rPr>
              <a:t>2025 REVENUE (+19% VS 2024)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5818" y="854964"/>
            <a:ext cx="3820058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4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8970" y="900684"/>
            <a:ext cx="3673754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600" b="1" i="0">
                <a:solidFill>
                  <a:srgbClr val="B84C30"/>
                </a:solidFill>
                <a:latin typeface="Arial"/>
              </a:rPr>
              <a:t>+$170K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0682" y="1357884"/>
            <a:ext cx="371033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800" b="0" i="0">
                <a:solidFill>
                  <a:srgbClr val="8A939C"/>
                </a:solidFill>
                <a:latin typeface="Arial"/>
              </a:rPr>
              <a:t>ARR ADDED IN 4 MONTHS, PART-TIME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15604" y="854964"/>
            <a:ext cx="3820058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4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8756" y="900684"/>
            <a:ext cx="3673754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600" b="1" i="0">
                <a:solidFill>
                  <a:srgbClr val="B84C30"/>
                </a:solidFill>
                <a:latin typeface="Arial"/>
              </a:rPr>
              <a:t>~$50K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0468" y="1357884"/>
            <a:ext cx="371033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800" b="0" i="0">
                <a:solidFill>
                  <a:srgbClr val="8A939C"/>
                </a:solidFill>
                <a:latin typeface="Arial"/>
              </a:rPr>
              <a:t>CURRENT MRR RUN RATE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746504"/>
            <a:ext cx="3917594" cy="472744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37050" y="1746504"/>
            <a:ext cx="3917594" cy="4727448"/>
          </a:xfrm>
          <a:prstGeom prst="rect">
            <a:avLst/>
          </a:prstGeom>
          <a:solidFill>
            <a:srgbClr val="FFFFFF"/>
          </a:solidFill>
          <a:ln w="6350">
            <a:solidFill>
              <a:srgbClr val="D4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746504"/>
            <a:ext cx="3917594" cy="4727448"/>
          </a:xfrm>
          <a:prstGeom prst="rect">
            <a:avLst/>
          </a:prstGeom>
          <a:solidFill>
            <a:srgbClr val="E6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00474" y="1746504"/>
            <a:ext cx="36576" cy="4727448"/>
          </a:xfrm>
          <a:prstGeom prst="rect">
            <a:avLst/>
          </a:prstGeom>
          <a:solidFill>
            <a:srgbClr val="D4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4644" y="1746504"/>
            <a:ext cx="36576" cy="4727448"/>
          </a:xfrm>
          <a:prstGeom prst="rect">
            <a:avLst/>
          </a:prstGeom>
          <a:solidFill>
            <a:srgbClr val="D4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1837944"/>
            <a:ext cx="364327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8A939C"/>
                </a:solidFill>
                <a:latin typeface="Arial"/>
              </a:rPr>
              <a:t>WHERE WE'VE BEEN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066544"/>
            <a:ext cx="640080" cy="25400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74210" y="1837944"/>
            <a:ext cx="364327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3D4F5C"/>
                </a:solidFill>
                <a:latin typeface="Arial"/>
              </a:rPr>
              <a:t>WHERE WE 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74210" y="2066544"/>
            <a:ext cx="640080" cy="25400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8380" y="1837944"/>
            <a:ext cx="364327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3D4F5C"/>
                </a:solidFill>
                <a:latin typeface="Arial"/>
              </a:rPr>
              <a:t>WHERE WE'RE GOING POST-RAISE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8380" y="2066544"/>
            <a:ext cx="640080" cy="25400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8328" y="2208276"/>
            <a:ext cx="54864" cy="54864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2148840"/>
            <a:ext cx="3597554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1E1E1E"/>
                </a:solidFill>
                <a:latin typeface="Arial"/>
              </a:rPr>
              <a:t>Acquired at $425K revenue in 2024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" y="2729483"/>
            <a:ext cx="54864" cy="54864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" y="2670047"/>
            <a:ext cx="3597554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1E1E1E"/>
                </a:solidFill>
                <a:latin typeface="Arial"/>
              </a:rPr>
              <a:t>Grew to $693K by end of 2025 — +19% organic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" y="3250690"/>
            <a:ext cx="54864" cy="54864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" y="3191254"/>
            <a:ext cx="3597554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1E1E1E"/>
                </a:solidFill>
                <a:latin typeface="Arial"/>
              </a:rPr>
              <a:t>Lost largest customer Sept 2025 — $336K ARR overnight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8328" y="3771897"/>
            <a:ext cx="54864" cy="54864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8056" y="3712461"/>
            <a:ext cx="3597554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1E1E1E"/>
                </a:solidFill>
                <a:latin typeface="Arial"/>
              </a:rPr>
              <a:t>Revenue dropped nearly 50% in one event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8328" y="4293104"/>
            <a:ext cx="54864" cy="54864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" y="4233668"/>
            <a:ext cx="3597554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1E1E1E"/>
                </a:solidFill>
                <a:latin typeface="Arial"/>
              </a:rPr>
              <a:t>Rebuilt $170K ARR in under 4 months, fractional effort, zero dedicated SDR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828027"/>
            <a:ext cx="364327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" y="4828027"/>
            <a:ext cx="50800" cy="457200"/>
          </a:xfrm>
          <a:prstGeom prst="rect">
            <a:avLst/>
          </a:prstGeom>
          <a:solidFill>
            <a:srgbClr val="F5C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6" y="4928611"/>
            <a:ext cx="347868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1">
                <a:solidFill>
                  <a:srgbClr val="3D4F5C"/>
                </a:solidFill>
                <a:latin typeface="Arial"/>
              </a:rPr>
              <a:t>Proof of concept on a skeleton crew.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2498" y="2208276"/>
            <a:ext cx="54864" cy="54864"/>
          </a:xfrm>
          <a:prstGeom prst="rect">
            <a:avLst/>
          </a:prstGeom>
          <a:solidFill>
            <a:srgbClr val="3D4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02226" y="2148840"/>
            <a:ext cx="3597554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1E1E1E"/>
                </a:solidFill>
                <a:latin typeface="Arial"/>
              </a:rPr>
              <a:t>~$50K MRR, recovery trajectory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2498" y="2729483"/>
            <a:ext cx="54864" cy="54864"/>
          </a:xfrm>
          <a:prstGeom prst="rect">
            <a:avLst/>
          </a:prstGeom>
          <a:solidFill>
            <a:srgbClr val="3D4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02226" y="2670047"/>
            <a:ext cx="3597554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1E1E1E"/>
                </a:solidFill>
                <a:latin typeface="Arial"/>
              </a:rPr>
              <a:t>$134K net income in 2025 (19% margin)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2498" y="3250690"/>
            <a:ext cx="54864" cy="54864"/>
          </a:xfrm>
          <a:prstGeom prst="rect">
            <a:avLst/>
          </a:prstGeom>
          <a:solidFill>
            <a:srgbClr val="3D4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02226" y="3191254"/>
            <a:ext cx="3597554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1E1E1E"/>
                </a:solidFill>
                <a:latin typeface="Arial"/>
              </a:rPr>
              <a:t>Growing $10–15K MRR per quarter on part-time sales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92498" y="3771897"/>
            <a:ext cx="54864" cy="54864"/>
          </a:xfrm>
          <a:prstGeom prst="rect">
            <a:avLst/>
          </a:prstGeom>
          <a:solidFill>
            <a:srgbClr val="3D4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02226" y="3712461"/>
            <a:ext cx="3597554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1E1E1E"/>
                </a:solidFill>
                <a:latin typeface="Arial"/>
              </a:rPr>
              <a:t>Active acquisition in late-stage diligence — meaningful EBITDA accretion at close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92498" y="4293104"/>
            <a:ext cx="54864" cy="54864"/>
          </a:xfrm>
          <a:prstGeom prst="rect">
            <a:avLst/>
          </a:prstGeom>
          <a:solidFill>
            <a:srgbClr val="3D4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02226" y="4233668"/>
            <a:ext cx="3597554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1E1E1E"/>
                </a:solidFill>
                <a:latin typeface="Arial"/>
              </a:rPr>
              <a:t>SDVOSB set-aside certifications across 4 states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2498" y="4814311"/>
            <a:ext cx="54864" cy="54864"/>
          </a:xfrm>
          <a:prstGeom prst="rect">
            <a:avLst/>
          </a:prstGeom>
          <a:solidFill>
            <a:srgbClr val="3D4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02226" y="4754875"/>
            <a:ext cx="3597554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1E1E1E"/>
                </a:solidFill>
                <a:latin typeface="Arial"/>
              </a:rPr>
              <a:t>GovCon RFP team actively building pipeline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28380" y="2148840"/>
            <a:ext cx="3643274" cy="493776"/>
          </a:xfrm>
          <a:prstGeom prst="roundRect">
            <a:avLst>
              <a:gd name="adj" fmla="val 30000"/>
            </a:avLst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SDR 1 (this raise): $50–75K MRR growth per quarter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28380" y="2706624"/>
            <a:ext cx="3643274" cy="493776"/>
          </a:xfrm>
          <a:prstGeom prst="roundRect">
            <a:avLst>
              <a:gd name="adj" fmla="val 30000"/>
            </a:avLst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SDR 2 (yr 1–2, self-funded): +$50–75K+ MRR/qtr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228380" y="3264408"/>
            <a:ext cx="3643274" cy="493776"/>
          </a:xfrm>
          <a:prstGeom prst="roundRect">
            <a:avLst>
              <a:gd name="adj" fmla="val 30000"/>
            </a:avLst>
          </a:prstGeom>
          <a:solidFill>
            <a:srgbClr val="3D4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GovCon RFP team: $150K+ ARR in set-aside contracts — sticky, recurring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46668" y="3945636"/>
            <a:ext cx="54864" cy="54864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56396" y="3886200"/>
            <a:ext cx="3597554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1E1E1E"/>
                </a:solidFill>
                <a:latin typeface="Arial"/>
              </a:rPr>
              <a:t>Active acquisition closes, adding EBITDA to platform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46668" y="4448556"/>
            <a:ext cx="54864" cy="54864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56396" y="4389120"/>
            <a:ext cx="3597554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1E1E1E"/>
                </a:solidFill>
                <a:latin typeface="Arial"/>
              </a:rPr>
              <a:t>Infrastructure scaled to handle and retain growth volume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46668" y="4951476"/>
            <a:ext cx="54864" cy="54864"/>
          </a:xfrm>
          <a:prstGeom prst="rect">
            <a:avLst/>
          </a:prstGeom>
          <a:solidFill>
            <a:srgbClr val="B84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56396" y="4892040"/>
            <a:ext cx="3597554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 i="0">
                <a:solidFill>
                  <a:srgbClr val="1E1E1E"/>
                </a:solidFill>
                <a:latin typeface="Arial"/>
              </a:rPr>
              <a:t>Path to $1M EBITDA in 5 years, organic + M&amp;A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3D4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2880" y="6592824"/>
            <a:ext cx="11825935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750" b="0" i="0">
                <a:solidFill>
                  <a:srgbClr val="A8BAC5"/>
                </a:solidFill>
                <a:latin typeface="Arial"/>
              </a:rPr>
              <a:t>partnerships@maddogcleaning.com  ·  Confidential — not an offer to sell securities  · 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