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0100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1695" cy="3810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Mad Dog Facility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75488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BAC5"/>
                </a:solidFill>
                <a:latin typeface="Arial"/>
              </a:rPr>
              <a:t>SDVOSB  ·  Janitorial &amp; Facility Services  ·  IL  ·  WI  ·  AZ  ·  TX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21063" y="226314"/>
            <a:ext cx="2514600" cy="347472"/>
          </a:xfrm>
          <a:prstGeom prst="roundRect">
            <a:avLst>
              <a:gd name="adj" fmla="val 50000"/>
            </a:avLst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Seeking $350K  ·  Convertible 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854964"/>
            <a:ext cx="2851327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900684"/>
            <a:ext cx="27415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B84C30"/>
                </a:solidFill>
                <a:latin typeface="Arial"/>
              </a:rPr>
              <a:t>$350K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367028"/>
            <a:ext cx="274159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50" b="0" i="0">
                <a:solidFill>
                  <a:srgbClr val="8A939C"/>
                </a:solidFill>
                <a:latin typeface="Arial"/>
              </a:rPr>
              <a:t>RAISE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8799" y="854964"/>
            <a:ext cx="2851327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3663" y="900684"/>
            <a:ext cx="27415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B84C30"/>
                </a:solidFill>
                <a:latin typeface="Arial"/>
              </a:rPr>
              <a:t>5% PIK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3663" y="1367028"/>
            <a:ext cx="274159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50" b="0" i="0">
                <a:solidFill>
                  <a:srgbClr val="8A939C"/>
                </a:solidFill>
                <a:latin typeface="Arial"/>
              </a:rPr>
              <a:t>ANNUAL COMPOUNDING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1567" y="854964"/>
            <a:ext cx="2851327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6431" y="900684"/>
            <a:ext cx="27415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B84C30"/>
                </a:solidFill>
                <a:latin typeface="Arial"/>
              </a:rPr>
              <a:t>8.75% EQUITY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6431" y="1367028"/>
            <a:ext cx="274159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50" b="0" i="0">
                <a:solidFill>
                  <a:srgbClr val="8A939C"/>
                </a:solidFill>
                <a:latin typeface="Arial"/>
              </a:rPr>
              <a:t>AT $4M CAP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4335" y="854964"/>
            <a:ext cx="2851327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9199" y="900684"/>
            <a:ext cx="274159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B84C30"/>
                </a:solidFill>
                <a:latin typeface="Arial"/>
              </a:rPr>
              <a:t>4 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9199" y="1367028"/>
            <a:ext cx="274159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50" b="0" i="0">
                <a:solidFill>
                  <a:srgbClr val="8A939C"/>
                </a:solidFill>
                <a:latin typeface="Arial"/>
              </a:rPr>
              <a:t>SINGLE LIQUIDITY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1737360"/>
            <a:ext cx="574837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D4F5C"/>
                </a:solidFill>
                <a:latin typeface="Arial"/>
              </a:rPr>
              <a:t>ILLUSTRATIVE RETURNS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2011680"/>
            <a:ext cx="914400" cy="3175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2084832"/>
            <a:ext cx="5748375" cy="301752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139696"/>
            <a:ext cx="155448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Valuation at Year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2139696"/>
            <a:ext cx="713232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50" b="1" i="0">
                <a:solidFill>
                  <a:srgbClr val="FFFFFF"/>
                </a:solidFill>
                <a:latin typeface="Arial"/>
              </a:rPr>
              <a:t>Principal + PIK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139696"/>
            <a:ext cx="68580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50" b="1" i="0">
                <a:solidFill>
                  <a:srgbClr val="FFFFFF"/>
                </a:solidFill>
                <a:latin typeface="Arial"/>
              </a:rPr>
              <a:t>Equity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139696"/>
            <a:ext cx="713232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50" b="1" i="0">
                <a:solidFill>
                  <a:srgbClr val="FFFFFF"/>
                </a:solidFill>
                <a:latin typeface="Arial"/>
              </a:rPr>
              <a:t>Total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2139696"/>
            <a:ext cx="521208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50" b="1" i="0">
                <a:solidFill>
                  <a:srgbClr val="FFFFFF"/>
                </a:solidFill>
                <a:latin typeface="Arial"/>
              </a:rPr>
              <a:t>MOIC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139696"/>
            <a:ext cx="1012240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750" b="1" i="0">
                <a:solidFill>
                  <a:srgbClr val="FFFFFF"/>
                </a:solidFill>
                <a:latin typeface="Arial"/>
              </a:rPr>
              <a:t>4-yr IRR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386584"/>
            <a:ext cx="5748375" cy="28346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2432304"/>
            <a:ext cx="4754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$2.5M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" y="2450592"/>
            <a:ext cx="502920" cy="155448"/>
          </a:xfrm>
          <a:prstGeom prst="roundRect">
            <a:avLst>
              <a:gd name="adj" fmla="val 35000"/>
            </a:avLst>
          </a:prstGeom>
          <a:solidFill>
            <a:srgbClr val="94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downside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2432304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$447K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432304"/>
            <a:ext cx="7040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$219K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2432304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$666K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2432304"/>
            <a:ext cx="53949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1.90x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2432304"/>
            <a:ext cx="103052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17.4%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2670048"/>
            <a:ext cx="5748375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2715768"/>
            <a:ext cx="4754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$3.0M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2715768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$447K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2715768"/>
            <a:ext cx="7040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$263K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2715768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$710K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2715768"/>
            <a:ext cx="53949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2.03x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2715768"/>
            <a:ext cx="103052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19.4%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2953512"/>
            <a:ext cx="5748375" cy="28346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" y="2999232"/>
            <a:ext cx="4754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$3.5M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38528" y="299923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$447K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2999232"/>
            <a:ext cx="7040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$306K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299923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$753K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25112" y="2999232"/>
            <a:ext cx="53949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2.15x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2999232"/>
            <a:ext cx="103052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21.1%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3236976"/>
            <a:ext cx="5748375" cy="283464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3282696"/>
            <a:ext cx="4754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B84C30"/>
                </a:solidFill>
                <a:latin typeface="Arial"/>
              </a:rPr>
              <a:t>$4.0M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2104" y="3300984"/>
            <a:ext cx="502920" cy="155448"/>
          </a:xfrm>
          <a:prstGeom prst="roundRect">
            <a:avLst>
              <a:gd name="adj" fmla="val 35000"/>
            </a:avLst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cap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8528" y="3282696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B84C30"/>
                </a:solidFill>
                <a:latin typeface="Arial"/>
              </a:rPr>
              <a:t>$447K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3282696"/>
            <a:ext cx="7040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B84C30"/>
                </a:solidFill>
                <a:latin typeface="Arial"/>
              </a:rPr>
              <a:t>$350K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3282696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B84C30"/>
                </a:solidFill>
                <a:latin typeface="Arial"/>
              </a:rPr>
              <a:t>$797K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25112" y="3282696"/>
            <a:ext cx="53949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B84C30"/>
                </a:solidFill>
                <a:latin typeface="Arial"/>
              </a:rPr>
              <a:t>2.28x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3282696"/>
            <a:ext cx="103052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B84C30"/>
                </a:solidFill>
                <a:latin typeface="Arial"/>
              </a:rPr>
              <a:t>22.8%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3520440"/>
            <a:ext cx="5748375" cy="28346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" y="3566160"/>
            <a:ext cx="4754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$4.5M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38528" y="356616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$447K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3566160"/>
            <a:ext cx="7040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$394K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0440" y="356616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$841K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25112" y="3566160"/>
            <a:ext cx="53949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2.40x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3566160"/>
            <a:ext cx="103052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24.4%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" y="3803904"/>
            <a:ext cx="5748375" cy="28346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" y="3849624"/>
            <a:ext cx="4754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$5.0M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2104" y="3867912"/>
            <a:ext cx="502920" cy="155448"/>
          </a:xfrm>
          <a:prstGeom prst="roundRect">
            <a:avLst>
              <a:gd name="adj" fmla="val 35000"/>
            </a:avLst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38528" y="3849624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$447K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3849624"/>
            <a:ext cx="7040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$438K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20440" y="3849624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$885K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25112" y="3849624"/>
            <a:ext cx="53949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2.53x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60" y="3849624"/>
            <a:ext cx="103052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26.0%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6032" y="4087368"/>
            <a:ext cx="5748375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9184" y="4133088"/>
            <a:ext cx="4754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$5.5M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38528" y="4133088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$447K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0" y="4133088"/>
            <a:ext cx="70408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$481K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20440" y="4133088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$928K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25112" y="4133088"/>
            <a:ext cx="539496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2.65x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37760" y="4133088"/>
            <a:ext cx="103052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1E1E1E"/>
                </a:solidFill>
                <a:latin typeface="Arial"/>
              </a:rPr>
              <a:t>27.5%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6032" y="4443984"/>
            <a:ext cx="574837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 i="1">
                <a:solidFill>
                  <a:srgbClr val="8A939C"/>
                </a:solidFill>
                <a:latin typeface="Arial"/>
              </a:rPr>
              <a:t>PIK accrual: $350K × (1.05)⁴ = $447K.  Equity: 8.75% × exit valuation ($350K / $4M cap).  IRR: (total / $350K)^(0.25) − 1.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" y="4956048"/>
            <a:ext cx="5748375" cy="658368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5029200"/>
            <a:ext cx="298915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~22.8% IRR at valuation cap  ·  Private equity-level returns on a cash-flowing business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5122" y="5029200"/>
            <a:ext cx="2322877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50" b="0" i="1">
                <a:solidFill>
                  <a:srgbClr val="A8BAC5"/>
                </a:solidFill>
                <a:latin typeface="Arial"/>
              </a:rPr>
              <a:t>Principal + PIK of $447K fixed regardless of exit valuation. Equity scales with performance. SBA recap at year 4 — founder retains 100% ownership.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87287" y="1737360"/>
            <a:ext cx="574837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3D4F5C"/>
                </a:solidFill>
                <a:latin typeface="Arial"/>
              </a:rPr>
              <a:t>USE OF PROCEEDS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7287" y="2011680"/>
            <a:ext cx="914400" cy="3175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87287" y="2084832"/>
            <a:ext cx="5748375" cy="2743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78727" y="213969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SDR 1 — Year 1 (base + ramp)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295583" y="213969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$50K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87287" y="2359152"/>
            <a:ext cx="574837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78727" y="241401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SDR 2 — Year 2 reserve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95583" y="241401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$25K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87287" y="2633472"/>
            <a:ext cx="5748375" cy="2743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78727" y="268833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Project manager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95583" y="268833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$30K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7287" y="2907792"/>
            <a:ext cx="574837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78727" y="296265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Offshore bookkeeper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295583" y="296265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$15K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87287" y="3182112"/>
            <a:ext cx="5748375" cy="2743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78727" y="323697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GovCon analyst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295583" y="323697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$12K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87287" y="3456432"/>
            <a:ext cx="574837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78727" y="351129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Office manager (offshore, part-time)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295583" y="351129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$10K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87287" y="3730752"/>
            <a:ext cx="5748375" cy="2743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78727" y="378561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Working capital cushion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95583" y="378561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$30K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87287" y="4005072"/>
            <a:ext cx="574837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78727" y="405993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Founder comp increase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295583" y="405993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$18K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87287" y="4279392"/>
            <a:ext cx="5748375" cy="2743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78727" y="433425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Contingency buffer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95583" y="433425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0" i="0">
                <a:solidFill>
                  <a:srgbClr val="1E1E1E"/>
                </a:solidFill>
                <a:latin typeface="Arial"/>
              </a:rPr>
              <a:t>$10K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87287" y="4553712"/>
            <a:ext cx="5748375" cy="1905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187287" y="4553712"/>
            <a:ext cx="5748375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78727" y="4608576"/>
            <a:ext cx="5016855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1" i="0">
                <a:solidFill>
                  <a:srgbClr val="B84C30"/>
                </a:solidFill>
                <a:latin typeface="Arial"/>
              </a:rPr>
              <a:t>Total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295583" y="4608576"/>
            <a:ext cx="566928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850" b="1" i="0">
                <a:solidFill>
                  <a:srgbClr val="B84C30"/>
                </a:solidFill>
                <a:latin typeface="Arial"/>
              </a:rPr>
              <a:t>$200K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87287" y="4956048"/>
            <a:ext cx="5748375" cy="1005840"/>
          </a:xfrm>
          <a:prstGeom prst="rect">
            <a:avLst/>
          </a:prstGeom>
          <a:solidFill>
            <a:srgbClr val="E6EBEE"/>
          </a:solidFill>
          <a:ln w="9525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97015" y="5038344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1" i="0">
                <a:solidFill>
                  <a:srgbClr val="3D4F5C"/>
                </a:solidFill>
                <a:latin typeface="Arial"/>
              </a:rPr>
              <a:t>5-year target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97015" y="5266944"/>
            <a:ext cx="5547207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3D4F5C"/>
                </a:solidFill>
                <a:latin typeface="Arial"/>
              </a:rPr>
              <a:t>$5–6M revenue  ·  $1M EBITDA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97015" y="5486400"/>
            <a:ext cx="5547207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3D4F5C"/>
                </a:solidFill>
                <a:latin typeface="Arial"/>
              </a:rPr>
              <a:t>Organic growth + M&amp;A platform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97015" y="5705856"/>
            <a:ext cx="5547207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3D4F5C"/>
                </a:solidFill>
                <a:latin typeface="Arial"/>
              </a:rPr>
              <a:t>SBA recap at maturity — clean investor exit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82880" y="6592824"/>
            <a:ext cx="11825935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00" b="0" i="0">
                <a:solidFill>
                  <a:srgbClr val="A8BAC5"/>
                </a:solidFill>
                <a:latin typeface="Arial"/>
              </a:rPr>
              <a:t>partnerships@maddogcleaning.com  ·  Confidential — not an offer to sell securities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0100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1695" cy="3810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The story and 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75488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BAC5"/>
                </a:solidFill>
                <a:latin typeface="Arial"/>
              </a:rPr>
              <a:t>Where we've been  ·  Where we are  ·  Where we're going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854964"/>
            <a:ext cx="382005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00684"/>
            <a:ext cx="367375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B84C30"/>
                </a:solidFill>
                <a:latin typeface="Arial"/>
              </a:rPr>
              <a:t>$693K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357884"/>
            <a:ext cx="371033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00" b="0" i="0">
                <a:solidFill>
                  <a:srgbClr val="8A939C"/>
                </a:solidFill>
                <a:latin typeface="Arial"/>
              </a:rPr>
              <a:t>2025 REVENUE (+19% VS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5818" y="854964"/>
            <a:ext cx="382005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8970" y="900684"/>
            <a:ext cx="367375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B84C30"/>
                </a:solidFill>
                <a:latin typeface="Arial"/>
              </a:rPr>
              <a:t>+$170K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0682" y="1357884"/>
            <a:ext cx="371033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00" b="0" i="0">
                <a:solidFill>
                  <a:srgbClr val="8A939C"/>
                </a:solidFill>
                <a:latin typeface="Arial"/>
              </a:rPr>
              <a:t>ARR ADDED IN 4 MONTHS, PART-TIME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5604" y="854964"/>
            <a:ext cx="3820058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00684"/>
            <a:ext cx="3673754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B84C30"/>
                </a:solidFill>
                <a:latin typeface="Arial"/>
              </a:rPr>
              <a:t>~$50K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468" y="1357884"/>
            <a:ext cx="371033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00" b="0" i="0">
                <a:solidFill>
                  <a:srgbClr val="8A939C"/>
                </a:solidFill>
                <a:latin typeface="Arial"/>
              </a:rPr>
              <a:t>CURRENT MRR RUN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46504"/>
            <a:ext cx="3917594" cy="472744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37050" y="1746504"/>
            <a:ext cx="3917594" cy="4727448"/>
          </a:xfrm>
          <a:prstGeom prst="rect">
            <a:avLst/>
          </a:prstGeom>
          <a:solidFill>
            <a:srgbClr val="FFFFFF"/>
          </a:solidFill>
          <a:ln w="6350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1220" y="1746504"/>
            <a:ext cx="3917594" cy="4727448"/>
          </a:xfrm>
          <a:prstGeom prst="rect">
            <a:avLst/>
          </a:prstGeom>
          <a:solidFill>
            <a:srgbClr val="E6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00474" y="1746504"/>
            <a:ext cx="36576" cy="4727448"/>
          </a:xfrm>
          <a:prstGeom prst="rect">
            <a:avLst/>
          </a:prstGeom>
          <a:solidFill>
            <a:srgbClr val="D4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4644" y="1746504"/>
            <a:ext cx="36576" cy="4727448"/>
          </a:xfrm>
          <a:prstGeom prst="rect">
            <a:avLst/>
          </a:prstGeom>
          <a:solidFill>
            <a:srgbClr val="D4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837944"/>
            <a:ext cx="364327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8A939C"/>
                </a:solidFill>
                <a:latin typeface="Arial"/>
              </a:rPr>
              <a:t>WHERE WE'VE BEEN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66544"/>
            <a:ext cx="640080" cy="2540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4210" y="1837944"/>
            <a:ext cx="364327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3D4F5C"/>
                </a:solidFill>
                <a:latin typeface="Arial"/>
              </a:rPr>
              <a:t>WHERE WE 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4210" y="2066544"/>
            <a:ext cx="640080" cy="2540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8380" y="1837944"/>
            <a:ext cx="364327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3D4F5C"/>
                </a:solidFill>
                <a:latin typeface="Arial"/>
              </a:rPr>
              <a:t>WHERE WE'RE GOING POST-RAISE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8380" y="2066544"/>
            <a:ext cx="640080" cy="2540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" y="2208276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2148840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Acquired at $425K revenue in 2024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" y="2729483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2670047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Grew to $693K by end of 2025 — +19% organic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3250690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" y="3191254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Lost largest customer Sept 2025 — $336K ARR overnight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" y="3771897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" y="3712461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Revenue dropped nearly 50% in one event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" y="4293104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" y="4233668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Rebuilt $170K ARR in under 4 months, fractional effort, zero dedicated SDR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27"/>
            <a:ext cx="364327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828027"/>
            <a:ext cx="50800" cy="457200"/>
          </a:xfrm>
          <a:prstGeom prst="rect">
            <a:avLst/>
          </a:prstGeom>
          <a:solidFill>
            <a:srgbClr val="F5C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4928611"/>
            <a:ext cx="347868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3D4F5C"/>
                </a:solidFill>
                <a:latin typeface="Arial"/>
              </a:rPr>
              <a:t>Proof of concept on a skeleton crew.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2498" y="2208276"/>
            <a:ext cx="54864" cy="5486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02226" y="2148840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~$50K MRR, recovery trajectory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2498" y="2729483"/>
            <a:ext cx="54864" cy="5486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02226" y="2670047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$134K net income in 2025 (19% margin)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2498" y="3250690"/>
            <a:ext cx="54864" cy="5486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2226" y="3191254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Growing $10–15K MRR per quarter on part-time sales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2498" y="3771897"/>
            <a:ext cx="54864" cy="5486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02226" y="3712461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Active acquisition in late-stage diligence — meaningful EBITDA accretion at close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2498" y="4293104"/>
            <a:ext cx="54864" cy="5486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02226" y="4233668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SDVOSB set-aside certifications across 4 states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2498" y="4814311"/>
            <a:ext cx="54864" cy="5486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02226" y="4754875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GovCon RFP team actively building pipeline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8380" y="2148840"/>
            <a:ext cx="3643274" cy="493776"/>
          </a:xfrm>
          <a:prstGeom prst="roundRect">
            <a:avLst>
              <a:gd name="adj" fmla="val 30000"/>
            </a:avLst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SDR 1 (raise funded): $50–75K MRR growth per quarter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8380" y="2706624"/>
            <a:ext cx="3643274" cy="493776"/>
          </a:xfrm>
          <a:prstGeom prst="roundRect">
            <a:avLst>
              <a:gd name="adj" fmla="val 30000"/>
            </a:avLst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SDR 2 (raise funded): additional $50–75K+ MRR/qtr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8380" y="3264408"/>
            <a:ext cx="3643274" cy="493776"/>
          </a:xfrm>
          <a:prstGeom prst="roundRect">
            <a:avLst>
              <a:gd name="adj" fmla="val 30000"/>
            </a:avLst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GovCon RFP team: $150K+ ARR in set-aside contracts — sticky, recurring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46668" y="3945636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6396" y="3886200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SDR 3 added yr 3, ops-cash funded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46668" y="4421124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56396" y="4361688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Active acquisition closes mid yr 3 — EBITDA accretive at NewCo level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46668" y="4896612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56396" y="4837176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Infrastructure scaled to handle and retain volume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46668" y="5372100"/>
            <a:ext cx="54864" cy="54864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56396" y="5312664"/>
            <a:ext cx="3597554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1E1E1E"/>
                </a:solidFill>
                <a:latin typeface="Arial"/>
              </a:rPr>
              <a:t>Path to $1M EBITDA in 4–5 years, organic + M&amp;A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6592824"/>
            <a:ext cx="11825935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00" b="0" i="0">
                <a:solidFill>
                  <a:srgbClr val="A8BAC5"/>
                </a:solidFill>
                <a:latin typeface="Arial"/>
              </a:rPr>
              <a:t>partnerships@maddogcleaning.com  ·  Confidential — not an offer to sell securities  ·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0100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0100"/>
            <a:ext cx="12191695" cy="3810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2296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4–5 year path to $1M+ EBITDA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75488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BAC5"/>
                </a:solidFill>
                <a:latin typeface="Arial"/>
              </a:rPr>
              <a:t>Organic base case (3 SDR + GovCon compounding) + opportunistic acquisition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8143" y="244602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A8B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1">
                <a:solidFill>
                  <a:srgbClr val="3D4F5C"/>
                </a:solidFill>
                <a:latin typeface="Arial"/>
              </a:rPr>
              <a:t>Illustrative — not a guarantee of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918972"/>
            <a:ext cx="118872" cy="118872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850392"/>
            <a:ext cx="14538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8A939C"/>
                </a:solidFill>
                <a:latin typeface="Arial"/>
              </a:rPr>
              <a:t>Current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1952" y="918972"/>
            <a:ext cx="118872" cy="118872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850392"/>
            <a:ext cx="19568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8A939C"/>
                </a:solidFill>
                <a:latin typeface="Arial"/>
              </a:rPr>
              <a:t>SDR channel (raise funded)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0792" y="918972"/>
            <a:ext cx="118872" cy="118872"/>
          </a:xfrm>
          <a:prstGeom prst="rect">
            <a:avLst/>
          </a:prstGeom>
          <a:solidFill>
            <a:srgbClr val="8A9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850392"/>
            <a:ext cx="1636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8A939C"/>
                </a:solidFill>
                <a:latin typeface="Arial"/>
              </a:rPr>
              <a:t>SDR 3 (ops funded)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9592" y="918972"/>
            <a:ext cx="118872" cy="118872"/>
          </a:xfrm>
          <a:prstGeom prst="rect">
            <a:avLst/>
          </a:prstGeom>
          <a:solidFill>
            <a:srgbClr val="5E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850392"/>
            <a:ext cx="1636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8A939C"/>
                </a:solidFill>
                <a:latin typeface="Arial"/>
              </a:rPr>
              <a:t>GovCon / set-aside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8392" y="918972"/>
            <a:ext cx="118872" cy="1188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850392"/>
            <a:ext cx="181965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 i="0">
                <a:solidFill>
                  <a:srgbClr val="8A939C"/>
                </a:solidFill>
                <a:latin typeface="Arial"/>
              </a:rPr>
              <a:t>Opportunistic acquisition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170432"/>
            <a:ext cx="11789359" cy="347472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1252728"/>
            <a:ext cx="2359152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EBITDA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1252728"/>
            <a:ext cx="1443685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0037" y="1252728"/>
            <a:ext cx="1443685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Yr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3450" y="1252728"/>
            <a:ext cx="1443685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Yr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6863" y="1252728"/>
            <a:ext cx="1443685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Yr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0276" y="1252728"/>
            <a:ext cx="1443685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Yr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3689" y="1252728"/>
            <a:ext cx="1443685" cy="26517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Yr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1517904"/>
            <a:ext cx="11789359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1609344"/>
            <a:ext cx="23408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Current base (95% retention/yr)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6624" y="16093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0037" y="16093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$143K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3450" y="16093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$136K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6863" y="16093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$129K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0276" y="16093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$122K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3689" y="16093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$116K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1883664"/>
            <a:ext cx="11789359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1975104"/>
            <a:ext cx="18836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SDR 1 — cumulative book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21408" y="1988820"/>
            <a:ext cx="475488" cy="155448"/>
          </a:xfrm>
          <a:prstGeom prst="roundRect">
            <a:avLst>
              <a:gd name="adj" fmla="val 35000"/>
            </a:avLst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raise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6624" y="19751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0037" y="19751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$40K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3450" y="19751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$98K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6863" y="19751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$155K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0276" y="19751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$210K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3689" y="19751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$260K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2249424"/>
            <a:ext cx="11789359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" y="2340864"/>
            <a:ext cx="18836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SDR 2 — cumulative book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21408" y="2354580"/>
            <a:ext cx="475488" cy="155448"/>
          </a:xfrm>
          <a:prstGeom prst="roundRect">
            <a:avLst>
              <a:gd name="adj" fmla="val 35000"/>
            </a:avLst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raise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6624" y="23408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60037" y="23408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3450" y="23408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$40K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6863" y="23408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$98K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20276" y="23408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$155K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3689" y="23408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$210K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2615184"/>
            <a:ext cx="11789359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" y="2706624"/>
            <a:ext cx="18836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SDR 3 — cumulative book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21408" y="2720340"/>
            <a:ext cx="475488" cy="155448"/>
          </a:xfrm>
          <a:prstGeom prst="roundRect">
            <a:avLst>
              <a:gd name="adj" fmla="val 35000"/>
            </a:avLst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ops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06624" y="270662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60037" y="270662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13450" y="270662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6863" y="270662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$40K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20276" y="270662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$98K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73689" y="270662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$155K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2980944"/>
            <a:ext cx="11789359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" y="3072384"/>
            <a:ext cx="23408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0" i="0">
                <a:solidFill>
                  <a:srgbClr val="1E1E1E"/>
                </a:solidFill>
                <a:latin typeface="Arial"/>
              </a:rPr>
              <a:t>GovCon / set-aside (compounding)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06624" y="307238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0037" y="307238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$30K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13450" y="307238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$64K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6863" y="307238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$101K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20276" y="307238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$141K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73689" y="307238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1E1E1E"/>
                </a:solidFill>
                <a:latin typeface="Arial"/>
              </a:rPr>
              <a:t>$184K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" y="3346704"/>
            <a:ext cx="11789359" cy="365760"/>
          </a:xfrm>
          <a:prstGeom prst="rect">
            <a:avLst/>
          </a:prstGeom>
          <a:solidFill>
            <a:srgbClr val="2C3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2608" y="3438144"/>
            <a:ext cx="23408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Organic EBITDA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06624" y="34381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$150K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60037" y="34381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$213K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13450" y="34381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$338K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6863" y="34381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$523K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20276" y="34381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$726K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73689" y="343814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$925K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" y="3712464"/>
            <a:ext cx="11789359" cy="365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2608" y="3803904"/>
            <a:ext cx="18836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1" i="0">
                <a:solidFill>
                  <a:srgbClr val="2E7D32"/>
                </a:solidFill>
                <a:latin typeface="Arial"/>
              </a:rPr>
              <a:t>Acquisition (opportunistic, mid yr 3)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121408" y="3817620"/>
            <a:ext cx="475488" cy="155448"/>
          </a:xfrm>
          <a:prstGeom prst="roundRect">
            <a:avLst>
              <a:gd name="adj" fmla="val 3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NewCo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06624" y="38039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2E7D32"/>
                </a:solidFill>
                <a:latin typeface="Arial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60037" y="38039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2E7D32"/>
                </a:solidFill>
                <a:latin typeface="Arial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13450" y="38039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2E7D32"/>
                </a:solidFill>
                <a:latin typeface="Arial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66863" y="38039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2E7D32"/>
                </a:solidFill>
                <a:latin typeface="Arial"/>
              </a:rPr>
              <a:t>$200K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20276" y="38039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2E7D32"/>
                </a:solidFill>
                <a:latin typeface="Arial"/>
              </a:rPr>
              <a:t>$400K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73689" y="380390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2E7D32"/>
                </a:solidFill>
                <a:latin typeface="Arial"/>
              </a:rPr>
              <a:t>$400K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1168" y="4078224"/>
            <a:ext cx="11789359" cy="365760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92608" y="4169664"/>
            <a:ext cx="23408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Organic + Inorganic EBITDA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06624" y="41696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$150K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60037" y="41696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$213K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13450" y="41696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$338K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66863" y="41696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$723K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20276" y="41696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$1.13M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73689" y="4169664"/>
            <a:ext cx="148026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$1.32M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1168" y="4572000"/>
            <a:ext cx="5830671" cy="1207008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8328" y="4645152"/>
            <a:ext cx="5602071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A8BAC5"/>
                </a:solidFill>
                <a:latin typeface="Arial"/>
              </a:rPr>
              <a:t>Organic only — Year 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8328" y="4846320"/>
            <a:ext cx="5602071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$925K EBITDA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8328" y="5266944"/>
            <a:ext cx="5602071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A8BAC5"/>
                </a:solidFill>
                <a:latin typeface="Arial"/>
              </a:rPr>
              <a:t>~$4.6M valuation at 5x  ·  above the $4M cap  ·  clean investor exit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59855" y="4572000"/>
            <a:ext cx="5830671" cy="1207008"/>
          </a:xfrm>
          <a:prstGeom prst="rect">
            <a:avLst/>
          </a:prstGeom>
          <a:solidFill>
            <a:srgbClr val="B8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297015" y="4645152"/>
            <a:ext cx="5602071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F5C5B8"/>
                </a:solidFill>
                <a:latin typeface="Arial"/>
              </a:rPr>
              <a:t>Organic + Acquisition — Year 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97015" y="4846320"/>
            <a:ext cx="5602071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$1.13M EBITDA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97015" y="5266944"/>
            <a:ext cx="5602071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F5C5B8"/>
                </a:solidFill>
                <a:latin typeface="Arial"/>
              </a:rPr>
              <a:t>~$5.6M valuation at 5x  ·  well above cap  ·  one year earlier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D4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82880" y="6592824"/>
            <a:ext cx="11825935" cy="24688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50" b="0" i="0">
                <a:solidFill>
                  <a:srgbClr val="A8BAC5"/>
                </a:solidFill>
                <a:latin typeface="Arial"/>
              </a:rPr>
              <a:t>Acquisition structured at NewCo level — OpCo balance sheet stays clean for SBA recap  ·  SDRs 1 &amp; 2 raise funded, SDR 3 ops funded  ·  GovCon: $30K yr 1 growing 15% annually with 95% retention  ·  partnerships@maddogcleaning.com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