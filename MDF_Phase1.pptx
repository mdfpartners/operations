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95299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Phase 1 — building the organic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20040"/>
            <a:ext cx="54864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6B808F"/>
                </a:solidFill>
                <a:latin typeface="Arial"/>
              </a:rPr>
              <a:t>$200K raise  ·  Prove the thesis before accelerating through M&amp;A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92201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Convertible Note  ·  10% PIK  ·  15% equity  ·  4-yr maturity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5299"/>
            <a:ext cx="9144000" cy="43815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5299"/>
            <a:ext cx="38404" cy="43815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" y="550163"/>
            <a:ext cx="1188720" cy="192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4C30"/>
                </a:solidFill>
                <a:latin typeface="Arial"/>
              </a:rPr>
              <a:t>$170K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742187"/>
            <a:ext cx="11887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0">
                <a:solidFill>
                  <a:srgbClr val="6B808F"/>
                </a:solidFill>
                <a:latin typeface="Arial"/>
              </a:rPr>
              <a:t>ARR added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1484" y="559307"/>
            <a:ext cx="7315" cy="310134"/>
          </a:xfrm>
          <a:prstGeom prst="rect">
            <a:avLst/>
          </a:prstGeom>
          <a:solidFill>
            <a:srgbClr val="E2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9148" y="550163"/>
            <a:ext cx="1188720" cy="192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4C30"/>
                </a:solidFill>
                <a:latin typeface="Arial"/>
              </a:rPr>
              <a:t>4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9148" y="742187"/>
            <a:ext cx="11887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0">
                <a:solidFill>
                  <a:srgbClr val="6B808F"/>
                </a:solidFill>
                <a:latin typeface="Arial"/>
              </a:rPr>
              <a:t>Time to add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559307"/>
            <a:ext cx="7315" cy="310134"/>
          </a:xfrm>
          <a:prstGeom prst="rect">
            <a:avLst/>
          </a:prstGeom>
          <a:solidFill>
            <a:srgbClr val="E2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1992" y="550163"/>
            <a:ext cx="1188720" cy="192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4C30"/>
                </a:solidFill>
                <a:latin typeface="Arial"/>
              </a:rPr>
              <a:t>Fractional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1992" y="742187"/>
            <a:ext cx="11887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0">
                <a:solidFill>
                  <a:srgbClr val="6B808F"/>
                </a:solidFill>
                <a:latin typeface="Arial"/>
              </a:rPr>
              <a:t>Sales effort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7172" y="559307"/>
            <a:ext cx="7315" cy="310134"/>
          </a:xfrm>
          <a:prstGeom prst="rect">
            <a:avLst/>
          </a:prstGeom>
          <a:solidFill>
            <a:srgbClr val="E2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4836" y="550163"/>
            <a:ext cx="1188720" cy="192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4C30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4836" y="742187"/>
            <a:ext cx="11887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0">
                <a:solidFill>
                  <a:srgbClr val="6B808F"/>
                </a:solidFill>
                <a:latin typeface="Arial"/>
              </a:rPr>
              <a:t>Dedicated SDRs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3284" y="559307"/>
            <a:ext cx="7315" cy="310134"/>
          </a:xfrm>
          <a:prstGeom prst="rect">
            <a:avLst/>
          </a:prstGeom>
          <a:solidFill>
            <a:srgbClr val="E2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6436" y="541019"/>
            <a:ext cx="3679548" cy="36499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0" i="1">
                <a:solidFill>
                  <a:srgbClr val="B84C30"/>
                </a:solidFill>
                <a:latin typeface="Arial"/>
              </a:rPr>
              <a:t>We proved we can add material MRR with a lean, fractional team. This raise funds doing it full-time with dedicated resources for the first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933449"/>
            <a:ext cx="3048000" cy="34579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933449"/>
            <a:ext cx="3048000" cy="3457957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0" y="933449"/>
            <a:ext cx="3048000" cy="34579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933449"/>
            <a:ext cx="6400" cy="3457957"/>
          </a:xfrm>
          <a:prstGeom prst="rect">
            <a:avLst/>
          </a:prstGeom>
          <a:solidFill>
            <a:srgbClr val="D4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933449"/>
            <a:ext cx="6400" cy="3457957"/>
          </a:xfrm>
          <a:prstGeom prst="rect">
            <a:avLst/>
          </a:prstGeom>
          <a:solidFill>
            <a:srgbClr val="D4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" y="1079753"/>
            <a:ext cx="27188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D4F5C"/>
                </a:solidFill>
                <a:latin typeface="Arial"/>
              </a:rPr>
              <a:t>Why organic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1317497"/>
            <a:ext cx="822960" cy="254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1445513"/>
            <a:ext cx="64008" cy="64008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1390649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Cleaning businesses have inherent churn risk — acquiring revenue before you can retain and grow it organically is a trap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177033"/>
            <a:ext cx="64008" cy="64008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2122169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The smart play is to prove organic growth first, build infrastructure to retain what you win, then use M&amp;A to accelerate a proven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908553"/>
            <a:ext cx="64008" cy="64008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2853689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M&amp;A on top of a weak organic engine papers over the problem — M&amp;A on top of a strong one compounds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4592" y="3731513"/>
            <a:ext cx="2718816" cy="329184"/>
          </a:xfrm>
          <a:prstGeom prst="roundRect">
            <a:avLst>
              <a:gd name="adj" fmla="val 50000"/>
            </a:avLst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Phase 1 de-risks Phase 2 entirely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2592" y="1079753"/>
            <a:ext cx="27188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D4F5C"/>
                </a:solidFill>
                <a:latin typeface="Arial"/>
              </a:rPr>
              <a:t>What this raise funds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12592" y="1317497"/>
            <a:ext cx="822960" cy="254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30880" y="1445513"/>
            <a:ext cx="64008" cy="64008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0608" y="1390649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2 full-time SDRs over 12 months — the proven channel now at full capacity, targeting $50–75K MRR growth per quarter per SDR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30880" y="2030729"/>
            <a:ext cx="64008" cy="64008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0608" y="1975865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Working capital to service growth without cash flow strain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2615945"/>
            <a:ext cx="64008" cy="64008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0608" y="2561081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Admin infrastructure — PM, bookkeeper, office manager — to handle increased volume professionally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30880" y="3201161"/>
            <a:ext cx="64008" cy="64008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0608" y="3146297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GovCon analyst to capture SDVOSB set-aside RFP pipeline — targeting $150K+ ARR in sticky, recurring government contracts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12592" y="3859529"/>
            <a:ext cx="2718816" cy="329184"/>
          </a:xfrm>
          <a:prstGeom prst="roundRect">
            <a:avLst>
              <a:gd name="adj" fmla="val 50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$200K funds the engine — not the acquisition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0592" y="1079753"/>
            <a:ext cx="27188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D4F5C"/>
                </a:solidFill>
                <a:latin typeface="Arial"/>
              </a:rPr>
              <a:t>Phase 2 — what success unlocks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0592" y="1317497"/>
            <a:ext cx="822960" cy="25400"/>
          </a:xfrm>
          <a:prstGeom prst="rect">
            <a:avLst/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8880" y="1445513"/>
            <a:ext cx="64008" cy="64008"/>
          </a:xfrm>
          <a:prstGeom prst="rect">
            <a:avLst/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88608" y="1390649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Organic engine proven — consistent MRR growth, retention validated, GovCon pipeline converting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8880" y="2030729"/>
            <a:ext cx="64008" cy="64008"/>
          </a:xfrm>
          <a:prstGeom prst="rect">
            <a:avLst/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8608" y="1975865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Geographic expansion into new markets with existing SDVOSB footprint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8880" y="2615945"/>
            <a:ext cx="64008" cy="64008"/>
          </a:xfrm>
          <a:prstGeom prst="rect">
            <a:avLst/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8608" y="2561081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Bolt-on acquisitions of retiring owner-operators — lower risk on a proven platform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8880" y="3201161"/>
            <a:ext cx="64008" cy="64008"/>
          </a:xfrm>
          <a:prstGeom prst="rect">
            <a:avLst/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8608" y="3146297"/>
            <a:ext cx="2901696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Phase 1 investors receive right of first refusal on Phase 2 capital opportunities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0592" y="3859529"/>
            <a:ext cx="2718816" cy="329184"/>
          </a:xfrm>
          <a:prstGeom prst="roundRect">
            <a:avLst>
              <a:gd name="adj" fmla="val 50000"/>
            </a:avLst>
          </a:prstGeom>
          <a:solidFill>
            <a:srgbClr val="2A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Phase 2 is acceleration — not a pivot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391406"/>
            <a:ext cx="4572000" cy="514350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6304" y="4427982"/>
            <a:ext cx="4279392" cy="45948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>
                <a:solidFill>
                  <a:srgbClr val="A8BAC5"/>
                </a:solidFill>
                <a:latin typeface="Arial"/>
              </a:rPr>
              <a:t>Phase 1 — now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$200K  ·  Organic engine</a:t>
            </a:r>
          </a:p>
          <a:p>
            <a:pPr algn="l">
              <a:spcBef>
                <a:spcPts val="100"/>
              </a:spcBef>
            </a:pPr>
            <a:r>
              <a:rPr sz="650" b="0">
                <a:solidFill>
                  <a:srgbClr val="A8BAC5"/>
                </a:solidFill>
                <a:latin typeface="Arial"/>
              </a:rPr>
              <a:t>2 SDRs  ·  GovCon team ($150K+ ARR target)  ·  Admin infrastructure  ·  Working capital  ·  Prove $50–75K MRR/qtr per SDR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391406"/>
            <a:ext cx="4572000" cy="51435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0" y="4391406"/>
            <a:ext cx="38404" cy="51435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6708" y="4427982"/>
            <a:ext cx="4240988" cy="45948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>
                <a:solidFill>
                  <a:srgbClr val="D48874"/>
                </a:solidFill>
                <a:latin typeface="Arial"/>
              </a:rPr>
              <a:t>Phase 2 — unlocked by Phase 1 success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B84C30"/>
                </a:solidFill>
                <a:latin typeface="Arial"/>
              </a:rPr>
              <a:t>M&amp;A + Geographic expansion</a:t>
            </a:r>
          </a:p>
          <a:p>
            <a:pPr algn="l">
              <a:spcBef>
                <a:spcPts val="100"/>
              </a:spcBef>
            </a:pPr>
            <a:r>
              <a:rPr sz="650" b="0">
                <a:solidFill>
                  <a:srgbClr val="8A939C"/>
                </a:solidFill>
                <a:latin typeface="Arial"/>
              </a:rPr>
              <a:t>Bolt-on acquisitions  ·  New markets  ·  Platform scale  ·  Phase 1 investors get ROFR on Phase 2 opportunities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50" b="0" i="0">
                <a:solidFill>
                  <a:srgbClr val="8A939C"/>
                </a:solidFill>
                <a:latin typeface="Arial"/>
              </a:rPr>
              <a:t>partnerships@maddogcleaning.com  ·  Confidential — not an offer to sell securities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