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./mdf_logo_transpar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56032"/>
            <a:ext cx="96012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338328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50" kern="0" dirty="0">
                <a:solidFill>
                  <a:srgbClr val="A8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700" dirty="0"/>
          </a:p>
        </p:txBody>
      </p:sp>
      <p:sp>
        <p:nvSpPr>
          <p:cNvPr id="5" name="Text 1"/>
          <p:cNvSpPr/>
          <p:nvPr/>
        </p:nvSpPr>
        <p:spPr>
          <a:xfrm>
            <a:off x="457200" y="3566160"/>
            <a:ext cx="6858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 Systems Inc.</a:t>
            </a:r>
            <a:endParaRPr lang="en-US" sz="3400" dirty="0"/>
          </a:p>
        </p:txBody>
      </p:sp>
      <p:sp>
        <p:nvSpPr>
          <p:cNvPr id="6" name="Shape 2"/>
          <p:cNvSpPr/>
          <p:nvPr/>
        </p:nvSpPr>
        <p:spPr>
          <a:xfrm>
            <a:off x="457200" y="4315968"/>
            <a:ext cx="5943600" cy="16459"/>
          </a:xfrm>
          <a:prstGeom prst="rect">
            <a:avLst/>
          </a:prstGeom>
          <a:solidFill>
            <a:srgbClr val="5A6A7A"/>
          </a:solidFill>
          <a:ln w="12700">
            <a:solidFill>
              <a:srgbClr val="5A6A7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43525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Services Proposal  ·  April Bocox, Health and Safety Coordinator  ·  May 28,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MAD DOG FACILITY PARTNERS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8778240" y="73152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pic>
        <p:nvPicPr>
          <p:cNvPr id="5" name="Image 0" descr="./mdf_logo_whit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709160"/>
            <a:ext cx="100584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74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can choose any janitorial company.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57200" y="658368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is why our clients stay for an average of 6 years.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932688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92%+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457200" y="16459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inspection score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" y="1883664"/>
            <a:ext cx="256032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95681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Quality Assurance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226771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is tracked through OrangeQC — a third-party inspection platform. You see the results. We see accountability.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182112" y="969264"/>
            <a:ext cx="16459" cy="329184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37560" y="1024128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&lt;24hr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3337560" y="16459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resolution time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337560" y="1883664"/>
            <a:ext cx="256032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37560" y="195681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Documented Service Resolution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337560" y="226771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issue generates a service ticket with a timestamp. Nothing falls through the cracks and nothing goes unaddressed.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080760" y="969264"/>
            <a:ext cx="16459" cy="329184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36208" y="1024128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CEO</a:t>
            </a:r>
            <a:endParaRPr lang="en-US" sz="4000" dirty="0"/>
          </a:p>
        </p:txBody>
      </p:sp>
      <p:sp>
        <p:nvSpPr>
          <p:cNvPr id="22" name="Text 19"/>
          <p:cNvSpPr/>
          <p:nvPr/>
        </p:nvSpPr>
        <p:spPr>
          <a:xfrm>
            <a:off x="6236208" y="16459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your primary contact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236208" y="1883664"/>
            <a:ext cx="256032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36208" y="195681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Executive Access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236208" y="226771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Hereford Johnson, our CEO and US Air Force veteran, is reachable directly. No account managers, no call centers.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57200" y="4224528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42793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surveyed our clients on what we should do more of. The #1 answer was communication and integrity. We believe this is why our average client has been with us for 6 years."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FACILITY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8778240" y="73152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pic>
        <p:nvPicPr>
          <p:cNvPr id="5" name="Image 0" descr="./mdf_logo_whit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709160"/>
            <a:ext cx="100584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7432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built this for Logical Systems.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804672"/>
            <a:ext cx="484632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896112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LSI operates manufacturing and industrial facilities where precision, compliance, and uptime are non-negotiable. Your environment demands cleaning that works around production schedules, respects sensitive equipment, and meets the documentation standards your clients expect. MDF delivers compliance-ready facility services purpose-built for automation and controls environments — so your team stays focused on what they do best.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68112" y="256032"/>
            <a:ext cx="16459" cy="420624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50292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669280" y="70408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Manufacturing / Automation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669280" y="1097280"/>
            <a:ext cx="310896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0" y="169164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Facility Scale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0" y="18928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~50,000 sq ft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669280" y="2286000"/>
            <a:ext cx="310896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0" y="288036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Context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0" y="308152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OSHA / Production-Grade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WORK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8778240" y="73152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pic>
        <p:nvPicPr>
          <p:cNvPr id="5" name="Image 0" descr="./mdf_logo_whit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709160"/>
            <a:ext cx="100584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74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Facility. Your Scope.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57200" y="6400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Start July 1, 2026  ·  Month-to-Month Contract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0584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Offices &amp; Common Areas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1261872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dusting (weekly), front glass cleaning (weekly), office mopping, sweeping &amp; vacuuming (weekly), desk dusting (quarterly)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1883664"/>
            <a:ext cx="393192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99339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Restrooms (3)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2249424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sanitize &amp; disinfect all fixtures, mop &amp; disinfect floors, clean mirrors, empty &amp; reline trash — weekly service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" y="2871216"/>
            <a:ext cx="393192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" y="2980944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 Room / Kitchen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7200" y="3236976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Wipe countertops &amp; tables, inside/outside microwave, outside of fridge &amp; water machine, breakroom tables &amp; chairs (weekly), inside fridge (monthly)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0" y="960120"/>
            <a:ext cx="16459" cy="347472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54880" y="100584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Warehouse / Production Floor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754880" y="1261872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Dust mopping throughout (weekly)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754880" y="1883664"/>
            <a:ext cx="393192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54880" y="199339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Periodic Services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754880" y="2249424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Baseboard cleaning (quarterly), QA inspections via OrangeQC reporting platform (weekly)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8778240" y="73152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pic>
        <p:nvPicPr>
          <p:cNvPr id="5" name="Image 0" descr="./mdf_logo_whit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709160"/>
            <a:ext cx="100584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74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Team. Not a Call Center.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57200" y="6400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people accountable to your facility — by name, by role, by phone.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9" name="Image 1" descr="./herefo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024128"/>
            <a:ext cx="960120" cy="960120"/>
          </a:xfrm>
          <a:prstGeom prst="ellipse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20665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Hereford Johnson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7200" y="23408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Air Force Veteran · SDVOSB · ISSA Member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457200" y="2633472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Owner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" y="2889504"/>
            <a:ext cx="256032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2944368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primary contact. Reachable directly — no middlemen, no account managers.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182112" y="969264"/>
            <a:ext cx="16459" cy="324612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6" name="Image 2" descr="./victorian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28" y="1024128"/>
            <a:ext cx="960120" cy="960120"/>
          </a:xfrm>
          <a:prstGeom prst="ellipse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337560" y="20665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Victoriana Johnson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3337560" y="23408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Leadership · Client Relations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3337560" y="2633472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of Operations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3337560" y="2889504"/>
            <a:ext cx="256032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337560" y="2944368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Oversees scheduling, staffing, and service delivery across all accounts.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080760" y="969264"/>
            <a:ext cx="16459" cy="324612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23" name="Image 3" descr="./johann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76" y="1024128"/>
            <a:ext cx="960120" cy="960120"/>
          </a:xfrm>
          <a:prstGeom prst="ellipse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236208" y="20665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Johanna Hernandez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236208" y="23408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QA Inspector · OrangeQC Certified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6236208" y="2633472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Manager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236208" y="2889504"/>
            <a:ext cx="256032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236208" y="2944368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Conducts weekly inspections, files reports, and owns resolution follow-through.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457200" y="416052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57200" y="42245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"I've held the mop. I've been the crew. That's why we're built around accountability, not excuses." — Hereford Johnson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RAMP-UP PLAN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8778240" y="73152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pic>
        <p:nvPicPr>
          <p:cNvPr id="5" name="Image 0" descr="./mdf_logo_whit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709160"/>
            <a:ext cx="100584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74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Ramp-Up. Before Day One.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71323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786384"/>
            <a:ext cx="2743200" cy="40233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89611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200400" y="786384"/>
            <a:ext cx="1261872" cy="40233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0" y="896112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-2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462272" y="786384"/>
            <a:ext cx="1261872" cy="40233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62272" y="896112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-1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724144" y="786384"/>
            <a:ext cx="1261872" cy="40233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24144" y="896112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986016" y="786384"/>
            <a:ext cx="1261872" cy="40233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86016" y="896112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8247888" y="786384"/>
            <a:ext cx="1261872" cy="40233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47888" y="896112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Mo. 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9509760" y="786384"/>
            <a:ext cx="1261872" cy="40233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509760" y="896112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Mo. 3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57200" y="1188720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1298448"/>
            <a:ext cx="260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+ QA Manager Site Walk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200400" y="1188720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462272" y="1188720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724144" y="1188720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986016" y="1188720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47888" y="1188720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509760" y="1188720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255264" y="1280160"/>
            <a:ext cx="2414016" cy="221285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7200" y="1591056"/>
            <a:ext cx="27432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1700784"/>
            <a:ext cx="260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Handoff &amp; Supply Staging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200400" y="1591056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462272" y="1591056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24144" y="1591056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986016" y="1591056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247888" y="1591056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509760" y="1591056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255264" y="1682496"/>
            <a:ext cx="2414016" cy="221285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57200" y="1993392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48640" y="2103120"/>
            <a:ext cx="260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Assignment &amp; Orientation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3200400" y="1993392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462272" y="1993392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724144" y="1993392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986016" y="1993392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47888" y="1993392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509760" y="1993392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517136" y="2084832"/>
            <a:ext cx="1152144" cy="221285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57200" y="2395728"/>
            <a:ext cx="27432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48640" y="2505456"/>
            <a:ext cx="260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Launch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3200400" y="2395728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462272" y="2395728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724144" y="2395728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986016" y="2395728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247888" y="2395728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509760" y="2395728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779008" y="2487168"/>
            <a:ext cx="1152144" cy="221285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57200" y="2798064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48640" y="2907792"/>
            <a:ext cx="260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Supervisor Check-Ins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3200400" y="2798064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462272" y="2798064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724144" y="2798064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986016" y="2798064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247888" y="2798064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509760" y="2798064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779008" y="2889504"/>
            <a:ext cx="2414016" cy="221285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57200" y="3200400"/>
            <a:ext cx="27432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548640" y="3310128"/>
            <a:ext cx="260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OrangeQC Baseline Report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3200400" y="3200400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62272" y="3200400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724144" y="3200400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986016" y="3200400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247888" y="3200400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9509760" y="3200400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779008" y="3291840"/>
            <a:ext cx="2414016" cy="221285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457200" y="3602736"/>
            <a:ext cx="2743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548640" y="3712464"/>
            <a:ext cx="260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Review Call</a:t>
            </a:r>
            <a:endParaRPr lang="en-US" sz="900" dirty="0"/>
          </a:p>
        </p:txBody>
      </p:sp>
      <p:sp>
        <p:nvSpPr>
          <p:cNvPr id="78" name="Shape 75"/>
          <p:cNvSpPr/>
          <p:nvPr/>
        </p:nvSpPr>
        <p:spPr>
          <a:xfrm>
            <a:off x="3200400" y="3602736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4462272" y="3602736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5724144" y="3602736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986016" y="3602736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247888" y="3602736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509760" y="3602736"/>
            <a:ext cx="126187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8302752" y="3694176"/>
            <a:ext cx="1152144" cy="221285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57200" y="4005072"/>
            <a:ext cx="27432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548640" y="4114800"/>
            <a:ext cx="260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QBR &amp; Scope Review</a:t>
            </a:r>
            <a:endParaRPr lang="en-US" sz="900" dirty="0"/>
          </a:p>
        </p:txBody>
      </p:sp>
      <p:sp>
        <p:nvSpPr>
          <p:cNvPr id="87" name="Shape 84"/>
          <p:cNvSpPr/>
          <p:nvPr/>
        </p:nvSpPr>
        <p:spPr>
          <a:xfrm>
            <a:off x="3200400" y="4005072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4462272" y="4005072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5724144" y="4005072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6986016" y="4005072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8247888" y="4005072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9509760" y="4005072"/>
            <a:ext cx="1261872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9564624" y="4096512"/>
            <a:ext cx="1152144" cy="221285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457200" y="4498848"/>
            <a:ext cx="201168" cy="1280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713232" y="4489704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Pre-Start</a:t>
            </a:r>
            <a:endParaRPr lang="en-US" sz="850" dirty="0"/>
          </a:p>
        </p:txBody>
      </p:sp>
      <p:sp>
        <p:nvSpPr>
          <p:cNvPr id="96" name="Shape 93"/>
          <p:cNvSpPr/>
          <p:nvPr/>
        </p:nvSpPr>
        <p:spPr>
          <a:xfrm>
            <a:off x="3108960" y="4498848"/>
            <a:ext cx="201168" cy="12801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364992" y="4489704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Service</a:t>
            </a:r>
            <a:endParaRPr lang="en-US" sz="850" dirty="0"/>
          </a:p>
        </p:txBody>
      </p:sp>
      <p:sp>
        <p:nvSpPr>
          <p:cNvPr id="98" name="Shape 95"/>
          <p:cNvSpPr/>
          <p:nvPr/>
        </p:nvSpPr>
        <p:spPr>
          <a:xfrm>
            <a:off x="5760720" y="4498848"/>
            <a:ext cx="201168" cy="128016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6016752" y="4489704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Review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TESTIMONIALS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8778240" y="73152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pic>
        <p:nvPicPr>
          <p:cNvPr id="5" name="Image 0" descr="./mdf_logo_whit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709160"/>
            <a:ext cx="100584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74320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Our Clients Say.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57200" y="640080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that can't afford to get it wrong — and don't.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05840"/>
            <a:ext cx="6035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1F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impressed us most was their understanding of our compliance requirements. They didn't just clean — they followed our protocols, documented everything, and worked around our production schedule without missing a beat."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1847088"/>
            <a:ext cx="6035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Manufacturing Plant Operations Manager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" y="2084832"/>
            <a:ext cx="603504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2157984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team at MDF understands that in our environment, cleaning is part of our safety program — not just an afterthought."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57200" y="2816352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Sheriff's Office Facility Manager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474720" y="2157984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"We've worked with several cleaning companies over the years, but Mad Dog is different. When there's an issue, they fix it immediately."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816352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Government Administrator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675120" y="932688"/>
            <a:ext cx="16459" cy="329184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03720" y="1078992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FAA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903720" y="157276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Work History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903720" y="1828800"/>
            <a:ext cx="192024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03720" y="210312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Army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903720" y="259689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Performance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903720" y="2852928"/>
            <a:ext cx="192024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903720" y="312724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ISSA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6903720" y="362102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Member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&amp; NEXT STEPS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8778240" y="73152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pic>
        <p:nvPicPr>
          <p:cNvPr id="5" name="Image 0" descr="./mdf_logo_whit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709160"/>
            <a:ext cx="100584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7432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INVESTMENT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457200" y="475488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$1,000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457200" y="129844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 ·  $12,000 annually  ·  Month-to-Month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384048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8912" y="1645920"/>
            <a:ext cx="385876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169164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— W-2 Employees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108960" y="169164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$630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38912" y="1956816"/>
            <a:ext cx="3858768" cy="2743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" y="200253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&amp; Consumables (4%)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108960" y="200253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8912" y="2267712"/>
            <a:ext cx="385876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1343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&amp; Maintenance (3%)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108960" y="231343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38912" y="2578608"/>
            <a:ext cx="3858768" cy="2743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262432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OrangeQC Reporting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108960" y="26243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38912" y="2889504"/>
            <a:ext cx="385876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" y="293522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QA Manager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3108960" y="293522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38912" y="3200400"/>
            <a:ext cx="3858768" cy="2743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32461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Direct Line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3108960" y="32461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38912" y="3566160"/>
            <a:ext cx="3858768" cy="34747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0352" y="3639312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Monthly Total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2560320" y="363931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$1,000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572000" y="237744"/>
            <a:ext cx="16459" cy="45720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754880" y="274320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MOVE FORWARD?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4754880" y="475488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 when you say yes: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4754880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754880" y="1298448"/>
            <a:ext cx="27432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120640" y="104241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signed &amp; start date confirmed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754880" y="14813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4754880" y="1773936"/>
            <a:ext cx="27432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120640" y="15179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+ QA Manager schedule site walkthrough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754880" y="19568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754880" y="2249424"/>
            <a:ext cx="27432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120640" y="199339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assigned, keys exchanged, supplies staged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4754880" y="24323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754880" y="2724912"/>
            <a:ext cx="27432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120640" y="2468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OrangeQC account created — you get login access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4754880" y="29077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4754880" y="3200400"/>
            <a:ext cx="274320" cy="16459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120640" y="29443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service delivered on your start date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754880" y="3474720"/>
            <a:ext cx="402336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754880" y="35661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F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Hereford Johnson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4754880" y="3822192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623-321-2542  ·  office@maddogcleaning.com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MDF Facility Services Proposal — Logical Systems</dc:title>
  <dc:subject>PptxGenJS Presentation</dc:subject>
  <dc:creator>PptxGenJS</dc:creator>
  <cp:lastModifiedBy>PptxGenJS</cp:lastModifiedBy>
  <cp:revision>1</cp:revision>
  <dcterms:created xsi:type="dcterms:W3CDTF">2026-05-28T23:27:30Z</dcterms:created>
  <dcterms:modified xsi:type="dcterms:W3CDTF">2026-05-28T23:27:30Z</dcterms:modified>
</cp:coreProperties>
</file>