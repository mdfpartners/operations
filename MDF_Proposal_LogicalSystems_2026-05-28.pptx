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cover_phot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./mdf_logo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960120" cy="5669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3383280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50" kern="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</a:t>
            </a:r>
            <a:endParaRPr lang="en-US" sz="700" dirty="0"/>
          </a:p>
        </p:txBody>
      </p:sp>
      <p:sp>
        <p:nvSpPr>
          <p:cNvPr id="5" name="Text 1"/>
          <p:cNvSpPr/>
          <p:nvPr/>
        </p:nvSpPr>
        <p:spPr>
          <a:xfrm>
            <a:off x="457200" y="356616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Logical Systems Inc.</a:t>
            </a:r>
            <a:endParaRPr lang="en-US" sz="3400" dirty="0"/>
          </a:p>
        </p:txBody>
      </p:sp>
      <p:sp>
        <p:nvSpPr>
          <p:cNvPr id="6" name="Shape 2"/>
          <p:cNvSpPr/>
          <p:nvPr/>
        </p:nvSpPr>
        <p:spPr>
          <a:xfrm>
            <a:off x="457200" y="4315968"/>
            <a:ext cx="5943600" cy="16459"/>
          </a:xfrm>
          <a:prstGeom prst="rect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4352544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Services Proposal  ·  April Bocox, Health and Safety Coordinator  ·  May 28,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MAD DOG FACILITY PARTNERS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778240" y="7315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pic>
        <p:nvPicPr>
          <p:cNvPr id="5" name="Image 0" descr="./mdf_logo_white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4709160"/>
            <a:ext cx="100584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743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can choose any janitorial company.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65836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why our clients stay for an average of 6 years.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932688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02412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92%+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457200" y="164592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inspection score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1883664"/>
            <a:ext cx="256032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9568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Quality Assurance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2267712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 is tracked through OrangeQC — a third-party inspection platform. You see the results. We see accountability.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182112" y="969264"/>
            <a:ext cx="16459" cy="329184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37560" y="102412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&lt;24hr</a:t>
            </a:r>
            <a:endParaRPr lang="en-US" sz="4000" dirty="0"/>
          </a:p>
        </p:txBody>
      </p:sp>
      <p:sp>
        <p:nvSpPr>
          <p:cNvPr id="16" name="Text 13"/>
          <p:cNvSpPr/>
          <p:nvPr/>
        </p:nvSpPr>
        <p:spPr>
          <a:xfrm>
            <a:off x="3337560" y="164592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resolution time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337560" y="1883664"/>
            <a:ext cx="256032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37560" y="19568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Documented Service Resolution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337560" y="2267712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issue generates a service ticket with a timestamp. Nothing falls through the cracks and nothing goes unaddressed.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080760" y="969264"/>
            <a:ext cx="16459" cy="329184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36208" y="102412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CEO</a:t>
            </a:r>
            <a:endParaRPr lang="en-US" sz="4000" dirty="0"/>
          </a:p>
        </p:txBody>
      </p:sp>
      <p:sp>
        <p:nvSpPr>
          <p:cNvPr id="22" name="Text 19"/>
          <p:cNvSpPr/>
          <p:nvPr/>
        </p:nvSpPr>
        <p:spPr>
          <a:xfrm>
            <a:off x="6236208" y="164592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your primary contact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236208" y="1883664"/>
            <a:ext cx="256032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36208" y="19568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 Executive Access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236208" y="2267712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Hereford Johnson, our CEO and US Air Force veteran, is reachable directly. No account managers, no call centers.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57200" y="4224528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427939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surveyed our clients on what we should do more of. The #1 answer was communication and integrity. We believe this is why our average client has been with us for 6 years."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FACILITY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778240" y="7315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pic>
        <p:nvPicPr>
          <p:cNvPr id="5" name="Image 0" descr="./mdf_logo_white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4709160"/>
            <a:ext cx="100584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74320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built this for Logical Systems.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57200" y="804672"/>
            <a:ext cx="484632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896112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LSI operates manufacturing and industrial facilities where precision, compliance, and uptime are non-negotiable. Your environment demands cleaning that works around production schedules, respects sensitive equipment, and meets the documentation standards your clients expect. MDF delivers compliance-ready facility services purpose-built for automation and controls environments — so your team stays focused on what they do best.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68112" y="256032"/>
            <a:ext cx="16459" cy="420624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0" y="50292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669280" y="70408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Manufacturing / Automation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669280" y="1097280"/>
            <a:ext cx="310896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0" y="169164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Facility Scale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669280" y="18928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~50,000 sq ft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669280" y="2286000"/>
            <a:ext cx="310896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0" y="288036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Context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669280" y="308152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OSHA / Production-Grade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WORK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778240" y="7315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pic>
        <p:nvPicPr>
          <p:cNvPr id="5" name="Image 0" descr="./mdf_logo_white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4709160"/>
            <a:ext cx="100584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743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Facility. Your Scope.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6400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· Start July 1, 2026  ·  Month-to-Month Contract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914400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00584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Offices &amp; Common Areas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1261872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dusting (weekly), front glass cleaning (weekly), office mopping, sweeping &amp; vacuuming (weekly), desk dusting (quarterly)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1883664"/>
            <a:ext cx="393192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99339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Restrooms (3)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2249424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sanitize &amp; disinfect all fixtures, mop &amp; disinfect floors, clean mirrors, empty &amp; reline trash — weekly service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" y="2871216"/>
            <a:ext cx="393192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298094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 Room / Kitchen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3236976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Wipe countertops &amp; tables, inside/outside microwave, outside of fridge &amp; water machine, breakroom tables &amp; chairs (weekly), inside fridge (monthly)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0" y="960120"/>
            <a:ext cx="16459" cy="347472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54880" y="100584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Warehouse / Production Floor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754880" y="1261872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Dust mopping throughout (weekly)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754880" y="1883664"/>
            <a:ext cx="393192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54880" y="199339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Periodic Services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754880" y="2249424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Baseboard cleaning (quarterly), QA inspections via OrangeQC reporting platform (weekly)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778240" y="7315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pic>
        <p:nvPicPr>
          <p:cNvPr id="5" name="Image 0" descr="./mdf_logo_white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4709160"/>
            <a:ext cx="100584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743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Team. Not a Call Center.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6400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people accountable to your facility — by name, by role, by phone.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914400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9" name="Image 1" descr="./herefo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1024128"/>
            <a:ext cx="960120" cy="960120"/>
          </a:xfrm>
          <a:prstGeom prst="ellipse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20665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Hereford Johnson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23408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Air Force Veteran · SDVOSB · ISSA Member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457200" y="263347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&amp; Owner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2889504"/>
            <a:ext cx="256032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294436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primary contact. Reachable directly — no middlemen, no account managers.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182112" y="969264"/>
            <a:ext cx="16459" cy="324612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6" name="Image 2" descr="./victorian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928" y="1024128"/>
            <a:ext cx="960120" cy="960120"/>
          </a:xfrm>
          <a:prstGeom prst="ellipse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337560" y="20665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Victoriana Johnson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337560" y="23408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Leadership · Client Relations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3337560" y="263347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of Operations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337560" y="2889504"/>
            <a:ext cx="256032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337560" y="294436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Oversees scheduling, staffing, and service delivery across all accounts.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080760" y="969264"/>
            <a:ext cx="16459" cy="324612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23" name="Image 3" descr="./johann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576" y="1024128"/>
            <a:ext cx="960120" cy="960120"/>
          </a:xfrm>
          <a:prstGeom prst="ellipse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236208" y="20665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Johanna Hernandez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236208" y="23408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QA Inspector · OrangeQC Certified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6236208" y="263347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Manager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6236208" y="2889504"/>
            <a:ext cx="256032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236208" y="294436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Conducts weekly inspections, files reports, and owns resolution follow-through.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57200" y="4160520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57200" y="422452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"I've held the mop. I've been the crew. That's why we're built around accountability, not excuses." — Hereford Johnson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RAMP-UP PLAN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778240" y="7315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pic>
        <p:nvPicPr>
          <p:cNvPr id="5" name="Image 0" descr="./mdf_logo_white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4709160"/>
            <a:ext cx="100584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743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Ramp-Up. Before Day One.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57200" y="71323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786384"/>
            <a:ext cx="2743200" cy="402336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89611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00400" y="786384"/>
            <a:ext cx="1261872" cy="402336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0" y="896112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-2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462272" y="786384"/>
            <a:ext cx="1261872" cy="402336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62272" y="896112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-1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724144" y="786384"/>
            <a:ext cx="1261872" cy="402336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24144" y="896112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986016" y="786384"/>
            <a:ext cx="1261872" cy="402336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86016" y="896112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8247888" y="786384"/>
            <a:ext cx="1261872" cy="402336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47888" y="896112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Mo. 2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9509760" y="786384"/>
            <a:ext cx="1261872" cy="402336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509760" y="896112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Mo. 3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57200" y="1188720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8640" y="1298448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+ QA Manager Site Walk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200400" y="1188720"/>
            <a:ext cx="12618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462272" y="1188720"/>
            <a:ext cx="12618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724144" y="1188720"/>
            <a:ext cx="12618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986016" y="1188720"/>
            <a:ext cx="12618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247888" y="1188720"/>
            <a:ext cx="12618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509760" y="1188720"/>
            <a:ext cx="12618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255264" y="1280160"/>
            <a:ext cx="2414016" cy="221285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7200" y="1591056"/>
            <a:ext cx="2743200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48640" y="1700784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Handoff &amp; Supply Staging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3200400" y="1591056"/>
            <a:ext cx="1261872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462272" y="1591056"/>
            <a:ext cx="1261872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724144" y="1591056"/>
            <a:ext cx="1261872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986016" y="1591056"/>
            <a:ext cx="1261872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247888" y="1591056"/>
            <a:ext cx="1261872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509760" y="1591056"/>
            <a:ext cx="1261872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255264" y="1682496"/>
            <a:ext cx="2414016" cy="221285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57200" y="1993392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48640" y="2103120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Assignment &amp; Orientation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3200400" y="1993392"/>
            <a:ext cx="12618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462272" y="1993392"/>
            <a:ext cx="12618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724144" y="1993392"/>
            <a:ext cx="12618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986016" y="1993392"/>
            <a:ext cx="12618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247888" y="1993392"/>
            <a:ext cx="12618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9509760" y="1993392"/>
            <a:ext cx="12618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517136" y="2084832"/>
            <a:ext cx="1152144" cy="221285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57200" y="2395728"/>
            <a:ext cx="2743200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48640" y="2505456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Launch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3200400" y="2395728"/>
            <a:ext cx="1261872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4462272" y="2395728"/>
            <a:ext cx="1261872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724144" y="2395728"/>
            <a:ext cx="1261872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986016" y="2395728"/>
            <a:ext cx="1261872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8247888" y="2395728"/>
            <a:ext cx="1261872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9509760" y="2395728"/>
            <a:ext cx="1261872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5779008" y="2487168"/>
            <a:ext cx="1152144" cy="221285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457200" y="2798064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548640" y="2907792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Supervisor Check-Ins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3200400" y="2798064"/>
            <a:ext cx="12618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462272" y="2798064"/>
            <a:ext cx="12618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5724144" y="2798064"/>
            <a:ext cx="12618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6986016" y="2798064"/>
            <a:ext cx="12618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8247888" y="2798064"/>
            <a:ext cx="12618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9509760" y="2798064"/>
            <a:ext cx="12618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5779008" y="2889504"/>
            <a:ext cx="2414016" cy="221285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457200" y="3200400"/>
            <a:ext cx="2743200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48640" y="3310128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OrangeQC Baseline Report</a:t>
            </a:r>
            <a:endParaRPr lang="en-US" sz="900" dirty="0"/>
          </a:p>
        </p:txBody>
      </p:sp>
      <p:sp>
        <p:nvSpPr>
          <p:cNvPr id="69" name="Shape 66"/>
          <p:cNvSpPr/>
          <p:nvPr/>
        </p:nvSpPr>
        <p:spPr>
          <a:xfrm>
            <a:off x="3200400" y="3200400"/>
            <a:ext cx="1261872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4462272" y="3200400"/>
            <a:ext cx="1261872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5724144" y="3200400"/>
            <a:ext cx="1261872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6986016" y="3200400"/>
            <a:ext cx="1261872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8247888" y="3200400"/>
            <a:ext cx="1261872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9509760" y="3200400"/>
            <a:ext cx="1261872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5779008" y="3291840"/>
            <a:ext cx="2414016" cy="221285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457200" y="3602736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48640" y="3712464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Review Call</a:t>
            </a:r>
            <a:endParaRPr lang="en-US" sz="900" dirty="0"/>
          </a:p>
        </p:txBody>
      </p:sp>
      <p:sp>
        <p:nvSpPr>
          <p:cNvPr id="78" name="Shape 75"/>
          <p:cNvSpPr/>
          <p:nvPr/>
        </p:nvSpPr>
        <p:spPr>
          <a:xfrm>
            <a:off x="3200400" y="3602736"/>
            <a:ext cx="12618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4462272" y="3602736"/>
            <a:ext cx="12618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5724144" y="3602736"/>
            <a:ext cx="12618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6986016" y="3602736"/>
            <a:ext cx="12618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8247888" y="3602736"/>
            <a:ext cx="12618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9509760" y="3602736"/>
            <a:ext cx="12618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8302752" y="3694176"/>
            <a:ext cx="1152144" cy="221285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457200" y="4005072"/>
            <a:ext cx="2743200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548640" y="4114800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QBR &amp; Scope Review</a:t>
            </a:r>
            <a:endParaRPr lang="en-US" sz="900" dirty="0"/>
          </a:p>
        </p:txBody>
      </p:sp>
      <p:sp>
        <p:nvSpPr>
          <p:cNvPr id="87" name="Shape 84"/>
          <p:cNvSpPr/>
          <p:nvPr/>
        </p:nvSpPr>
        <p:spPr>
          <a:xfrm>
            <a:off x="3200400" y="4005072"/>
            <a:ext cx="1261872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4462272" y="4005072"/>
            <a:ext cx="1261872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5724144" y="4005072"/>
            <a:ext cx="1261872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6986016" y="4005072"/>
            <a:ext cx="1261872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8247888" y="4005072"/>
            <a:ext cx="1261872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9509760" y="4005072"/>
            <a:ext cx="1261872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9564624" y="4096512"/>
            <a:ext cx="1152144" cy="221285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457200" y="4498848"/>
            <a:ext cx="201168" cy="1280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713232" y="4489704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Pre-Start</a:t>
            </a:r>
            <a:endParaRPr lang="en-US" sz="850" dirty="0"/>
          </a:p>
        </p:txBody>
      </p:sp>
      <p:sp>
        <p:nvSpPr>
          <p:cNvPr id="96" name="Shape 93"/>
          <p:cNvSpPr/>
          <p:nvPr/>
        </p:nvSpPr>
        <p:spPr>
          <a:xfrm>
            <a:off x="3108960" y="4498848"/>
            <a:ext cx="201168" cy="128016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3364992" y="4489704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Service</a:t>
            </a:r>
            <a:endParaRPr lang="en-US" sz="850" dirty="0"/>
          </a:p>
        </p:txBody>
      </p:sp>
      <p:sp>
        <p:nvSpPr>
          <p:cNvPr id="98" name="Shape 95"/>
          <p:cNvSpPr/>
          <p:nvPr/>
        </p:nvSpPr>
        <p:spPr>
          <a:xfrm>
            <a:off x="5760720" y="4498848"/>
            <a:ext cx="201168" cy="128016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6016752" y="4489704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Review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TESTIMONIALS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778240" y="7315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pic>
        <p:nvPicPr>
          <p:cNvPr id="5" name="Image 0" descr="./mdf_logo_white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4709160"/>
            <a:ext cx="100584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7432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Our Clients Say.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640080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 that can't afford to get it wrong — and don't.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914400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00584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impressed us most was their understanding of our compliance requirements. They didn't just clean — they followed our protocols, documented everything, and worked around our production schedule without missing a beat."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1847088"/>
            <a:ext cx="6035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Manufacturing Plant Operations Manager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2084832"/>
            <a:ext cx="603504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2157984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team at MDF understands that in our environment, cleaning is part of our safety program — not just an afterthought."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2816352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Sheriff's Office Facility Manager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474720" y="2157984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"We've worked with several cleaning companies over the years, but Mad Dog is different. When there's an issue, they fix it immediately."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474720" y="2816352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Government Administrator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675120" y="932688"/>
            <a:ext cx="16459" cy="329184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03720" y="107899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FAA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903720" y="157276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Work History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903720" y="1828800"/>
            <a:ext cx="192024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03720" y="210312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Army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903720" y="259689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Performance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903720" y="2852928"/>
            <a:ext cx="192024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03720" y="312724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ISSA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6903720" y="362102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Member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&amp; NEXT STEPS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778240" y="7315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pic>
        <p:nvPicPr>
          <p:cNvPr id="5" name="Image 0" descr="./mdf_logo_white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4709160"/>
            <a:ext cx="100584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743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INVESTMENT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57200" y="47548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$1,000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457200" y="129844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 ·  $12,000 annually  ·  Month-to-Month  ·  30-Day Notice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57200" y="1554480"/>
            <a:ext cx="384048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8912" y="1645920"/>
            <a:ext cx="38587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169164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— W-2 Employees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108960" y="16916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$630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38912" y="1956816"/>
            <a:ext cx="3858768" cy="2743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200253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Supplies &amp; Consumables (4%)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108960" y="200253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38912" y="2267712"/>
            <a:ext cx="38587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231343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&amp; Maintenance (3%)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108960" y="231343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38912" y="2578608"/>
            <a:ext cx="3858768" cy="2743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262432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OrangeQC Reporting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108960" y="262432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38912" y="2889504"/>
            <a:ext cx="38587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293522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QA Manager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3108960" y="293522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38912" y="3200400"/>
            <a:ext cx="3858768" cy="2743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324612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Direct Line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3108960" y="32461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38912" y="3566160"/>
            <a:ext cx="3858768" cy="3474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30352" y="363931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Monthly Total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2560320" y="363931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$1,000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572000" y="237744"/>
            <a:ext cx="16459" cy="457200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754880" y="27432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MOVE FORWARD?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4754880" y="475488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when you say yes: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4754880" y="1005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4754880" y="1298448"/>
            <a:ext cx="274320" cy="16459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120640" y="104241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signed &amp; start date confirmed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754880" y="14813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4754880" y="1773936"/>
            <a:ext cx="274320" cy="16459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120640" y="15179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+ QA Manager schedule site walkthrough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754880" y="1956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4754880" y="2249424"/>
            <a:ext cx="274320" cy="16459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120640" y="19933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assigned, keys exchanged, supplies staged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4754880" y="24323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4754880" y="2724912"/>
            <a:ext cx="274320" cy="16459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120640" y="2468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OrangeQC account created — you get login access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4754880" y="29077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4754880" y="3200400"/>
            <a:ext cx="274320" cy="16459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120640" y="29443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service delivered on your start date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4754880" y="3474720"/>
            <a:ext cx="402336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4754880" y="35661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Hereford Johnson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4754880" y="382219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623-321-2542  ·  office@maddogcleaning.com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MDF Facility Services Proposal — Logical Systems</dc:title>
  <dc:subject>PptxGenJS Presentation</dc:subject>
  <dc:creator>PptxGenJS</dc:creator>
  <cp:lastModifiedBy>PptxGenJS</cp:lastModifiedBy>
  <cp:revision>1</cp:revision>
  <dcterms:created xsi:type="dcterms:W3CDTF">2026-05-28T23:30:02Z</dcterms:created>
  <dcterms:modified xsi:type="dcterms:W3CDTF">2026-05-28T23:30:02Z</dcterms:modified>
</cp:coreProperties>
</file>