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over_photo.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mdf_logo_all_white.png">    </p:cNvPr>
          <p:cNvPicPr>
            <a:picLocks noChangeAspect="1"/>
          </p:cNvPicPr>
          <p:nvPr/>
        </p:nvPicPr>
        <p:blipFill>
          <a:blip r:embed="rId2"/>
          <a:stretch>
            <a:fillRect/>
          </a:stretch>
        </p:blipFill>
        <p:spPr>
          <a:xfrm>
            <a:off x="347472" y="274320"/>
            <a:ext cx="1005840" cy="594360"/>
          </a:xfrm>
          <a:prstGeom prst="rect">
            <a:avLst/>
          </a:prstGeom>
        </p:spPr>
      </p:pic>
      <p:sp>
        <p:nvSpPr>
          <p:cNvPr id="4" name="Text 0"/>
          <p:cNvSpPr/>
          <p:nvPr/>
        </p:nvSpPr>
        <p:spPr>
          <a:xfrm>
            <a:off x="457200" y="3246120"/>
            <a:ext cx="5486400" cy="182880"/>
          </a:xfrm>
          <a:prstGeom prst="rect">
            <a:avLst/>
          </a:prstGeom>
          <a:noFill/>
          <a:ln/>
        </p:spPr>
        <p:txBody>
          <a:bodyPr wrap="square" rtlCol="0" anchor="ctr"/>
          <a:lstStyle/>
          <a:p>
            <a:pPr indent="0" marL="0">
              <a:buNone/>
            </a:pPr>
            <a:r>
              <a:rPr lang="en-US" sz="700" b="1" spc="350" kern="0" dirty="0">
                <a:solidFill>
                  <a:srgbClr val="A8B8CC"/>
                </a:solidFill>
                <a:latin typeface="Calibri" pitchFamily="34" charset="0"/>
                <a:ea typeface="Calibri" pitchFamily="34" charset="-122"/>
                <a:cs typeface="Calibri" pitchFamily="34" charset="-120"/>
              </a:rPr>
              <a:t>PREPARED FOR</a:t>
            </a:r>
            <a:endParaRPr lang="en-US" sz="700" dirty="0"/>
          </a:p>
        </p:txBody>
      </p:sp>
      <p:sp>
        <p:nvSpPr>
          <p:cNvPr id="5" name="Text 1"/>
          <p:cNvSpPr/>
          <p:nvPr/>
        </p:nvSpPr>
        <p:spPr>
          <a:xfrm>
            <a:off x="457200" y="3438144"/>
            <a:ext cx="7315200" cy="749808"/>
          </a:xfrm>
          <a:prstGeom prst="rect">
            <a:avLst/>
          </a:prstGeom>
          <a:noFill/>
          <a:ln/>
        </p:spPr>
        <p:txBody>
          <a:bodyPr wrap="square"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Logical Systems Inc.</a:t>
            </a:r>
            <a:endParaRPr lang="en-US" sz="3400" dirty="0"/>
          </a:p>
        </p:txBody>
      </p:sp>
      <p:sp>
        <p:nvSpPr>
          <p:cNvPr id="6" name="Shape 2"/>
          <p:cNvSpPr/>
          <p:nvPr/>
        </p:nvSpPr>
        <p:spPr>
          <a:xfrm>
            <a:off x="457200" y="4187952"/>
            <a:ext cx="6400800" cy="16459"/>
          </a:xfrm>
          <a:prstGeom prst="rect">
            <a:avLst/>
          </a:prstGeom>
          <a:solidFill>
            <a:srgbClr val="5A6A7A"/>
          </a:solidFill>
          <a:ln w="12700">
            <a:solidFill>
              <a:srgbClr val="5A6A7A"/>
            </a:solidFill>
            <a:prstDash val="solid"/>
          </a:ln>
        </p:spPr>
      </p:sp>
      <p:sp>
        <p:nvSpPr>
          <p:cNvPr id="7" name="Text 3"/>
          <p:cNvSpPr/>
          <p:nvPr/>
        </p:nvSpPr>
        <p:spPr>
          <a:xfrm>
            <a:off x="457200" y="4224528"/>
            <a:ext cx="8229600" cy="201168"/>
          </a:xfrm>
          <a:prstGeom prst="rect">
            <a:avLst/>
          </a:prstGeom>
          <a:noFill/>
          <a:ln/>
        </p:spPr>
        <p:txBody>
          <a:bodyPr wrap="square" rtlCol="0" anchor="ctr"/>
          <a:lstStyle/>
          <a:p>
            <a:pPr indent="0" marL="0">
              <a:buNone/>
            </a:pPr>
            <a:r>
              <a:rPr lang="en-US" sz="900" dirty="0">
                <a:solidFill>
                  <a:srgbClr val="8B9BAD"/>
                </a:solidFill>
                <a:latin typeface="Calibri" pitchFamily="34" charset="0"/>
                <a:ea typeface="Calibri" pitchFamily="34" charset="-122"/>
                <a:cs typeface="Calibri" pitchFamily="34" charset="-120"/>
              </a:rPr>
              <a:t>Facility Services Proposal  ·  April Bocox, Health and Safety Coordinator  ·  May 28, 2026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0D1F3C"/>
          </a:solidFill>
          <a:ln w="12700">
            <a:solidFill>
              <a:srgbClr val="0D1F3C"/>
            </a:solidFill>
            <a:prstDash val="solid"/>
          </a:ln>
        </p:spPr>
      </p:sp>
      <p:sp>
        <p:nvSpPr>
          <p:cNvPr id="3" name="Text 1"/>
          <p:cNvSpPr/>
          <p:nvPr/>
        </p:nvSpPr>
        <p:spPr>
          <a:xfrm>
            <a:off x="457200" y="91440"/>
            <a:ext cx="7315200" cy="164592"/>
          </a:xfrm>
          <a:prstGeom prst="rect">
            <a:avLst/>
          </a:prstGeom>
          <a:noFill/>
          <a:ln/>
        </p:spPr>
        <p:txBody>
          <a:bodyPr wrap="square"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WHY MAD DOG FACILITY PARTNERS</a:t>
            </a:r>
            <a:endParaRPr lang="en-US" sz="700" dirty="0"/>
          </a:p>
        </p:txBody>
      </p:sp>
      <p:sp>
        <p:nvSpPr>
          <p:cNvPr id="4" name="Text 2"/>
          <p:cNvSpPr/>
          <p:nvPr/>
        </p:nvSpPr>
        <p:spPr>
          <a:xfrm>
            <a:off x="8686800" y="73152"/>
            <a:ext cx="365760" cy="164592"/>
          </a:xfrm>
          <a:prstGeom prst="rect">
            <a:avLst/>
          </a:prstGeom>
          <a:noFill/>
          <a:ln/>
        </p:spPr>
        <p:txBody>
          <a:bodyPr wrap="square"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2</a:t>
            </a:r>
            <a:endParaRPr lang="en-US" sz="800" dirty="0"/>
          </a:p>
        </p:txBody>
      </p:sp>
      <p:pic>
        <p:nvPicPr>
          <p:cNvPr id="5" name="Image 0" descr="./mdf_logo_white_bg.png">    </p:cNvPr>
          <p:cNvPicPr>
            <a:picLocks noChangeAspect="1"/>
          </p:cNvPicPr>
          <p:nvPr/>
        </p:nvPicPr>
        <p:blipFill>
          <a:blip r:embed="rId1"/>
          <a:stretch>
            <a:fillRect/>
          </a:stretch>
        </p:blipFill>
        <p:spPr>
          <a:xfrm>
            <a:off x="7973568" y="4663440"/>
            <a:ext cx="1051560" cy="402336"/>
          </a:xfrm>
          <a:prstGeom prst="rect">
            <a:avLst/>
          </a:prstGeom>
        </p:spPr>
      </p:pic>
      <p:sp>
        <p:nvSpPr>
          <p:cNvPr id="6" name="Text 3"/>
          <p:cNvSpPr/>
          <p:nvPr/>
        </p:nvSpPr>
        <p:spPr>
          <a:xfrm>
            <a:off x="457200" y="256032"/>
            <a:ext cx="8229600" cy="438912"/>
          </a:xfrm>
          <a:prstGeom prst="rect">
            <a:avLst/>
          </a:prstGeom>
          <a:noFill/>
          <a:ln/>
        </p:spPr>
        <p:txBody>
          <a:bodyPr wrap="square" rtlCol="0" anchor="ctr"/>
          <a:lstStyle/>
          <a:p>
            <a:pPr indent="0" marL="0">
              <a:buNone/>
            </a:pPr>
            <a:r>
              <a:rPr lang="en-US" sz="2400" b="1" dirty="0">
                <a:solidFill>
                  <a:srgbClr val="0D1F3C"/>
                </a:solidFill>
                <a:latin typeface="Trebuchet MS" pitchFamily="34" charset="0"/>
                <a:ea typeface="Trebuchet MS" pitchFamily="34" charset="-122"/>
                <a:cs typeface="Trebuchet MS" pitchFamily="34" charset="-120"/>
              </a:rPr>
              <a:t>You can choose any janitorial company.</a:t>
            </a:r>
            <a:endParaRPr lang="en-US" sz="2400" dirty="0"/>
          </a:p>
        </p:txBody>
      </p:sp>
      <p:sp>
        <p:nvSpPr>
          <p:cNvPr id="7" name="Text 4"/>
          <p:cNvSpPr/>
          <p:nvPr/>
        </p:nvSpPr>
        <p:spPr>
          <a:xfrm>
            <a:off x="457200" y="694944"/>
            <a:ext cx="8229600" cy="237744"/>
          </a:xfrm>
          <a:prstGeom prst="rect">
            <a:avLst/>
          </a:prstGeom>
          <a:noFill/>
          <a:ln/>
        </p:spPr>
        <p:txBody>
          <a:bodyPr wrap="square" rtlCol="0" anchor="ctr"/>
          <a:lstStyle/>
          <a:p>
            <a:pPr indent="0" marL="0">
              <a:buNone/>
            </a:pPr>
            <a:r>
              <a:rPr lang="en-US" sz="1200" dirty="0">
                <a:solidFill>
                  <a:srgbClr val="6B7280"/>
                </a:solidFill>
                <a:latin typeface="Calibri" pitchFamily="34" charset="0"/>
                <a:ea typeface="Calibri" pitchFamily="34" charset="-122"/>
                <a:cs typeface="Calibri" pitchFamily="34" charset="-120"/>
              </a:rPr>
              <a:t>Here is why our clients stay for an average of 6 years.</a:t>
            </a:r>
            <a:endParaRPr lang="en-US" sz="1200" dirty="0"/>
          </a:p>
        </p:txBody>
      </p:sp>
      <p:sp>
        <p:nvSpPr>
          <p:cNvPr id="8" name="Shape 5"/>
          <p:cNvSpPr/>
          <p:nvPr/>
        </p:nvSpPr>
        <p:spPr>
          <a:xfrm>
            <a:off x="457200" y="987552"/>
            <a:ext cx="8229600" cy="16459"/>
          </a:xfrm>
          <a:prstGeom prst="rect">
            <a:avLst/>
          </a:prstGeom>
          <a:solidFill>
            <a:srgbClr val="D1D5DB"/>
          </a:solidFill>
          <a:ln w="12700">
            <a:solidFill>
              <a:srgbClr val="D1D5DB"/>
            </a:solidFill>
            <a:prstDash val="solid"/>
          </a:ln>
        </p:spPr>
      </p:sp>
      <p:sp>
        <p:nvSpPr>
          <p:cNvPr id="9" name="Text 6"/>
          <p:cNvSpPr/>
          <p:nvPr/>
        </p:nvSpPr>
        <p:spPr>
          <a:xfrm>
            <a:off x="457200" y="1078992"/>
            <a:ext cx="2651760" cy="822960"/>
          </a:xfrm>
          <a:prstGeom prst="rect">
            <a:avLst/>
          </a:prstGeom>
          <a:noFill/>
          <a:ln/>
        </p:spPr>
        <p:txBody>
          <a:bodyPr wrap="square" rtlCol="0" anchor="ctr"/>
          <a:lstStyle/>
          <a:p>
            <a:pPr indent="0" marL="0">
              <a:buNone/>
            </a:pPr>
            <a:r>
              <a:rPr lang="en-US" sz="4800" b="1" dirty="0">
                <a:solidFill>
                  <a:srgbClr val="0D1F3C"/>
                </a:solidFill>
                <a:latin typeface="Trebuchet MS" pitchFamily="34" charset="0"/>
                <a:ea typeface="Trebuchet MS" pitchFamily="34" charset="-122"/>
                <a:cs typeface="Trebuchet MS" pitchFamily="34" charset="-120"/>
              </a:rPr>
              <a:t>92%+</a:t>
            </a:r>
            <a:endParaRPr lang="en-US" sz="4800" dirty="0"/>
          </a:p>
        </p:txBody>
      </p:sp>
      <p:sp>
        <p:nvSpPr>
          <p:cNvPr id="10" name="Text 7"/>
          <p:cNvSpPr/>
          <p:nvPr/>
        </p:nvSpPr>
        <p:spPr>
          <a:xfrm>
            <a:off x="457200" y="1920240"/>
            <a:ext cx="2651760" cy="219456"/>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avg. inspection score</a:t>
            </a:r>
            <a:endParaRPr lang="en-US" sz="1000" dirty="0"/>
          </a:p>
        </p:txBody>
      </p:sp>
      <p:sp>
        <p:nvSpPr>
          <p:cNvPr id="11" name="Shape 8"/>
          <p:cNvSpPr/>
          <p:nvPr/>
        </p:nvSpPr>
        <p:spPr>
          <a:xfrm>
            <a:off x="457200" y="2176272"/>
            <a:ext cx="2651760" cy="16459"/>
          </a:xfrm>
          <a:prstGeom prst="rect">
            <a:avLst/>
          </a:prstGeom>
          <a:solidFill>
            <a:srgbClr val="D1D5DB"/>
          </a:solidFill>
          <a:ln w="12700">
            <a:solidFill>
              <a:srgbClr val="D1D5DB"/>
            </a:solidFill>
            <a:prstDash val="solid"/>
          </a:ln>
        </p:spPr>
      </p:sp>
      <p:sp>
        <p:nvSpPr>
          <p:cNvPr id="12" name="Text 9"/>
          <p:cNvSpPr/>
          <p:nvPr/>
        </p:nvSpPr>
        <p:spPr>
          <a:xfrm>
            <a:off x="457200" y="2249424"/>
            <a:ext cx="2651760" cy="274320"/>
          </a:xfrm>
          <a:prstGeom prst="rect">
            <a:avLst/>
          </a:prstGeom>
          <a:noFill/>
          <a:ln/>
        </p:spPr>
        <p:txBody>
          <a:bodyPr wrap="square" rtlCol="0" anchor="ctr"/>
          <a:lstStyle/>
          <a:p>
            <a:pPr indent="0" marL="0">
              <a:buNone/>
            </a:pPr>
            <a:r>
              <a:rPr lang="en-US" sz="1300" b="1" dirty="0">
                <a:solidFill>
                  <a:srgbClr val="374151"/>
                </a:solidFill>
                <a:latin typeface="Trebuchet MS" pitchFamily="34" charset="0"/>
                <a:ea typeface="Trebuchet MS" pitchFamily="34" charset="-122"/>
                <a:cs typeface="Trebuchet MS" pitchFamily="34" charset="-120"/>
              </a:rPr>
              <a:t>Real-Time Quality Assurance</a:t>
            </a:r>
            <a:endParaRPr lang="en-US" sz="1300" dirty="0"/>
          </a:p>
        </p:txBody>
      </p:sp>
      <p:sp>
        <p:nvSpPr>
          <p:cNvPr id="13" name="Text 10"/>
          <p:cNvSpPr/>
          <p:nvPr/>
        </p:nvSpPr>
        <p:spPr>
          <a:xfrm>
            <a:off x="457200" y="2578608"/>
            <a:ext cx="2651760" cy="1188720"/>
          </a:xfrm>
          <a:prstGeom prst="rect">
            <a:avLst/>
          </a:prstGeom>
          <a:noFill/>
          <a:ln/>
        </p:spPr>
        <p:txBody>
          <a:bodyPr wrap="square" rtlCol="0" anchor="ctr"/>
          <a:lstStyle/>
          <a:p>
            <a:pPr indent="0" marL="0">
              <a:buNone/>
            </a:pPr>
            <a:r>
              <a:rPr lang="en-US" sz="1100" dirty="0">
                <a:solidFill>
                  <a:srgbClr val="6B7280"/>
                </a:solidFill>
                <a:latin typeface="Calibri" pitchFamily="34" charset="0"/>
                <a:ea typeface="Calibri" pitchFamily="34" charset="-122"/>
                <a:cs typeface="Calibri" pitchFamily="34" charset="-120"/>
              </a:rPr>
              <a:t>Every service is tracked through a third-party inspection platform. Scores are logged, time-stamped, and available to you in real time. You never have to wonder if the work was done.</a:t>
            </a:r>
            <a:endParaRPr lang="en-US" sz="1100" dirty="0"/>
          </a:p>
        </p:txBody>
      </p:sp>
      <p:sp>
        <p:nvSpPr>
          <p:cNvPr id="14" name="Shape 11"/>
          <p:cNvSpPr/>
          <p:nvPr/>
        </p:nvSpPr>
        <p:spPr>
          <a:xfrm>
            <a:off x="3182112" y="1024128"/>
            <a:ext cx="16459" cy="3749040"/>
          </a:xfrm>
          <a:prstGeom prst="rect">
            <a:avLst/>
          </a:prstGeom>
          <a:solidFill>
            <a:srgbClr val="D1D5DB"/>
          </a:solidFill>
          <a:ln w="12700">
            <a:solidFill>
              <a:srgbClr val="D1D5DB"/>
            </a:solidFill>
            <a:prstDash val="solid"/>
          </a:ln>
        </p:spPr>
      </p:sp>
      <p:sp>
        <p:nvSpPr>
          <p:cNvPr id="15" name="Text 12"/>
          <p:cNvSpPr/>
          <p:nvPr/>
        </p:nvSpPr>
        <p:spPr>
          <a:xfrm>
            <a:off x="3337560" y="1078992"/>
            <a:ext cx="2651760" cy="822960"/>
          </a:xfrm>
          <a:prstGeom prst="rect">
            <a:avLst/>
          </a:prstGeom>
          <a:noFill/>
          <a:ln/>
        </p:spPr>
        <p:txBody>
          <a:bodyPr wrap="square" rtlCol="0" anchor="ctr"/>
          <a:lstStyle/>
          <a:p>
            <a:pPr indent="0" marL="0">
              <a:buNone/>
            </a:pPr>
            <a:r>
              <a:rPr lang="en-US" sz="4800" b="1" dirty="0">
                <a:solidFill>
                  <a:srgbClr val="0D1F3C"/>
                </a:solidFill>
                <a:latin typeface="Trebuchet MS" pitchFamily="34" charset="0"/>
                <a:ea typeface="Trebuchet MS" pitchFamily="34" charset="-122"/>
                <a:cs typeface="Trebuchet MS" pitchFamily="34" charset="-120"/>
              </a:rPr>
              <a:t>&lt;24hr</a:t>
            </a:r>
            <a:endParaRPr lang="en-US" sz="4800" dirty="0"/>
          </a:p>
        </p:txBody>
      </p:sp>
      <p:sp>
        <p:nvSpPr>
          <p:cNvPr id="16" name="Text 13"/>
          <p:cNvSpPr/>
          <p:nvPr/>
        </p:nvSpPr>
        <p:spPr>
          <a:xfrm>
            <a:off x="3337560" y="1920240"/>
            <a:ext cx="2651760" cy="219456"/>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avg. resolution time</a:t>
            </a:r>
            <a:endParaRPr lang="en-US" sz="1000" dirty="0"/>
          </a:p>
        </p:txBody>
      </p:sp>
      <p:sp>
        <p:nvSpPr>
          <p:cNvPr id="17" name="Shape 14"/>
          <p:cNvSpPr/>
          <p:nvPr/>
        </p:nvSpPr>
        <p:spPr>
          <a:xfrm>
            <a:off x="3337560" y="2176272"/>
            <a:ext cx="2651760" cy="16459"/>
          </a:xfrm>
          <a:prstGeom prst="rect">
            <a:avLst/>
          </a:prstGeom>
          <a:solidFill>
            <a:srgbClr val="D1D5DB"/>
          </a:solidFill>
          <a:ln w="12700">
            <a:solidFill>
              <a:srgbClr val="D1D5DB"/>
            </a:solidFill>
            <a:prstDash val="solid"/>
          </a:ln>
        </p:spPr>
      </p:sp>
      <p:sp>
        <p:nvSpPr>
          <p:cNvPr id="18" name="Text 15"/>
          <p:cNvSpPr/>
          <p:nvPr/>
        </p:nvSpPr>
        <p:spPr>
          <a:xfrm>
            <a:off x="3337560" y="2249424"/>
            <a:ext cx="2651760" cy="274320"/>
          </a:xfrm>
          <a:prstGeom prst="rect">
            <a:avLst/>
          </a:prstGeom>
          <a:noFill/>
          <a:ln/>
        </p:spPr>
        <p:txBody>
          <a:bodyPr wrap="square" rtlCol="0" anchor="ctr"/>
          <a:lstStyle/>
          <a:p>
            <a:pPr indent="0" marL="0">
              <a:buNone/>
            </a:pPr>
            <a:r>
              <a:rPr lang="en-US" sz="1300" b="1" dirty="0">
                <a:solidFill>
                  <a:srgbClr val="374151"/>
                </a:solidFill>
                <a:latin typeface="Trebuchet MS" pitchFamily="34" charset="0"/>
                <a:ea typeface="Trebuchet MS" pitchFamily="34" charset="-122"/>
                <a:cs typeface="Trebuchet MS" pitchFamily="34" charset="-120"/>
              </a:rPr>
              <a:t>Documented Service Resolution</a:t>
            </a:r>
            <a:endParaRPr lang="en-US" sz="1300" dirty="0"/>
          </a:p>
        </p:txBody>
      </p:sp>
      <p:sp>
        <p:nvSpPr>
          <p:cNvPr id="19" name="Text 16"/>
          <p:cNvSpPr/>
          <p:nvPr/>
        </p:nvSpPr>
        <p:spPr>
          <a:xfrm>
            <a:off x="3337560" y="2578608"/>
            <a:ext cx="2651760" cy="1188720"/>
          </a:xfrm>
          <a:prstGeom prst="rect">
            <a:avLst/>
          </a:prstGeom>
          <a:noFill/>
          <a:ln/>
        </p:spPr>
        <p:txBody>
          <a:bodyPr wrap="square" rtlCol="0" anchor="ctr"/>
          <a:lstStyle/>
          <a:p>
            <a:pPr indent="0" marL="0">
              <a:buNone/>
            </a:pPr>
            <a:r>
              <a:rPr lang="en-US" sz="1100" dirty="0">
                <a:solidFill>
                  <a:srgbClr val="6B7280"/>
                </a:solidFill>
                <a:latin typeface="Calibri" pitchFamily="34" charset="0"/>
                <a:ea typeface="Calibri" pitchFamily="34" charset="-122"/>
                <a:cs typeface="Calibri" pitchFamily="34" charset="-120"/>
              </a:rPr>
              <a:t>Every issue generates a service ticket with a timestamp and assigned owner. Problems are tracked from open to closed — nothing falls through the cracks and no response goes undocumented.</a:t>
            </a:r>
            <a:endParaRPr lang="en-US" sz="1100" dirty="0"/>
          </a:p>
        </p:txBody>
      </p:sp>
      <p:sp>
        <p:nvSpPr>
          <p:cNvPr id="20" name="Shape 17"/>
          <p:cNvSpPr/>
          <p:nvPr/>
        </p:nvSpPr>
        <p:spPr>
          <a:xfrm>
            <a:off x="6080760" y="1024128"/>
            <a:ext cx="16459" cy="3749040"/>
          </a:xfrm>
          <a:prstGeom prst="rect">
            <a:avLst/>
          </a:prstGeom>
          <a:solidFill>
            <a:srgbClr val="D1D5DB"/>
          </a:solidFill>
          <a:ln w="12700">
            <a:solidFill>
              <a:srgbClr val="D1D5DB"/>
            </a:solidFill>
            <a:prstDash val="solid"/>
          </a:ln>
        </p:spPr>
      </p:sp>
      <p:sp>
        <p:nvSpPr>
          <p:cNvPr id="21" name="Text 18"/>
          <p:cNvSpPr/>
          <p:nvPr/>
        </p:nvSpPr>
        <p:spPr>
          <a:xfrm>
            <a:off x="6236208" y="1078992"/>
            <a:ext cx="2651760" cy="822960"/>
          </a:xfrm>
          <a:prstGeom prst="rect">
            <a:avLst/>
          </a:prstGeom>
          <a:noFill/>
          <a:ln/>
        </p:spPr>
        <p:txBody>
          <a:bodyPr wrap="square" rtlCol="0" anchor="ctr"/>
          <a:lstStyle/>
          <a:p>
            <a:pPr indent="0" marL="0">
              <a:buNone/>
            </a:pPr>
            <a:r>
              <a:rPr lang="en-US" sz="4800" b="1" dirty="0">
                <a:solidFill>
                  <a:srgbClr val="0D1F3C"/>
                </a:solidFill>
                <a:latin typeface="Trebuchet MS" pitchFamily="34" charset="0"/>
                <a:ea typeface="Trebuchet MS" pitchFamily="34" charset="-122"/>
                <a:cs typeface="Trebuchet MS" pitchFamily="34" charset="-120"/>
              </a:rPr>
              <a:t>CEO</a:t>
            </a:r>
            <a:endParaRPr lang="en-US" sz="4800" dirty="0"/>
          </a:p>
        </p:txBody>
      </p:sp>
      <p:sp>
        <p:nvSpPr>
          <p:cNvPr id="22" name="Text 19"/>
          <p:cNvSpPr/>
          <p:nvPr/>
        </p:nvSpPr>
        <p:spPr>
          <a:xfrm>
            <a:off x="6236208" y="1920240"/>
            <a:ext cx="2651760" cy="219456"/>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is your primary contact</a:t>
            </a:r>
            <a:endParaRPr lang="en-US" sz="1000" dirty="0"/>
          </a:p>
        </p:txBody>
      </p:sp>
      <p:sp>
        <p:nvSpPr>
          <p:cNvPr id="23" name="Shape 20"/>
          <p:cNvSpPr/>
          <p:nvPr/>
        </p:nvSpPr>
        <p:spPr>
          <a:xfrm>
            <a:off x="6236208" y="2176272"/>
            <a:ext cx="2651760" cy="16459"/>
          </a:xfrm>
          <a:prstGeom prst="rect">
            <a:avLst/>
          </a:prstGeom>
          <a:solidFill>
            <a:srgbClr val="D1D5DB"/>
          </a:solidFill>
          <a:ln w="12700">
            <a:solidFill>
              <a:srgbClr val="D1D5DB"/>
            </a:solidFill>
            <a:prstDash val="solid"/>
          </a:ln>
        </p:spPr>
      </p:sp>
      <p:sp>
        <p:nvSpPr>
          <p:cNvPr id="24" name="Text 21"/>
          <p:cNvSpPr/>
          <p:nvPr/>
        </p:nvSpPr>
        <p:spPr>
          <a:xfrm>
            <a:off x="6236208" y="2249424"/>
            <a:ext cx="2651760" cy="274320"/>
          </a:xfrm>
          <a:prstGeom prst="rect">
            <a:avLst/>
          </a:prstGeom>
          <a:noFill/>
          <a:ln/>
        </p:spPr>
        <p:txBody>
          <a:bodyPr wrap="square" rtlCol="0" anchor="ctr"/>
          <a:lstStyle/>
          <a:p>
            <a:pPr indent="0" marL="0">
              <a:buNone/>
            </a:pPr>
            <a:r>
              <a:rPr lang="en-US" sz="1300" b="1" dirty="0">
                <a:solidFill>
                  <a:srgbClr val="374151"/>
                </a:solidFill>
                <a:latin typeface="Trebuchet MS" pitchFamily="34" charset="0"/>
                <a:ea typeface="Trebuchet MS" pitchFamily="34" charset="-122"/>
                <a:cs typeface="Trebuchet MS" pitchFamily="34" charset="-120"/>
              </a:rPr>
              <a:t>Direct Executive Access</a:t>
            </a:r>
            <a:endParaRPr lang="en-US" sz="1300" dirty="0"/>
          </a:p>
        </p:txBody>
      </p:sp>
      <p:sp>
        <p:nvSpPr>
          <p:cNvPr id="25" name="Text 22"/>
          <p:cNvSpPr/>
          <p:nvPr/>
        </p:nvSpPr>
        <p:spPr>
          <a:xfrm>
            <a:off x="6236208" y="2578608"/>
            <a:ext cx="2651760" cy="1188720"/>
          </a:xfrm>
          <a:prstGeom prst="rect">
            <a:avLst/>
          </a:prstGeom>
          <a:noFill/>
          <a:ln/>
        </p:spPr>
        <p:txBody>
          <a:bodyPr wrap="square" rtlCol="0" anchor="ctr"/>
          <a:lstStyle/>
          <a:p>
            <a:pPr indent="0" marL="0">
              <a:buNone/>
            </a:pPr>
            <a:r>
              <a:rPr lang="en-US" sz="1100" dirty="0">
                <a:solidFill>
                  <a:srgbClr val="6B7280"/>
                </a:solidFill>
                <a:latin typeface="Calibri" pitchFamily="34" charset="0"/>
                <a:ea typeface="Calibri" pitchFamily="34" charset="-122"/>
                <a:cs typeface="Calibri" pitchFamily="34" charset="-120"/>
              </a:rPr>
              <a:t>Hereford Johnson, US Air Force veteran and company founder, picks up the phone. No account managers, no call routing, no corporate layers between you and the person responsible.</a:t>
            </a:r>
            <a:endParaRPr lang="en-US" sz="1100" dirty="0"/>
          </a:p>
        </p:txBody>
      </p:sp>
      <p:sp>
        <p:nvSpPr>
          <p:cNvPr id="26" name="Shape 23"/>
          <p:cNvSpPr/>
          <p:nvPr/>
        </p:nvSpPr>
        <p:spPr>
          <a:xfrm>
            <a:off x="457200" y="4114800"/>
            <a:ext cx="8229600" cy="16459"/>
          </a:xfrm>
          <a:prstGeom prst="rect">
            <a:avLst/>
          </a:prstGeom>
          <a:solidFill>
            <a:srgbClr val="D1D5DB"/>
          </a:solidFill>
          <a:ln w="12700">
            <a:solidFill>
              <a:srgbClr val="D1D5DB"/>
            </a:solidFill>
            <a:prstDash val="solid"/>
          </a:ln>
        </p:spPr>
      </p:sp>
      <p:sp>
        <p:nvSpPr>
          <p:cNvPr id="27" name="Text 24"/>
          <p:cNvSpPr/>
          <p:nvPr/>
        </p:nvSpPr>
        <p:spPr>
          <a:xfrm>
            <a:off x="457200" y="4169664"/>
            <a:ext cx="8046720" cy="365760"/>
          </a:xfrm>
          <a:prstGeom prst="rect">
            <a:avLst/>
          </a:prstGeom>
          <a:noFill/>
          <a:ln/>
        </p:spPr>
        <p:txBody>
          <a:bodyPr wrap="square"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"We surveyed our clients on what we should do more of. The #1 answer was communication and integrity. We believe this is why our average client has been with us for 6 years."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0D1F3C"/>
          </a:solidFill>
          <a:ln w="12700">
            <a:solidFill>
              <a:srgbClr val="0D1F3C"/>
            </a:solidFill>
            <a:prstDash val="solid"/>
          </a:ln>
        </p:spPr>
      </p:sp>
      <p:sp>
        <p:nvSpPr>
          <p:cNvPr id="3" name="Text 1"/>
          <p:cNvSpPr/>
          <p:nvPr/>
        </p:nvSpPr>
        <p:spPr>
          <a:xfrm>
            <a:off x="457200" y="91440"/>
            <a:ext cx="7315200" cy="164592"/>
          </a:xfrm>
          <a:prstGeom prst="rect">
            <a:avLst/>
          </a:prstGeom>
          <a:noFill/>
          <a:ln/>
        </p:spPr>
        <p:txBody>
          <a:bodyPr wrap="square"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YOUR FACILITY</a:t>
            </a:r>
            <a:endParaRPr lang="en-US" sz="700" dirty="0"/>
          </a:p>
        </p:txBody>
      </p:sp>
      <p:sp>
        <p:nvSpPr>
          <p:cNvPr id="4" name="Text 2"/>
          <p:cNvSpPr/>
          <p:nvPr/>
        </p:nvSpPr>
        <p:spPr>
          <a:xfrm>
            <a:off x="8686800" y="73152"/>
            <a:ext cx="365760" cy="164592"/>
          </a:xfrm>
          <a:prstGeom prst="rect">
            <a:avLst/>
          </a:prstGeom>
          <a:noFill/>
          <a:ln/>
        </p:spPr>
        <p:txBody>
          <a:bodyPr wrap="square"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3</a:t>
            </a:r>
            <a:endParaRPr lang="en-US" sz="800" dirty="0"/>
          </a:p>
        </p:txBody>
      </p:sp>
      <p:pic>
        <p:nvPicPr>
          <p:cNvPr id="5" name="Image 0" descr="./mdf_logo_white_bg.png">    </p:cNvPr>
          <p:cNvPicPr>
            <a:picLocks noChangeAspect="1"/>
          </p:cNvPicPr>
          <p:nvPr/>
        </p:nvPicPr>
        <p:blipFill>
          <a:blip r:embed="rId1"/>
          <a:stretch>
            <a:fillRect/>
          </a:stretch>
        </p:blipFill>
        <p:spPr>
          <a:xfrm>
            <a:off x="7973568" y="4663440"/>
            <a:ext cx="1051560" cy="402336"/>
          </a:xfrm>
          <a:prstGeom prst="rect">
            <a:avLst/>
          </a:prstGeom>
        </p:spPr>
      </p:pic>
      <p:sp>
        <p:nvSpPr>
          <p:cNvPr id="6" name="Text 3"/>
          <p:cNvSpPr/>
          <p:nvPr/>
        </p:nvSpPr>
        <p:spPr>
          <a:xfrm>
            <a:off x="457200" y="256032"/>
            <a:ext cx="4937760" cy="475488"/>
          </a:xfrm>
          <a:prstGeom prst="rect">
            <a:avLst/>
          </a:prstGeom>
          <a:noFill/>
          <a:ln/>
        </p:spPr>
        <p:txBody>
          <a:bodyPr wrap="square" rtlCol="0" anchor="ctr"/>
          <a:lstStyle/>
          <a:p>
            <a:pPr indent="0" marL="0">
              <a:buNone/>
            </a:pPr>
            <a:r>
              <a:rPr lang="en-US" sz="2400" b="1" dirty="0">
                <a:solidFill>
                  <a:srgbClr val="0D1F3C"/>
                </a:solidFill>
                <a:latin typeface="Trebuchet MS" pitchFamily="34" charset="0"/>
                <a:ea typeface="Trebuchet MS" pitchFamily="34" charset="-122"/>
                <a:cs typeface="Trebuchet MS" pitchFamily="34" charset="-120"/>
              </a:rPr>
              <a:t>We built this for Logical Systems.</a:t>
            </a:r>
            <a:endParaRPr lang="en-US" sz="2400" dirty="0"/>
          </a:p>
        </p:txBody>
      </p:sp>
      <p:sp>
        <p:nvSpPr>
          <p:cNvPr id="7" name="Shape 4"/>
          <p:cNvSpPr/>
          <p:nvPr/>
        </p:nvSpPr>
        <p:spPr>
          <a:xfrm>
            <a:off x="457200" y="786384"/>
            <a:ext cx="4937760" cy="16459"/>
          </a:xfrm>
          <a:prstGeom prst="rect">
            <a:avLst/>
          </a:prstGeom>
          <a:solidFill>
            <a:srgbClr val="D1D5DB"/>
          </a:solidFill>
          <a:ln w="12700">
            <a:solidFill>
              <a:srgbClr val="D1D5DB"/>
            </a:solidFill>
            <a:prstDash val="solid"/>
          </a:ln>
        </p:spPr>
      </p:sp>
      <p:sp>
        <p:nvSpPr>
          <p:cNvPr id="8" name="Text 5"/>
          <p:cNvSpPr/>
          <p:nvPr/>
        </p:nvSpPr>
        <p:spPr>
          <a:xfrm>
            <a:off x="457200" y="877824"/>
            <a:ext cx="4937760" cy="1920240"/>
          </a:xfrm>
          <a:prstGeom prst="rect">
            <a:avLst/>
          </a:prstGeom>
          <a:noFill/>
          <a:ln/>
        </p:spPr>
        <p:txBody>
          <a:bodyPr wrap="square" rtlCol="0" anchor="ctr"/>
          <a:lstStyle/>
          <a:p>
            <a:pPr indent="0" marL="0">
              <a:buNone/>
            </a:pPr>
            <a:r>
              <a:rPr lang="en-US" sz="1100" dirty="0">
                <a:solidFill>
                  <a:srgbClr val="6B7280"/>
                </a:solidFill>
                <a:latin typeface="Calibri" pitchFamily="34" charset="0"/>
                <a:ea typeface="Calibri" pitchFamily="34" charset="-122"/>
                <a:cs typeface="Calibri" pitchFamily="34" charset="-120"/>
              </a:rPr>
              <a:t>LSI operates manufacturing and industrial facilities where precision, compliance, and uptime are non-negotiable. Your environment demands cleaning that works around production schedules, protects sensitive controls equipment, and meets the documentation standards your own clients expect from you.</a:t>
            </a:r>
            <a:endParaRPr lang="en-US" sz="1100" dirty="0"/>
          </a:p>
          <a:p>
            <a:pPr indent="0" marL="0">
              <a:buNone/>
            </a:pP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MDF delivers compliance-ready facility services designed for automation and controls environments. We coordinate around your production calendar, document every service, and treat your facility with the same operational discipline your team applies to every project.</a:t>
            </a:r>
            <a:endParaRPr lang="en-US" sz="1100" dirty="0"/>
          </a:p>
        </p:txBody>
      </p:sp>
      <p:sp>
        <p:nvSpPr>
          <p:cNvPr id="9" name="Text 6"/>
          <p:cNvSpPr/>
          <p:nvPr/>
        </p:nvSpPr>
        <p:spPr>
          <a:xfrm>
            <a:off x="457200" y="2907792"/>
            <a:ext cx="4937760" cy="548640"/>
          </a:xfrm>
          <a:prstGeom prst="rect">
            <a:avLst/>
          </a:prstGeom>
          <a:noFill/>
          <a:ln/>
        </p:spPr>
        <p:txBody>
          <a:bodyPr wrap="square" rtlCol="0" anchor="ctr"/>
          <a:lstStyle/>
          <a:p>
            <a:pPr indent="0" marL="0">
              <a:buNone/>
            </a:pPr>
            <a:r>
              <a:rPr lang="en-US" sz="1100" i="1" dirty="0">
                <a:solidFill>
                  <a:srgbClr val="1B3A6B"/>
                </a:solidFill>
                <a:latin typeface="Calibri" pitchFamily="34" charset="0"/>
                <a:ea typeface="Calibri" pitchFamily="34" charset="-122"/>
                <a:cs typeface="Calibri" pitchFamily="34" charset="-120"/>
              </a:rPr>
              <a:t>Your core values — service, integrity, and excellence — are the same values we build our teams around. That alignment isn't coincidental. It's why this works.</a:t>
            </a:r>
            <a:endParaRPr lang="en-US" sz="1100" dirty="0"/>
          </a:p>
        </p:txBody>
      </p:sp>
      <p:sp>
        <p:nvSpPr>
          <p:cNvPr id="10" name="Shape 7"/>
          <p:cNvSpPr/>
          <p:nvPr/>
        </p:nvSpPr>
        <p:spPr>
          <a:xfrm>
            <a:off x="5532120" y="237744"/>
            <a:ext cx="16459" cy="4251960"/>
          </a:xfrm>
          <a:prstGeom prst="rect">
            <a:avLst/>
          </a:prstGeom>
          <a:solidFill>
            <a:srgbClr val="D1D5DB"/>
          </a:solidFill>
          <a:ln w="12700">
            <a:solidFill>
              <a:srgbClr val="D1D5DB"/>
            </a:solidFill>
            <a:prstDash val="solid"/>
          </a:ln>
        </p:spPr>
      </p:sp>
      <p:sp>
        <p:nvSpPr>
          <p:cNvPr id="11" name="Text 8"/>
          <p:cNvSpPr/>
          <p:nvPr/>
        </p:nvSpPr>
        <p:spPr>
          <a:xfrm>
            <a:off x="5742432" y="502920"/>
            <a:ext cx="3108960" cy="182880"/>
          </a:xfrm>
          <a:prstGeom prst="rect">
            <a:avLst/>
          </a:prstGeom>
          <a:noFill/>
          <a:ln/>
        </p:spPr>
        <p:txBody>
          <a:bodyPr wrap="square" rtlCol="0" anchor="ctr"/>
          <a:lstStyle/>
          <a:p>
            <a:pPr indent="0" marL="0">
              <a:buNone/>
            </a:pPr>
            <a:r>
              <a:rPr lang="en-US" sz="750" b="1" spc="250" kern="0" dirty="0">
                <a:solidFill>
                  <a:srgbClr val="9CA3AF"/>
                </a:solidFill>
                <a:latin typeface="Calibri" pitchFamily="34" charset="0"/>
                <a:ea typeface="Calibri" pitchFamily="34" charset="-122"/>
                <a:cs typeface="Calibri" pitchFamily="34" charset="-120"/>
              </a:rPr>
              <a:t>INDUSTRY</a:t>
            </a:r>
            <a:endParaRPr lang="en-US" sz="750" dirty="0"/>
          </a:p>
        </p:txBody>
      </p:sp>
      <p:sp>
        <p:nvSpPr>
          <p:cNvPr id="12" name="Text 9"/>
          <p:cNvSpPr/>
          <p:nvPr/>
        </p:nvSpPr>
        <p:spPr>
          <a:xfrm>
            <a:off x="5742432" y="722376"/>
            <a:ext cx="3108960" cy="457200"/>
          </a:xfrm>
          <a:prstGeom prst="rect">
            <a:avLst/>
          </a:prstGeom>
          <a:noFill/>
          <a:ln/>
        </p:spPr>
        <p:txBody>
          <a:bodyPr wrap="square" rtlCol="0" anchor="ctr"/>
          <a:lstStyle/>
          <a:p>
            <a:pPr indent="0" marL="0">
              <a:buNone/>
            </a:pPr>
            <a:r>
              <a:rPr lang="en-US" sz="1600" b="1" dirty="0">
                <a:solidFill>
                  <a:srgbClr val="0D1F3C"/>
                </a:solidFill>
                <a:latin typeface="Trebuchet MS" pitchFamily="34" charset="0"/>
                <a:ea typeface="Trebuchet MS" pitchFamily="34" charset="-122"/>
                <a:cs typeface="Trebuchet MS" pitchFamily="34" charset="-120"/>
              </a:rPr>
              <a:t>Manufacturing / Automation</a:t>
            </a:r>
            <a:endParaRPr lang="en-US" sz="1600" dirty="0"/>
          </a:p>
        </p:txBody>
      </p:sp>
      <p:sp>
        <p:nvSpPr>
          <p:cNvPr id="13" name="Shape 10"/>
          <p:cNvSpPr/>
          <p:nvPr/>
        </p:nvSpPr>
        <p:spPr>
          <a:xfrm>
            <a:off x="5742432" y="1271016"/>
            <a:ext cx="3108960" cy="16459"/>
          </a:xfrm>
          <a:prstGeom prst="rect">
            <a:avLst/>
          </a:prstGeom>
          <a:solidFill>
            <a:srgbClr val="D1D5DB"/>
          </a:solidFill>
          <a:ln w="12700">
            <a:solidFill>
              <a:srgbClr val="D1D5DB"/>
            </a:solidFill>
            <a:prstDash val="solid"/>
          </a:ln>
        </p:spPr>
      </p:sp>
      <p:sp>
        <p:nvSpPr>
          <p:cNvPr id="14" name="Text 11"/>
          <p:cNvSpPr/>
          <p:nvPr/>
        </p:nvSpPr>
        <p:spPr>
          <a:xfrm>
            <a:off x="5742432" y="1783080"/>
            <a:ext cx="3108960" cy="182880"/>
          </a:xfrm>
          <a:prstGeom prst="rect">
            <a:avLst/>
          </a:prstGeom>
          <a:noFill/>
          <a:ln/>
        </p:spPr>
        <p:txBody>
          <a:bodyPr wrap="square" rtlCol="0" anchor="ctr"/>
          <a:lstStyle/>
          <a:p>
            <a:pPr indent="0" marL="0">
              <a:buNone/>
            </a:pPr>
            <a:r>
              <a:rPr lang="en-US" sz="750" b="1" spc="250" kern="0" dirty="0">
                <a:solidFill>
                  <a:srgbClr val="9CA3AF"/>
                </a:solidFill>
                <a:latin typeface="Calibri" pitchFamily="34" charset="0"/>
                <a:ea typeface="Calibri" pitchFamily="34" charset="-122"/>
                <a:cs typeface="Calibri" pitchFamily="34" charset="-120"/>
              </a:rPr>
              <a:t>FACILITY PROFILE</a:t>
            </a:r>
            <a:endParaRPr lang="en-US" sz="750" dirty="0"/>
          </a:p>
        </p:txBody>
      </p:sp>
      <p:sp>
        <p:nvSpPr>
          <p:cNvPr id="15" name="Text 12"/>
          <p:cNvSpPr/>
          <p:nvPr/>
        </p:nvSpPr>
        <p:spPr>
          <a:xfrm>
            <a:off x="5742432" y="2002536"/>
            <a:ext cx="3108960" cy="457200"/>
          </a:xfrm>
          <a:prstGeom prst="rect">
            <a:avLst/>
          </a:prstGeom>
          <a:noFill/>
          <a:ln/>
        </p:spPr>
        <p:txBody>
          <a:bodyPr wrap="square" rtlCol="0" anchor="ctr"/>
          <a:lstStyle/>
          <a:p>
            <a:pPr indent="0" marL="0">
              <a:buNone/>
            </a:pPr>
            <a:r>
              <a:rPr lang="en-US" sz="1600" b="1" dirty="0">
                <a:solidFill>
                  <a:srgbClr val="0D1F3C"/>
                </a:solidFill>
                <a:latin typeface="Trebuchet MS" pitchFamily="34" charset="0"/>
                <a:ea typeface="Trebuchet MS" pitchFamily="34" charset="-122"/>
                <a:cs typeface="Trebuchet MS" pitchFamily="34" charset="-120"/>
              </a:rPr>
              <a:t>Controls Integrator Since 1985</a:t>
            </a:r>
            <a:endParaRPr lang="en-US" sz="1600" dirty="0"/>
          </a:p>
        </p:txBody>
      </p:sp>
      <p:sp>
        <p:nvSpPr>
          <p:cNvPr id="16" name="Shape 13"/>
          <p:cNvSpPr/>
          <p:nvPr/>
        </p:nvSpPr>
        <p:spPr>
          <a:xfrm>
            <a:off x="5742432" y="2551176"/>
            <a:ext cx="3108960" cy="16459"/>
          </a:xfrm>
          <a:prstGeom prst="rect">
            <a:avLst/>
          </a:prstGeom>
          <a:solidFill>
            <a:srgbClr val="D1D5DB"/>
          </a:solidFill>
          <a:ln w="12700">
            <a:solidFill>
              <a:srgbClr val="D1D5DB"/>
            </a:solidFill>
            <a:prstDash val="solid"/>
          </a:ln>
        </p:spPr>
      </p:sp>
      <p:sp>
        <p:nvSpPr>
          <p:cNvPr id="17" name="Text 14"/>
          <p:cNvSpPr/>
          <p:nvPr/>
        </p:nvSpPr>
        <p:spPr>
          <a:xfrm>
            <a:off x="5742432" y="3063240"/>
            <a:ext cx="3108960" cy="182880"/>
          </a:xfrm>
          <a:prstGeom prst="rect">
            <a:avLst/>
          </a:prstGeom>
          <a:noFill/>
          <a:ln/>
        </p:spPr>
        <p:txBody>
          <a:bodyPr wrap="square" rtlCol="0" anchor="ctr"/>
          <a:lstStyle/>
          <a:p>
            <a:pPr indent="0" marL="0">
              <a:buNone/>
            </a:pPr>
            <a:r>
              <a:rPr lang="en-US" sz="750" b="1" spc="250" kern="0" dirty="0">
                <a:solidFill>
                  <a:srgbClr val="9CA3AF"/>
                </a:solidFill>
                <a:latin typeface="Calibri" pitchFamily="34" charset="0"/>
                <a:ea typeface="Calibri" pitchFamily="34" charset="-122"/>
                <a:cs typeface="Calibri" pitchFamily="34" charset="-120"/>
              </a:rPr>
              <a:t>COMPLIANCE CONTEXT</a:t>
            </a:r>
            <a:endParaRPr lang="en-US" sz="750" dirty="0"/>
          </a:p>
        </p:txBody>
      </p:sp>
      <p:sp>
        <p:nvSpPr>
          <p:cNvPr id="18" name="Text 15"/>
          <p:cNvSpPr/>
          <p:nvPr/>
        </p:nvSpPr>
        <p:spPr>
          <a:xfrm>
            <a:off x="5742432" y="3282696"/>
            <a:ext cx="3108960" cy="457200"/>
          </a:xfrm>
          <a:prstGeom prst="rect">
            <a:avLst/>
          </a:prstGeom>
          <a:noFill/>
          <a:ln/>
        </p:spPr>
        <p:txBody>
          <a:bodyPr wrap="square" rtlCol="0" anchor="ctr"/>
          <a:lstStyle/>
          <a:p>
            <a:pPr indent="0" marL="0">
              <a:buNone/>
            </a:pPr>
            <a:r>
              <a:rPr lang="en-US" sz="1600" b="1" dirty="0">
                <a:solidFill>
                  <a:srgbClr val="0D1F3C"/>
                </a:solidFill>
                <a:latin typeface="Trebuchet MS" pitchFamily="34" charset="0"/>
                <a:ea typeface="Trebuchet MS" pitchFamily="34" charset="-122"/>
                <a:cs typeface="Trebuchet MS" pitchFamily="34" charset="-120"/>
              </a:rPr>
              <a:t>OSHA / Production-Grade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0D1F3C"/>
          </a:solidFill>
          <a:ln w="12700">
            <a:solidFill>
              <a:srgbClr val="0D1F3C"/>
            </a:solidFill>
            <a:prstDash val="solid"/>
          </a:ln>
        </p:spPr>
      </p:sp>
      <p:sp>
        <p:nvSpPr>
          <p:cNvPr id="3" name="Text 1"/>
          <p:cNvSpPr/>
          <p:nvPr/>
        </p:nvSpPr>
        <p:spPr>
          <a:xfrm>
            <a:off x="457200" y="91440"/>
            <a:ext cx="7315200" cy="164592"/>
          </a:xfrm>
          <a:prstGeom prst="rect">
            <a:avLst/>
          </a:prstGeom>
          <a:noFill/>
          <a:ln/>
        </p:spPr>
        <p:txBody>
          <a:bodyPr wrap="square"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SCOPE OF WORK</a:t>
            </a:r>
            <a:endParaRPr lang="en-US" sz="700" dirty="0"/>
          </a:p>
        </p:txBody>
      </p:sp>
      <p:sp>
        <p:nvSpPr>
          <p:cNvPr id="4" name="Text 2"/>
          <p:cNvSpPr/>
          <p:nvPr/>
        </p:nvSpPr>
        <p:spPr>
          <a:xfrm>
            <a:off x="8686800" y="73152"/>
            <a:ext cx="365760" cy="164592"/>
          </a:xfrm>
          <a:prstGeom prst="rect">
            <a:avLst/>
          </a:prstGeom>
          <a:noFill/>
          <a:ln/>
        </p:spPr>
        <p:txBody>
          <a:bodyPr wrap="square"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4</a:t>
            </a:r>
            <a:endParaRPr lang="en-US" sz="800" dirty="0"/>
          </a:p>
        </p:txBody>
      </p:sp>
      <p:pic>
        <p:nvPicPr>
          <p:cNvPr id="5" name="Image 0" descr="./mdf_logo_white_bg.png">    </p:cNvPr>
          <p:cNvPicPr>
            <a:picLocks noChangeAspect="1"/>
          </p:cNvPicPr>
          <p:nvPr/>
        </p:nvPicPr>
        <p:blipFill>
          <a:blip r:embed="rId1"/>
          <a:stretch>
            <a:fillRect/>
          </a:stretch>
        </p:blipFill>
        <p:spPr>
          <a:xfrm>
            <a:off x="7973568" y="4663440"/>
            <a:ext cx="1051560" cy="402336"/>
          </a:xfrm>
          <a:prstGeom prst="rect">
            <a:avLst/>
          </a:prstGeom>
        </p:spPr>
      </p:pic>
      <p:sp>
        <p:nvSpPr>
          <p:cNvPr id="6" name="Text 3"/>
          <p:cNvSpPr/>
          <p:nvPr/>
        </p:nvSpPr>
        <p:spPr>
          <a:xfrm>
            <a:off x="457200" y="256032"/>
            <a:ext cx="8229600" cy="438912"/>
          </a:xfrm>
          <a:prstGeom prst="rect">
            <a:avLst/>
          </a:prstGeom>
          <a:noFill/>
          <a:ln/>
        </p:spPr>
        <p:txBody>
          <a:bodyPr wrap="square" rtlCol="0" anchor="ctr"/>
          <a:lstStyle/>
          <a:p>
            <a:pPr indent="0" marL="0">
              <a:buNone/>
            </a:pPr>
            <a:r>
              <a:rPr lang="en-US" sz="2400" b="1" dirty="0">
                <a:solidFill>
                  <a:srgbClr val="0D1F3C"/>
                </a:solidFill>
                <a:latin typeface="Trebuchet MS" pitchFamily="34" charset="0"/>
                <a:ea typeface="Trebuchet MS" pitchFamily="34" charset="-122"/>
                <a:cs typeface="Trebuchet MS" pitchFamily="34" charset="-120"/>
              </a:rPr>
              <a:t>Your Facility. Your Scope.</a:t>
            </a:r>
            <a:endParaRPr lang="en-US" sz="2400" dirty="0"/>
          </a:p>
        </p:txBody>
      </p:sp>
      <p:sp>
        <p:nvSpPr>
          <p:cNvPr id="7" name="Text 4"/>
          <p:cNvSpPr/>
          <p:nvPr/>
        </p:nvSpPr>
        <p:spPr>
          <a:xfrm>
            <a:off x="457200" y="694944"/>
            <a:ext cx="8229600" cy="237744"/>
          </a:xfrm>
          <a:prstGeom prst="rect">
            <a:avLst/>
          </a:prstGeom>
          <a:noFill/>
          <a:ln/>
        </p:spPr>
        <p:txBody>
          <a:bodyPr wrap="square" rtlCol="0" anchor="ctr"/>
          <a:lstStyle/>
          <a:p>
            <a:pPr indent="0" marL="0">
              <a:buNone/>
            </a:pPr>
            <a:r>
              <a:rPr lang="en-US" sz="1100" dirty="0">
                <a:solidFill>
                  <a:srgbClr val="6B7280"/>
                </a:solidFill>
                <a:latin typeface="Calibri" pitchFamily="34" charset="0"/>
                <a:ea typeface="Calibri" pitchFamily="34" charset="-122"/>
                <a:cs typeface="Calibri" pitchFamily="34" charset="-120"/>
              </a:rPr>
              <a:t>Weekly service  ·  Start July 1, 2026  ·  Month-to-Month  ·  30-Day Notice</a:t>
            </a:r>
            <a:endParaRPr lang="en-US" sz="1100" dirty="0"/>
          </a:p>
        </p:txBody>
      </p:sp>
      <p:sp>
        <p:nvSpPr>
          <p:cNvPr id="8" name="Shape 5"/>
          <p:cNvSpPr/>
          <p:nvPr/>
        </p:nvSpPr>
        <p:spPr>
          <a:xfrm>
            <a:off x="457200" y="987552"/>
            <a:ext cx="8229600" cy="16459"/>
          </a:xfrm>
          <a:prstGeom prst="rect">
            <a:avLst/>
          </a:prstGeom>
          <a:solidFill>
            <a:srgbClr val="D1D5DB"/>
          </a:solidFill>
          <a:ln w="12700">
            <a:solidFill>
              <a:srgbClr val="D1D5DB"/>
            </a:solidFill>
            <a:prstDash val="solid"/>
          </a:ln>
        </p:spPr>
      </p:sp>
      <p:sp>
        <p:nvSpPr>
          <p:cNvPr id="9" name="Text 6"/>
          <p:cNvSpPr/>
          <p:nvPr/>
        </p:nvSpPr>
        <p:spPr>
          <a:xfrm>
            <a:off x="457200" y="1060704"/>
            <a:ext cx="3931920" cy="256032"/>
          </a:xfrm>
          <a:prstGeom prst="rect">
            <a:avLst/>
          </a:prstGeom>
          <a:noFill/>
          <a:ln/>
        </p:spPr>
        <p:txBody>
          <a:bodyPr wrap="square" rtlCol="0" anchor="ctr"/>
          <a:lstStyle/>
          <a:p>
            <a:pPr indent="0" marL="0">
              <a:buNone/>
            </a:pPr>
            <a:r>
              <a:rPr lang="en-US" sz="1200" b="1" dirty="0">
                <a:solidFill>
                  <a:srgbClr val="374151"/>
                </a:solidFill>
                <a:latin typeface="Trebuchet MS" pitchFamily="34" charset="0"/>
                <a:ea typeface="Trebuchet MS" pitchFamily="34" charset="-122"/>
                <a:cs typeface="Trebuchet MS" pitchFamily="34" charset="-120"/>
              </a:rPr>
              <a:t>Offices &amp; Common Areas</a:t>
            </a:r>
            <a:endParaRPr lang="en-US" sz="1200" dirty="0"/>
          </a:p>
        </p:txBody>
      </p:sp>
      <p:sp>
        <p:nvSpPr>
          <p:cNvPr id="10" name="Text 7"/>
          <p:cNvSpPr/>
          <p:nvPr/>
        </p:nvSpPr>
        <p:spPr>
          <a:xfrm>
            <a:off x="457200" y="1353312"/>
            <a:ext cx="3931920" cy="749808"/>
          </a:xfrm>
          <a:prstGeom prst="rect">
            <a:avLst/>
          </a:prstGeom>
          <a:noFill/>
          <a:ln/>
        </p:spPr>
        <p:txBody>
          <a:bodyPr wrap="square" rtlCol="0" anchor="ctr"/>
          <a:lstStyle/>
          <a:p>
            <a:pPr indent="0" marL="0">
              <a:buNone/>
            </a:pPr>
            <a:r>
              <a:rPr lang="en-US" sz="1100" dirty="0">
                <a:solidFill>
                  <a:srgbClr val="6B7280"/>
                </a:solidFill>
                <a:latin typeface="Calibri" pitchFamily="34" charset="0"/>
                <a:ea typeface="Calibri" pitchFamily="34" charset="-122"/>
                <a:cs typeface="Calibri" pitchFamily="34" charset="-120"/>
              </a:rPr>
              <a:t>General dusting, front glass cleaning, office mopping/sweeping/vacuuming (weekly); desk dusting (quarterly)</a:t>
            </a:r>
            <a:endParaRPr lang="en-US" sz="1100" dirty="0"/>
          </a:p>
        </p:txBody>
      </p:sp>
      <p:sp>
        <p:nvSpPr>
          <p:cNvPr id="11" name="Shape 8"/>
          <p:cNvSpPr/>
          <p:nvPr/>
        </p:nvSpPr>
        <p:spPr>
          <a:xfrm>
            <a:off x="457200" y="2139696"/>
            <a:ext cx="3931920" cy="16459"/>
          </a:xfrm>
          <a:prstGeom prst="rect">
            <a:avLst/>
          </a:prstGeom>
          <a:solidFill>
            <a:srgbClr val="D1D5DB"/>
          </a:solidFill>
          <a:ln w="12700">
            <a:solidFill>
              <a:srgbClr val="D1D5DB"/>
            </a:solidFill>
            <a:prstDash val="solid"/>
          </a:ln>
        </p:spPr>
      </p:sp>
      <p:sp>
        <p:nvSpPr>
          <p:cNvPr id="12" name="Text 9"/>
          <p:cNvSpPr/>
          <p:nvPr/>
        </p:nvSpPr>
        <p:spPr>
          <a:xfrm>
            <a:off x="457200" y="2194560"/>
            <a:ext cx="3931920" cy="256032"/>
          </a:xfrm>
          <a:prstGeom prst="rect">
            <a:avLst/>
          </a:prstGeom>
          <a:noFill/>
          <a:ln/>
        </p:spPr>
        <p:txBody>
          <a:bodyPr wrap="square" rtlCol="0" anchor="ctr"/>
          <a:lstStyle/>
          <a:p>
            <a:pPr indent="0" marL="0">
              <a:buNone/>
            </a:pPr>
            <a:r>
              <a:rPr lang="en-US" sz="1200" b="1" dirty="0">
                <a:solidFill>
                  <a:srgbClr val="374151"/>
                </a:solidFill>
                <a:latin typeface="Trebuchet MS" pitchFamily="34" charset="0"/>
                <a:ea typeface="Trebuchet MS" pitchFamily="34" charset="-122"/>
                <a:cs typeface="Trebuchet MS" pitchFamily="34" charset="-120"/>
              </a:rPr>
              <a:t>Restrooms — 3 Total</a:t>
            </a:r>
            <a:endParaRPr lang="en-US" sz="1200" dirty="0"/>
          </a:p>
        </p:txBody>
      </p:sp>
      <p:sp>
        <p:nvSpPr>
          <p:cNvPr id="13" name="Text 10"/>
          <p:cNvSpPr/>
          <p:nvPr/>
        </p:nvSpPr>
        <p:spPr>
          <a:xfrm>
            <a:off x="457200" y="2487168"/>
            <a:ext cx="3931920" cy="749808"/>
          </a:xfrm>
          <a:prstGeom prst="rect">
            <a:avLst/>
          </a:prstGeom>
          <a:noFill/>
          <a:ln/>
        </p:spPr>
        <p:txBody>
          <a:bodyPr wrap="square"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Full sanitize &amp; disinfect all fixtures, mop &amp; disinfect floors, clean mirrors &amp; chrome, empty &amp; reline trash (weekly)</a:t>
            </a:r>
            <a:endParaRPr lang="en-US" sz="1100" dirty="0"/>
          </a:p>
        </p:txBody>
      </p:sp>
      <p:sp>
        <p:nvSpPr>
          <p:cNvPr id="14" name="Shape 11"/>
          <p:cNvSpPr/>
          <p:nvPr/>
        </p:nvSpPr>
        <p:spPr>
          <a:xfrm>
            <a:off x="457200" y="3273552"/>
            <a:ext cx="3931920" cy="16459"/>
          </a:xfrm>
          <a:prstGeom prst="rect">
            <a:avLst/>
          </a:prstGeom>
          <a:solidFill>
            <a:srgbClr val="D1D5DB"/>
          </a:solidFill>
          <a:ln w="12700">
            <a:solidFill>
              <a:srgbClr val="D1D5DB"/>
            </a:solidFill>
            <a:prstDash val="solid"/>
          </a:ln>
        </p:spPr>
      </p:sp>
      <p:sp>
        <p:nvSpPr>
          <p:cNvPr id="15" name="Text 12"/>
          <p:cNvSpPr/>
          <p:nvPr/>
        </p:nvSpPr>
        <p:spPr>
          <a:xfrm>
            <a:off x="457200" y="3328416"/>
            <a:ext cx="3931920" cy="256032"/>
          </a:xfrm>
          <a:prstGeom prst="rect">
            <a:avLst/>
          </a:prstGeom>
          <a:noFill/>
          <a:ln/>
        </p:spPr>
        <p:txBody>
          <a:bodyPr wrap="square" rtlCol="0" anchor="ctr"/>
          <a:lstStyle/>
          <a:p>
            <a:pPr indent="0" marL="0">
              <a:buNone/>
            </a:pPr>
            <a:r>
              <a:rPr lang="en-US" sz="1200" b="1" dirty="0">
                <a:solidFill>
                  <a:srgbClr val="374151"/>
                </a:solidFill>
                <a:latin typeface="Trebuchet MS" pitchFamily="34" charset="0"/>
                <a:ea typeface="Trebuchet MS" pitchFamily="34" charset="-122"/>
                <a:cs typeface="Trebuchet MS" pitchFamily="34" charset="-120"/>
              </a:rPr>
              <a:t>Break Room / Kitchen</a:t>
            </a:r>
            <a:endParaRPr lang="en-US" sz="1200" dirty="0"/>
          </a:p>
        </p:txBody>
      </p:sp>
      <p:sp>
        <p:nvSpPr>
          <p:cNvPr id="16" name="Text 13"/>
          <p:cNvSpPr/>
          <p:nvPr/>
        </p:nvSpPr>
        <p:spPr>
          <a:xfrm>
            <a:off x="457200" y="3621024"/>
            <a:ext cx="3931920" cy="749808"/>
          </a:xfrm>
          <a:prstGeom prst="rect">
            <a:avLst/>
          </a:prstGeom>
          <a:noFill/>
          <a:ln/>
        </p:spPr>
        <p:txBody>
          <a:bodyPr wrap="square" rtlCol="0" anchor="ctr"/>
          <a:lstStyle/>
          <a:p>
            <a:pPr indent="0" marL="0">
              <a:buNone/>
            </a:pPr>
            <a:r>
              <a:rPr lang="en-US" sz="1100" dirty="0">
                <a:solidFill>
                  <a:srgbClr val="6B7280"/>
                </a:solidFill>
                <a:latin typeface="Calibri" pitchFamily="34" charset="0"/>
                <a:ea typeface="Calibri" pitchFamily="34" charset="-122"/>
                <a:cs typeface="Calibri" pitchFamily="34" charset="-120"/>
              </a:rPr>
              <a:t>Wipe countertops &amp; tables, inside &amp; outside of microwave, outside of fridge &amp; water machine, breakroom tables &amp; chairs (weekly); inside fridge (monthly)</a:t>
            </a:r>
            <a:endParaRPr lang="en-US" sz="1100" dirty="0"/>
          </a:p>
        </p:txBody>
      </p:sp>
      <p:sp>
        <p:nvSpPr>
          <p:cNvPr id="17" name="Shape 14"/>
          <p:cNvSpPr/>
          <p:nvPr/>
        </p:nvSpPr>
        <p:spPr>
          <a:xfrm>
            <a:off x="4617720" y="1024128"/>
            <a:ext cx="16459" cy="3520440"/>
          </a:xfrm>
          <a:prstGeom prst="rect">
            <a:avLst/>
          </a:prstGeom>
          <a:solidFill>
            <a:srgbClr val="D1D5DB"/>
          </a:solidFill>
          <a:ln w="12700">
            <a:solidFill>
              <a:srgbClr val="D1D5DB"/>
            </a:solidFill>
            <a:prstDash val="solid"/>
          </a:ln>
        </p:spPr>
      </p:sp>
      <p:sp>
        <p:nvSpPr>
          <p:cNvPr id="18" name="Text 15"/>
          <p:cNvSpPr/>
          <p:nvPr/>
        </p:nvSpPr>
        <p:spPr>
          <a:xfrm>
            <a:off x="4800600" y="1060704"/>
            <a:ext cx="3931920" cy="256032"/>
          </a:xfrm>
          <a:prstGeom prst="rect">
            <a:avLst/>
          </a:prstGeom>
          <a:noFill/>
          <a:ln/>
        </p:spPr>
        <p:txBody>
          <a:bodyPr wrap="square" rtlCol="0" anchor="ctr"/>
          <a:lstStyle/>
          <a:p>
            <a:pPr indent="0" marL="0">
              <a:buNone/>
            </a:pPr>
            <a:r>
              <a:rPr lang="en-US" sz="1200" b="1" dirty="0">
                <a:solidFill>
                  <a:srgbClr val="374151"/>
                </a:solidFill>
                <a:latin typeface="Trebuchet MS" pitchFamily="34" charset="0"/>
                <a:ea typeface="Trebuchet MS" pitchFamily="34" charset="-122"/>
                <a:cs typeface="Trebuchet MS" pitchFamily="34" charset="-120"/>
              </a:rPr>
              <a:t>Warehouse / Production Floor</a:t>
            </a:r>
            <a:endParaRPr lang="en-US" sz="1200" dirty="0"/>
          </a:p>
        </p:txBody>
      </p:sp>
      <p:sp>
        <p:nvSpPr>
          <p:cNvPr id="19" name="Text 16"/>
          <p:cNvSpPr/>
          <p:nvPr/>
        </p:nvSpPr>
        <p:spPr>
          <a:xfrm>
            <a:off x="4800600" y="1353312"/>
            <a:ext cx="3931920" cy="749808"/>
          </a:xfrm>
          <a:prstGeom prst="rect">
            <a:avLst/>
          </a:prstGeom>
          <a:noFill/>
          <a:ln/>
        </p:spPr>
        <p:txBody>
          <a:bodyPr wrap="square"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Full dust mopping throughout (weekly)</a:t>
            </a:r>
            <a:endParaRPr lang="en-US" sz="1100" dirty="0"/>
          </a:p>
        </p:txBody>
      </p:sp>
      <p:sp>
        <p:nvSpPr>
          <p:cNvPr id="20" name="Shape 17"/>
          <p:cNvSpPr/>
          <p:nvPr/>
        </p:nvSpPr>
        <p:spPr>
          <a:xfrm>
            <a:off x="4800600" y="2139696"/>
            <a:ext cx="3931920" cy="16459"/>
          </a:xfrm>
          <a:prstGeom prst="rect">
            <a:avLst/>
          </a:prstGeom>
          <a:solidFill>
            <a:srgbClr val="D1D5DB"/>
          </a:solidFill>
          <a:ln w="12700">
            <a:solidFill>
              <a:srgbClr val="D1D5DB"/>
            </a:solidFill>
            <a:prstDash val="solid"/>
          </a:ln>
        </p:spPr>
      </p:sp>
      <p:sp>
        <p:nvSpPr>
          <p:cNvPr id="21" name="Text 18"/>
          <p:cNvSpPr/>
          <p:nvPr/>
        </p:nvSpPr>
        <p:spPr>
          <a:xfrm>
            <a:off x="4800600" y="2194560"/>
            <a:ext cx="3931920" cy="256032"/>
          </a:xfrm>
          <a:prstGeom prst="rect">
            <a:avLst/>
          </a:prstGeom>
          <a:noFill/>
          <a:ln/>
        </p:spPr>
        <p:txBody>
          <a:bodyPr wrap="square" rtlCol="0" anchor="ctr"/>
          <a:lstStyle/>
          <a:p>
            <a:pPr indent="0" marL="0">
              <a:buNone/>
            </a:pPr>
            <a:r>
              <a:rPr lang="en-US" sz="1200" b="1" dirty="0">
                <a:solidFill>
                  <a:srgbClr val="374151"/>
                </a:solidFill>
                <a:latin typeface="Trebuchet MS" pitchFamily="34" charset="0"/>
                <a:ea typeface="Trebuchet MS" pitchFamily="34" charset="-122"/>
                <a:cs typeface="Trebuchet MS" pitchFamily="34" charset="-120"/>
              </a:rPr>
              <a:t>Periodic Services</a:t>
            </a:r>
            <a:endParaRPr lang="en-US" sz="1200" dirty="0"/>
          </a:p>
        </p:txBody>
      </p:sp>
      <p:sp>
        <p:nvSpPr>
          <p:cNvPr id="22" name="Text 19"/>
          <p:cNvSpPr/>
          <p:nvPr/>
        </p:nvSpPr>
        <p:spPr>
          <a:xfrm>
            <a:off x="4800600" y="2487168"/>
            <a:ext cx="3931920" cy="749808"/>
          </a:xfrm>
          <a:prstGeom prst="rect">
            <a:avLst/>
          </a:prstGeom>
          <a:noFill/>
          <a:ln/>
        </p:spPr>
        <p:txBody>
          <a:bodyPr wrap="square" rtlCol="0" anchor="ctr"/>
          <a:lstStyle/>
          <a:p>
            <a:pPr indent="0" marL="0">
              <a:buNone/>
            </a:pPr>
            <a:r>
              <a:rPr lang="en-US" sz="1100" dirty="0">
                <a:solidFill>
                  <a:srgbClr val="6B7280"/>
                </a:solidFill>
                <a:latin typeface="Calibri" pitchFamily="34" charset="0"/>
                <a:ea typeface="Calibri" pitchFamily="34" charset="-122"/>
                <a:cs typeface="Calibri" pitchFamily="34" charset="-120"/>
              </a:rPr>
              <a:t>Baseboard cleaning (quarterly); OrangeQC quality inspection reports (weekly)</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0D1F3C"/>
          </a:solidFill>
          <a:ln w="12700">
            <a:solidFill>
              <a:srgbClr val="0D1F3C"/>
            </a:solidFill>
            <a:prstDash val="solid"/>
          </a:ln>
        </p:spPr>
      </p:sp>
      <p:sp>
        <p:nvSpPr>
          <p:cNvPr id="3" name="Text 1"/>
          <p:cNvSpPr/>
          <p:nvPr/>
        </p:nvSpPr>
        <p:spPr>
          <a:xfrm>
            <a:off x="457200" y="91440"/>
            <a:ext cx="7315200" cy="164592"/>
          </a:xfrm>
          <a:prstGeom prst="rect">
            <a:avLst/>
          </a:prstGeom>
          <a:noFill/>
          <a:ln/>
        </p:spPr>
        <p:txBody>
          <a:bodyPr wrap="square"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YOUR TEAM</a:t>
            </a:r>
            <a:endParaRPr lang="en-US" sz="700" dirty="0"/>
          </a:p>
        </p:txBody>
      </p:sp>
      <p:sp>
        <p:nvSpPr>
          <p:cNvPr id="4" name="Text 2"/>
          <p:cNvSpPr/>
          <p:nvPr/>
        </p:nvSpPr>
        <p:spPr>
          <a:xfrm>
            <a:off x="8686800" y="73152"/>
            <a:ext cx="365760" cy="164592"/>
          </a:xfrm>
          <a:prstGeom prst="rect">
            <a:avLst/>
          </a:prstGeom>
          <a:noFill/>
          <a:ln/>
        </p:spPr>
        <p:txBody>
          <a:bodyPr wrap="square"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5</a:t>
            </a:r>
            <a:endParaRPr lang="en-US" sz="800" dirty="0"/>
          </a:p>
        </p:txBody>
      </p:sp>
      <p:pic>
        <p:nvPicPr>
          <p:cNvPr id="5" name="Image 0" descr="./mdf_logo_white_bg.png">    </p:cNvPr>
          <p:cNvPicPr>
            <a:picLocks noChangeAspect="1"/>
          </p:cNvPicPr>
          <p:nvPr/>
        </p:nvPicPr>
        <p:blipFill>
          <a:blip r:embed="rId1"/>
          <a:stretch>
            <a:fillRect/>
          </a:stretch>
        </p:blipFill>
        <p:spPr>
          <a:xfrm>
            <a:off x="7973568" y="4663440"/>
            <a:ext cx="1051560" cy="402336"/>
          </a:xfrm>
          <a:prstGeom prst="rect">
            <a:avLst/>
          </a:prstGeom>
        </p:spPr>
      </p:pic>
      <p:sp>
        <p:nvSpPr>
          <p:cNvPr id="6" name="Text 3"/>
          <p:cNvSpPr/>
          <p:nvPr/>
        </p:nvSpPr>
        <p:spPr>
          <a:xfrm>
            <a:off x="457200" y="256032"/>
            <a:ext cx="8229600" cy="438912"/>
          </a:xfrm>
          <a:prstGeom prst="rect">
            <a:avLst/>
          </a:prstGeom>
          <a:noFill/>
          <a:ln/>
        </p:spPr>
        <p:txBody>
          <a:bodyPr wrap="square" rtlCol="0" anchor="ctr"/>
          <a:lstStyle/>
          <a:p>
            <a:pPr indent="0" marL="0">
              <a:buNone/>
            </a:pPr>
            <a:r>
              <a:rPr lang="en-US" sz="2400" b="1" dirty="0">
                <a:solidFill>
                  <a:srgbClr val="0D1F3C"/>
                </a:solidFill>
                <a:latin typeface="Trebuchet MS" pitchFamily="34" charset="0"/>
                <a:ea typeface="Trebuchet MS" pitchFamily="34" charset="-122"/>
                <a:cs typeface="Trebuchet MS" pitchFamily="34" charset="-120"/>
              </a:rPr>
              <a:t>Your Team. Not a Call Center.</a:t>
            </a:r>
            <a:endParaRPr lang="en-US" sz="2400" dirty="0"/>
          </a:p>
        </p:txBody>
      </p:sp>
      <p:sp>
        <p:nvSpPr>
          <p:cNvPr id="7" name="Text 4"/>
          <p:cNvSpPr/>
          <p:nvPr/>
        </p:nvSpPr>
        <p:spPr>
          <a:xfrm>
            <a:off x="457200" y="694944"/>
            <a:ext cx="8229600" cy="237744"/>
          </a:xfrm>
          <a:prstGeom prst="rect">
            <a:avLst/>
          </a:prstGeom>
          <a:noFill/>
          <a:ln/>
        </p:spPr>
        <p:txBody>
          <a:bodyPr wrap="square"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Three people accountable to your facility — by name, by role, by phone.</a:t>
            </a:r>
            <a:endParaRPr lang="en-US" sz="1200" dirty="0"/>
          </a:p>
        </p:txBody>
      </p:sp>
      <p:sp>
        <p:nvSpPr>
          <p:cNvPr id="8" name="Shape 5"/>
          <p:cNvSpPr/>
          <p:nvPr/>
        </p:nvSpPr>
        <p:spPr>
          <a:xfrm>
            <a:off x="457200" y="987552"/>
            <a:ext cx="8229600" cy="16459"/>
          </a:xfrm>
          <a:prstGeom prst="rect">
            <a:avLst/>
          </a:prstGeom>
          <a:solidFill>
            <a:srgbClr val="D1D5DB"/>
          </a:solidFill>
          <a:ln w="12700">
            <a:solidFill>
              <a:srgbClr val="D1D5DB"/>
            </a:solidFill>
            <a:prstDash val="solid"/>
          </a:ln>
        </p:spPr>
      </p:sp>
      <p:pic>
        <p:nvPicPr>
          <p:cNvPr id="9" name="Image 1" descr="./hereford.png">    </p:cNvPr>
          <p:cNvPicPr>
            <a:picLocks noChangeAspect="1"/>
          </p:cNvPicPr>
          <p:nvPr/>
        </p:nvPicPr>
        <p:blipFill>
          <a:blip r:embed="rId2"/>
          <a:stretch>
            <a:fillRect/>
          </a:stretch>
        </p:blipFill>
        <p:spPr>
          <a:xfrm>
            <a:off x="1143000" y="1078992"/>
            <a:ext cx="960120" cy="960120"/>
          </a:xfrm>
          <a:prstGeom prst="ellipse">
            <a:avLst/>
          </a:prstGeom>
        </p:spPr>
      </p:pic>
      <p:sp>
        <p:nvSpPr>
          <p:cNvPr id="10" name="Text 6"/>
          <p:cNvSpPr/>
          <p:nvPr/>
        </p:nvSpPr>
        <p:spPr>
          <a:xfrm>
            <a:off x="457200" y="2103120"/>
            <a:ext cx="2651760" cy="274320"/>
          </a:xfrm>
          <a:prstGeom prst="rect">
            <a:avLst/>
          </a:prstGeom>
          <a:noFill/>
          <a:ln/>
        </p:spPr>
        <p:txBody>
          <a:bodyPr wrap="square" rtlCol="0" anchor="ctr"/>
          <a:lstStyle/>
          <a:p>
            <a:pPr algn="ctr" indent="0" marL="0">
              <a:buNone/>
            </a:pPr>
            <a:r>
              <a:rPr lang="en-US" sz="1300" b="1" dirty="0">
                <a:solidFill>
                  <a:srgbClr val="0D1F3C"/>
                </a:solidFill>
                <a:latin typeface="Trebuchet MS" pitchFamily="34" charset="0"/>
                <a:ea typeface="Trebuchet MS" pitchFamily="34" charset="-122"/>
                <a:cs typeface="Trebuchet MS" pitchFamily="34" charset="-120"/>
              </a:rPr>
              <a:t>Hereford Johnson</a:t>
            </a:r>
            <a:endParaRPr lang="en-US" sz="1300" dirty="0"/>
          </a:p>
        </p:txBody>
      </p:sp>
      <p:sp>
        <p:nvSpPr>
          <p:cNvPr id="11" name="Text 7"/>
          <p:cNvSpPr/>
          <p:nvPr/>
        </p:nvSpPr>
        <p:spPr>
          <a:xfrm>
            <a:off x="457200" y="2395728"/>
            <a:ext cx="2651760" cy="274320"/>
          </a:xfrm>
          <a:prstGeom prst="rect">
            <a:avLst/>
          </a:prstGeom>
          <a:noFill/>
          <a:ln/>
        </p:spPr>
        <p:txBody>
          <a:bodyPr wrap="square" rtlCol="0" anchor="ctr"/>
          <a:lstStyle/>
          <a:p>
            <a:pPr algn="ctr" indent="0" marL="0">
              <a:buNone/>
            </a:pPr>
            <a:r>
              <a:rPr lang="en-US" sz="900" dirty="0">
                <a:solidFill>
                  <a:srgbClr val="9CA3AF"/>
                </a:solidFill>
                <a:latin typeface="Calibri" pitchFamily="34" charset="0"/>
                <a:ea typeface="Calibri" pitchFamily="34" charset="-122"/>
                <a:cs typeface="Calibri" pitchFamily="34" charset="-120"/>
              </a:rPr>
              <a:t>US Air Force Veteran · SDVOSB · ISSA Member</a:t>
            </a:r>
            <a:endParaRPr lang="en-US" sz="900" dirty="0"/>
          </a:p>
        </p:txBody>
      </p:sp>
      <p:sp>
        <p:nvSpPr>
          <p:cNvPr id="12" name="Text 8"/>
          <p:cNvSpPr/>
          <p:nvPr/>
        </p:nvSpPr>
        <p:spPr>
          <a:xfrm>
            <a:off x="457200" y="2688336"/>
            <a:ext cx="2651760" cy="219456"/>
          </a:xfrm>
          <a:prstGeom prst="rect">
            <a:avLst/>
          </a:prstGeom>
          <a:noFill/>
          <a:ln/>
        </p:spPr>
        <p:txBody>
          <a:bodyPr wrap="square" rtlCol="0" anchor="ctr"/>
          <a:lstStyle/>
          <a:p>
            <a:pPr algn="ctr" indent="0" marL="0">
              <a:buNone/>
            </a:pPr>
            <a:r>
              <a:rPr lang="en-US" sz="1100" b="1" dirty="0">
                <a:solidFill>
                  <a:srgbClr val="1B3A6B"/>
                </a:solidFill>
                <a:latin typeface="Calibri" pitchFamily="34" charset="0"/>
                <a:ea typeface="Calibri" pitchFamily="34" charset="-122"/>
                <a:cs typeface="Calibri" pitchFamily="34" charset="-120"/>
              </a:rPr>
              <a:t>CEO &amp; Owner</a:t>
            </a:r>
            <a:endParaRPr lang="en-US" sz="1100" dirty="0"/>
          </a:p>
        </p:txBody>
      </p:sp>
      <p:sp>
        <p:nvSpPr>
          <p:cNvPr id="13" name="Shape 9"/>
          <p:cNvSpPr/>
          <p:nvPr/>
        </p:nvSpPr>
        <p:spPr>
          <a:xfrm>
            <a:off x="457200" y="2944368"/>
            <a:ext cx="2651760" cy="16459"/>
          </a:xfrm>
          <a:prstGeom prst="rect">
            <a:avLst/>
          </a:prstGeom>
          <a:solidFill>
            <a:srgbClr val="D1D5DB"/>
          </a:solidFill>
          <a:ln w="12700">
            <a:solidFill>
              <a:srgbClr val="D1D5DB"/>
            </a:solidFill>
            <a:prstDash val="solid"/>
          </a:ln>
        </p:spPr>
      </p:sp>
      <p:sp>
        <p:nvSpPr>
          <p:cNvPr id="14" name="Text 10"/>
          <p:cNvSpPr/>
          <p:nvPr/>
        </p:nvSpPr>
        <p:spPr>
          <a:xfrm>
            <a:off x="457200" y="3017520"/>
            <a:ext cx="2651760" cy="987552"/>
          </a:xfrm>
          <a:prstGeom prst="rect">
            <a:avLst/>
          </a:prstGeom>
          <a:noFill/>
          <a:ln/>
        </p:spPr>
        <p:txBody>
          <a:bodyPr wrap="square"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Your primary contact. Picks up the phone personally — no account managers, no call routing, no corporate layers between you and the person accountable.</a:t>
            </a:r>
            <a:endParaRPr lang="en-US" sz="1050" dirty="0"/>
          </a:p>
        </p:txBody>
      </p:sp>
      <p:sp>
        <p:nvSpPr>
          <p:cNvPr id="15" name="Shape 11"/>
          <p:cNvSpPr/>
          <p:nvPr/>
        </p:nvSpPr>
        <p:spPr>
          <a:xfrm>
            <a:off x="3182112" y="1024128"/>
            <a:ext cx="16459" cy="3730752"/>
          </a:xfrm>
          <a:prstGeom prst="rect">
            <a:avLst/>
          </a:prstGeom>
          <a:solidFill>
            <a:srgbClr val="D1D5DB"/>
          </a:solidFill>
          <a:ln w="12700">
            <a:solidFill>
              <a:srgbClr val="D1D5DB"/>
            </a:solidFill>
            <a:prstDash val="solid"/>
          </a:ln>
        </p:spPr>
      </p:sp>
      <p:pic>
        <p:nvPicPr>
          <p:cNvPr id="16" name="Image 2" descr="./victoriana.png">    </p:cNvPr>
          <p:cNvPicPr>
            <a:picLocks noChangeAspect="1"/>
          </p:cNvPicPr>
          <p:nvPr/>
        </p:nvPicPr>
        <p:blipFill>
          <a:blip r:embed="rId3"/>
          <a:stretch>
            <a:fillRect/>
          </a:stretch>
        </p:blipFill>
        <p:spPr>
          <a:xfrm>
            <a:off x="4023360" y="1078992"/>
            <a:ext cx="960120" cy="960120"/>
          </a:xfrm>
          <a:prstGeom prst="ellipse">
            <a:avLst/>
          </a:prstGeom>
        </p:spPr>
      </p:pic>
      <p:sp>
        <p:nvSpPr>
          <p:cNvPr id="17" name="Text 12"/>
          <p:cNvSpPr/>
          <p:nvPr/>
        </p:nvSpPr>
        <p:spPr>
          <a:xfrm>
            <a:off x="3337560" y="2103120"/>
            <a:ext cx="2651760" cy="274320"/>
          </a:xfrm>
          <a:prstGeom prst="rect">
            <a:avLst/>
          </a:prstGeom>
          <a:noFill/>
          <a:ln/>
        </p:spPr>
        <p:txBody>
          <a:bodyPr wrap="square" rtlCol="0" anchor="ctr"/>
          <a:lstStyle/>
          <a:p>
            <a:pPr algn="ctr" indent="0" marL="0">
              <a:buNone/>
            </a:pPr>
            <a:r>
              <a:rPr lang="en-US" sz="1300" b="1" dirty="0">
                <a:solidFill>
                  <a:srgbClr val="0D1F3C"/>
                </a:solidFill>
                <a:latin typeface="Trebuchet MS" pitchFamily="34" charset="0"/>
                <a:ea typeface="Trebuchet MS" pitchFamily="34" charset="-122"/>
                <a:cs typeface="Trebuchet MS" pitchFamily="34" charset="-120"/>
              </a:rPr>
              <a:t>Victoriana Johnson</a:t>
            </a:r>
            <a:endParaRPr lang="en-US" sz="1300" dirty="0"/>
          </a:p>
        </p:txBody>
      </p:sp>
      <p:sp>
        <p:nvSpPr>
          <p:cNvPr id="18" name="Text 13"/>
          <p:cNvSpPr/>
          <p:nvPr/>
        </p:nvSpPr>
        <p:spPr>
          <a:xfrm>
            <a:off x="3337560" y="2395728"/>
            <a:ext cx="2651760" cy="274320"/>
          </a:xfrm>
          <a:prstGeom prst="rect">
            <a:avLst/>
          </a:prstGeom>
          <a:noFill/>
          <a:ln/>
        </p:spPr>
        <p:txBody>
          <a:bodyPr wrap="square" rtlCol="0" anchor="ctr"/>
          <a:lstStyle/>
          <a:p>
            <a:pPr algn="ctr" indent="0" marL="0">
              <a:buNone/>
            </a:pPr>
            <a:r>
              <a:rPr lang="en-US" sz="900" dirty="0">
                <a:solidFill>
                  <a:srgbClr val="9CA3AF"/>
                </a:solidFill>
                <a:latin typeface="Calibri" pitchFamily="34" charset="0"/>
                <a:ea typeface="Calibri" pitchFamily="34" charset="-122"/>
                <a:cs typeface="Calibri" pitchFamily="34" charset="-120"/>
              </a:rPr>
              <a:t>Certified QA Inspector · OrangeQC Platform</a:t>
            </a:r>
            <a:endParaRPr lang="en-US" sz="900" dirty="0"/>
          </a:p>
        </p:txBody>
      </p:sp>
      <p:sp>
        <p:nvSpPr>
          <p:cNvPr id="19" name="Text 14"/>
          <p:cNvSpPr/>
          <p:nvPr/>
        </p:nvSpPr>
        <p:spPr>
          <a:xfrm>
            <a:off x="3337560" y="2688336"/>
            <a:ext cx="2651760" cy="219456"/>
          </a:xfrm>
          <a:prstGeom prst="rect">
            <a:avLst/>
          </a:prstGeom>
          <a:noFill/>
          <a:ln/>
        </p:spPr>
        <p:txBody>
          <a:bodyPr wrap="square" rtlCol="0" anchor="ctr"/>
          <a:lstStyle/>
          <a:p>
            <a:pPr algn="ctr" indent="0" marL="0">
              <a:buNone/>
            </a:pPr>
            <a:r>
              <a:rPr lang="en-US" sz="1100" b="1" dirty="0">
                <a:solidFill>
                  <a:srgbClr val="1B3A6B"/>
                </a:solidFill>
                <a:latin typeface="Calibri" pitchFamily="34" charset="0"/>
                <a:ea typeface="Calibri" pitchFamily="34" charset="-122"/>
                <a:cs typeface="Calibri" pitchFamily="34" charset="-120"/>
              </a:rPr>
              <a:t>QA Manager</a:t>
            </a:r>
            <a:endParaRPr lang="en-US" sz="1100" dirty="0"/>
          </a:p>
        </p:txBody>
      </p:sp>
      <p:sp>
        <p:nvSpPr>
          <p:cNvPr id="20" name="Shape 15"/>
          <p:cNvSpPr/>
          <p:nvPr/>
        </p:nvSpPr>
        <p:spPr>
          <a:xfrm>
            <a:off x="3337560" y="2944368"/>
            <a:ext cx="2651760" cy="16459"/>
          </a:xfrm>
          <a:prstGeom prst="rect">
            <a:avLst/>
          </a:prstGeom>
          <a:solidFill>
            <a:srgbClr val="D1D5DB"/>
          </a:solidFill>
          <a:ln w="12700">
            <a:solidFill>
              <a:srgbClr val="D1D5DB"/>
            </a:solidFill>
            <a:prstDash val="solid"/>
          </a:ln>
        </p:spPr>
      </p:sp>
      <p:sp>
        <p:nvSpPr>
          <p:cNvPr id="21" name="Text 16"/>
          <p:cNvSpPr/>
          <p:nvPr/>
        </p:nvSpPr>
        <p:spPr>
          <a:xfrm>
            <a:off x="3337560" y="3017520"/>
            <a:ext cx="2651760" cy="987552"/>
          </a:xfrm>
          <a:prstGeom prst="rect">
            <a:avLst/>
          </a:prstGeom>
          <a:noFill/>
          <a:ln/>
        </p:spPr>
        <p:txBody>
          <a:bodyPr wrap="square"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Conducts weekly on-site inspections, logs every score in OrangeQC, and personally owns resolution follow-through on every open ticket.</a:t>
            </a:r>
            <a:endParaRPr lang="en-US" sz="1050" dirty="0"/>
          </a:p>
        </p:txBody>
      </p:sp>
      <p:sp>
        <p:nvSpPr>
          <p:cNvPr id="22" name="Shape 17"/>
          <p:cNvSpPr/>
          <p:nvPr/>
        </p:nvSpPr>
        <p:spPr>
          <a:xfrm>
            <a:off x="6080760" y="1024128"/>
            <a:ext cx="16459" cy="3730752"/>
          </a:xfrm>
          <a:prstGeom prst="rect">
            <a:avLst/>
          </a:prstGeom>
          <a:solidFill>
            <a:srgbClr val="D1D5DB"/>
          </a:solidFill>
          <a:ln w="12700">
            <a:solidFill>
              <a:srgbClr val="D1D5DB"/>
            </a:solidFill>
            <a:prstDash val="solid"/>
          </a:ln>
        </p:spPr>
      </p:sp>
      <p:pic>
        <p:nvPicPr>
          <p:cNvPr id="23" name="Image 3" descr="./johanna.png">    </p:cNvPr>
          <p:cNvPicPr>
            <a:picLocks noChangeAspect="1"/>
          </p:cNvPicPr>
          <p:nvPr/>
        </p:nvPicPr>
        <p:blipFill>
          <a:blip r:embed="rId4"/>
          <a:stretch>
            <a:fillRect/>
          </a:stretch>
        </p:blipFill>
        <p:spPr>
          <a:xfrm>
            <a:off x="6922008" y="1078992"/>
            <a:ext cx="960120" cy="960120"/>
          </a:xfrm>
          <a:prstGeom prst="ellipse">
            <a:avLst/>
          </a:prstGeom>
        </p:spPr>
      </p:pic>
      <p:sp>
        <p:nvSpPr>
          <p:cNvPr id="24" name="Text 18"/>
          <p:cNvSpPr/>
          <p:nvPr/>
        </p:nvSpPr>
        <p:spPr>
          <a:xfrm>
            <a:off x="6236208" y="2103120"/>
            <a:ext cx="2651760" cy="274320"/>
          </a:xfrm>
          <a:prstGeom prst="rect">
            <a:avLst/>
          </a:prstGeom>
          <a:noFill/>
          <a:ln/>
        </p:spPr>
        <p:txBody>
          <a:bodyPr wrap="square" rtlCol="0" anchor="ctr"/>
          <a:lstStyle/>
          <a:p>
            <a:pPr algn="ctr" indent="0" marL="0">
              <a:buNone/>
            </a:pPr>
            <a:r>
              <a:rPr lang="en-US" sz="1300" b="1" dirty="0">
                <a:solidFill>
                  <a:srgbClr val="0D1F3C"/>
                </a:solidFill>
                <a:latin typeface="Trebuchet MS" pitchFamily="34" charset="0"/>
                <a:ea typeface="Trebuchet MS" pitchFamily="34" charset="-122"/>
                <a:cs typeface="Trebuchet MS" pitchFamily="34" charset="-120"/>
              </a:rPr>
              <a:t>Johanna Hernandez</a:t>
            </a:r>
            <a:endParaRPr lang="en-US" sz="1300" dirty="0"/>
          </a:p>
        </p:txBody>
      </p:sp>
      <p:sp>
        <p:nvSpPr>
          <p:cNvPr id="25" name="Text 19"/>
          <p:cNvSpPr/>
          <p:nvPr/>
        </p:nvSpPr>
        <p:spPr>
          <a:xfrm>
            <a:off x="6236208" y="2395728"/>
            <a:ext cx="2651760" cy="274320"/>
          </a:xfrm>
          <a:prstGeom prst="rect">
            <a:avLst/>
          </a:prstGeom>
          <a:noFill/>
          <a:ln/>
        </p:spPr>
        <p:txBody>
          <a:bodyPr wrap="square" rtlCol="0" anchor="ctr"/>
          <a:lstStyle/>
          <a:p>
            <a:pPr algn="ctr" indent="0" marL="0">
              <a:buNone/>
            </a:pPr>
            <a:r>
              <a:rPr lang="en-US" sz="900" dirty="0">
                <a:solidFill>
                  <a:srgbClr val="9CA3AF"/>
                </a:solidFill>
                <a:latin typeface="Calibri" pitchFamily="34" charset="0"/>
                <a:ea typeface="Calibri" pitchFamily="34" charset="-122"/>
                <a:cs typeface="Calibri" pitchFamily="34" charset="-120"/>
              </a:rPr>
              <a:t>Talent Acquisition · Training &amp; Certification</a:t>
            </a:r>
            <a:endParaRPr lang="en-US" sz="900" dirty="0"/>
          </a:p>
        </p:txBody>
      </p:sp>
      <p:sp>
        <p:nvSpPr>
          <p:cNvPr id="26" name="Text 20"/>
          <p:cNvSpPr/>
          <p:nvPr/>
        </p:nvSpPr>
        <p:spPr>
          <a:xfrm>
            <a:off x="6236208" y="2688336"/>
            <a:ext cx="2651760" cy="219456"/>
          </a:xfrm>
          <a:prstGeom prst="rect">
            <a:avLst/>
          </a:prstGeom>
          <a:noFill/>
          <a:ln/>
        </p:spPr>
        <p:txBody>
          <a:bodyPr wrap="square" rtlCol="0" anchor="ctr"/>
          <a:lstStyle/>
          <a:p>
            <a:pPr algn="ctr" indent="0" marL="0">
              <a:buNone/>
            </a:pPr>
            <a:r>
              <a:rPr lang="en-US" sz="1100" b="1" dirty="0">
                <a:solidFill>
                  <a:srgbClr val="1B3A6B"/>
                </a:solidFill>
                <a:latin typeface="Calibri" pitchFamily="34" charset="0"/>
                <a:ea typeface="Calibri" pitchFamily="34" charset="-122"/>
                <a:cs typeface="Calibri" pitchFamily="34" charset="-120"/>
              </a:rPr>
              <a:t>Area Talent Manager</a:t>
            </a:r>
            <a:endParaRPr lang="en-US" sz="1100" dirty="0"/>
          </a:p>
        </p:txBody>
      </p:sp>
      <p:sp>
        <p:nvSpPr>
          <p:cNvPr id="27" name="Shape 21"/>
          <p:cNvSpPr/>
          <p:nvPr/>
        </p:nvSpPr>
        <p:spPr>
          <a:xfrm>
            <a:off x="6236208" y="2944368"/>
            <a:ext cx="2651760" cy="16459"/>
          </a:xfrm>
          <a:prstGeom prst="rect">
            <a:avLst/>
          </a:prstGeom>
          <a:solidFill>
            <a:srgbClr val="D1D5DB"/>
          </a:solidFill>
          <a:ln w="12700">
            <a:solidFill>
              <a:srgbClr val="D1D5DB"/>
            </a:solidFill>
            <a:prstDash val="solid"/>
          </a:ln>
        </p:spPr>
      </p:sp>
      <p:sp>
        <p:nvSpPr>
          <p:cNvPr id="28" name="Text 22"/>
          <p:cNvSpPr/>
          <p:nvPr/>
        </p:nvSpPr>
        <p:spPr>
          <a:xfrm>
            <a:off x="6236208" y="3017520"/>
            <a:ext cx="2651760" cy="987552"/>
          </a:xfrm>
          <a:prstGeom prst="rect">
            <a:avLst/>
          </a:prstGeom>
          <a:noFill/>
          <a:ln/>
        </p:spPr>
        <p:txBody>
          <a:bodyPr wrap="square"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Handles recruiting, vetting, and ongoing training of custodial staff. Ensures every person assigned to your facility is background-checked, trained, and accountable.</a:t>
            </a:r>
            <a:endParaRPr lang="en-US" sz="1050" dirty="0"/>
          </a:p>
        </p:txBody>
      </p:sp>
      <p:sp>
        <p:nvSpPr>
          <p:cNvPr id="29" name="Shape 23"/>
          <p:cNvSpPr/>
          <p:nvPr/>
        </p:nvSpPr>
        <p:spPr>
          <a:xfrm>
            <a:off x="457200" y="4133088"/>
            <a:ext cx="8229600" cy="16459"/>
          </a:xfrm>
          <a:prstGeom prst="rect">
            <a:avLst/>
          </a:prstGeom>
          <a:solidFill>
            <a:srgbClr val="D1D5DB"/>
          </a:solidFill>
          <a:ln w="12700">
            <a:solidFill>
              <a:srgbClr val="D1D5DB"/>
            </a:solidFill>
            <a:prstDash val="solid"/>
          </a:ln>
        </p:spPr>
      </p:sp>
      <p:sp>
        <p:nvSpPr>
          <p:cNvPr id="30" name="Text 24"/>
          <p:cNvSpPr/>
          <p:nvPr/>
        </p:nvSpPr>
        <p:spPr>
          <a:xfrm>
            <a:off x="457200" y="4187952"/>
            <a:ext cx="8046720" cy="256032"/>
          </a:xfrm>
          <a:prstGeom prst="rect">
            <a:avLst/>
          </a:prstGeom>
          <a:noFill/>
          <a:ln/>
        </p:spPr>
        <p:txBody>
          <a:bodyPr wrap="square"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"I've held the mop. I've been the crew. That's why we're built around accountability, not excuses." — Hereford Johnson, CEO</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0D1F3C"/>
          </a:solidFill>
          <a:ln w="12700">
            <a:solidFill>
              <a:srgbClr val="0D1F3C"/>
            </a:solidFill>
            <a:prstDash val="solid"/>
          </a:ln>
        </p:spPr>
      </p:sp>
      <p:sp>
        <p:nvSpPr>
          <p:cNvPr id="3" name="Text 1"/>
          <p:cNvSpPr/>
          <p:nvPr/>
        </p:nvSpPr>
        <p:spPr>
          <a:xfrm>
            <a:off x="457200" y="91440"/>
            <a:ext cx="7315200" cy="164592"/>
          </a:xfrm>
          <a:prstGeom prst="rect">
            <a:avLst/>
          </a:prstGeom>
          <a:noFill/>
          <a:ln/>
        </p:spPr>
        <p:txBody>
          <a:bodyPr wrap="square"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QUALITY ASSURANCE</a:t>
            </a:r>
            <a:endParaRPr lang="en-US" sz="700" dirty="0"/>
          </a:p>
        </p:txBody>
      </p:sp>
      <p:sp>
        <p:nvSpPr>
          <p:cNvPr id="4" name="Text 2"/>
          <p:cNvSpPr/>
          <p:nvPr/>
        </p:nvSpPr>
        <p:spPr>
          <a:xfrm>
            <a:off x="8686800" y="73152"/>
            <a:ext cx="365760" cy="164592"/>
          </a:xfrm>
          <a:prstGeom prst="rect">
            <a:avLst/>
          </a:prstGeom>
          <a:noFill/>
          <a:ln/>
        </p:spPr>
        <p:txBody>
          <a:bodyPr wrap="square"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6</a:t>
            </a:r>
            <a:endParaRPr lang="en-US" sz="800" dirty="0"/>
          </a:p>
        </p:txBody>
      </p:sp>
      <p:pic>
        <p:nvPicPr>
          <p:cNvPr id="5" name="Image 0" descr="./mdf_logo_white_bg.png">    </p:cNvPr>
          <p:cNvPicPr>
            <a:picLocks noChangeAspect="1"/>
          </p:cNvPicPr>
          <p:nvPr/>
        </p:nvPicPr>
        <p:blipFill>
          <a:blip r:embed="rId1"/>
          <a:stretch>
            <a:fillRect/>
          </a:stretch>
        </p:blipFill>
        <p:spPr>
          <a:xfrm>
            <a:off x="7973568" y="4663440"/>
            <a:ext cx="1051560" cy="402336"/>
          </a:xfrm>
          <a:prstGeom prst="rect">
            <a:avLst/>
          </a:prstGeom>
        </p:spPr>
      </p:pic>
      <p:sp>
        <p:nvSpPr>
          <p:cNvPr id="6" name="Text 3"/>
          <p:cNvSpPr/>
          <p:nvPr/>
        </p:nvSpPr>
        <p:spPr>
          <a:xfrm>
            <a:off x="457200" y="256032"/>
            <a:ext cx="4937760" cy="475488"/>
          </a:xfrm>
          <a:prstGeom prst="rect">
            <a:avLst/>
          </a:prstGeom>
          <a:noFill/>
          <a:ln/>
        </p:spPr>
        <p:txBody>
          <a:bodyPr wrap="square" rtlCol="0" anchor="ctr"/>
          <a:lstStyle/>
          <a:p>
            <a:pPr indent="0" marL="0">
              <a:buNone/>
            </a:pPr>
            <a:r>
              <a:rPr lang="en-US" sz="2400" b="1" dirty="0">
                <a:solidFill>
                  <a:srgbClr val="0D1F3C"/>
                </a:solidFill>
                <a:latin typeface="Trebuchet MS" pitchFamily="34" charset="0"/>
                <a:ea typeface="Trebuchet MS" pitchFamily="34" charset="-122"/>
                <a:cs typeface="Trebuchet MS" pitchFamily="34" charset="-120"/>
              </a:rPr>
              <a:t>You Get Full Visibility Into Every Clean.</a:t>
            </a:r>
            <a:endParaRPr lang="en-US" sz="2400" dirty="0"/>
          </a:p>
        </p:txBody>
      </p:sp>
      <p:sp>
        <p:nvSpPr>
          <p:cNvPr id="7" name="Shape 4"/>
          <p:cNvSpPr/>
          <p:nvPr/>
        </p:nvSpPr>
        <p:spPr>
          <a:xfrm>
            <a:off x="457200" y="786384"/>
            <a:ext cx="4937760" cy="16459"/>
          </a:xfrm>
          <a:prstGeom prst="rect">
            <a:avLst/>
          </a:prstGeom>
          <a:solidFill>
            <a:srgbClr val="D1D5DB"/>
          </a:solidFill>
          <a:ln w="12700">
            <a:solidFill>
              <a:srgbClr val="D1D5DB"/>
            </a:solidFill>
            <a:prstDash val="solid"/>
          </a:ln>
        </p:spPr>
      </p:sp>
      <p:sp>
        <p:nvSpPr>
          <p:cNvPr id="8" name="Text 5"/>
          <p:cNvSpPr/>
          <p:nvPr/>
        </p:nvSpPr>
        <p:spPr>
          <a:xfrm>
            <a:off x="457200" y="877824"/>
            <a:ext cx="4937760" cy="1572768"/>
          </a:xfrm>
          <a:prstGeom prst="rect">
            <a:avLst/>
          </a:prstGeom>
          <a:noFill/>
          <a:ln/>
        </p:spPr>
        <p:txBody>
          <a:bodyPr wrap="square" rtlCol="0" anchor="ctr"/>
          <a:lstStyle/>
          <a:p>
            <a:pPr indent="0" marL="0">
              <a:buNone/>
            </a:pPr>
            <a:r>
              <a:rPr lang="en-US" sz="1100" dirty="0">
                <a:solidFill>
                  <a:srgbClr val="6B7280"/>
                </a:solidFill>
                <a:latin typeface="Calibri" pitchFamily="34" charset="0"/>
                <a:ea typeface="Calibri" pitchFamily="34" charset="-122"/>
                <a:cs typeface="Calibri" pitchFamily="34" charset="-120"/>
              </a:rPr>
              <a:t>Every MDF service is backed by a mobile inspection and ticketing platform that gives you real-time visibility into what's happening inside your facility.</a:t>
            </a:r>
            <a:endParaRPr lang="en-US" sz="1100" dirty="0"/>
          </a:p>
          <a:p>
            <a:pPr indent="0" marL="0">
              <a:buNone/>
            </a:pP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This is not an internal tool — it's a client-facing layer of accountability. You receive access to your own dashboard where inspection scores, service tickets, and resolution timelines are logged automatically after every visit.</a:t>
            </a:r>
            <a:endParaRPr lang="en-US" sz="1100" dirty="0"/>
          </a:p>
        </p:txBody>
      </p:sp>
      <p:sp>
        <p:nvSpPr>
          <p:cNvPr id="9" name="Shape 6"/>
          <p:cNvSpPr/>
          <p:nvPr/>
        </p:nvSpPr>
        <p:spPr>
          <a:xfrm>
            <a:off x="457200" y="2523744"/>
            <a:ext cx="4937760" cy="16459"/>
          </a:xfrm>
          <a:prstGeom prst="rect">
            <a:avLst/>
          </a:prstGeom>
          <a:solidFill>
            <a:srgbClr val="D1D5DB"/>
          </a:solidFill>
          <a:ln w="12700">
            <a:solidFill>
              <a:srgbClr val="D1D5DB"/>
            </a:solidFill>
            <a:prstDash val="solid"/>
          </a:ln>
        </p:spPr>
      </p:sp>
      <p:sp>
        <p:nvSpPr>
          <p:cNvPr id="10" name="Text 7"/>
          <p:cNvSpPr/>
          <p:nvPr/>
        </p:nvSpPr>
        <p:spPr>
          <a:xfrm>
            <a:off x="457200" y="2615184"/>
            <a:ext cx="1508760" cy="219456"/>
          </a:xfrm>
          <a:prstGeom prst="rect">
            <a:avLst/>
          </a:prstGeom>
          <a:noFill/>
          <a:ln/>
        </p:spPr>
        <p:txBody>
          <a:bodyPr wrap="square" rtlCol="0" anchor="ctr"/>
          <a:lstStyle/>
          <a:p>
            <a:pPr indent="0" marL="0">
              <a:buNone/>
            </a:pPr>
            <a:r>
              <a:rPr lang="en-US" sz="1100" b="1" dirty="0">
                <a:solidFill>
                  <a:srgbClr val="374151"/>
                </a:solidFill>
                <a:latin typeface="Trebuchet MS" pitchFamily="34" charset="0"/>
                <a:ea typeface="Trebuchet MS" pitchFamily="34" charset="-122"/>
                <a:cs typeface="Trebuchet MS" pitchFamily="34" charset="-120"/>
              </a:rPr>
              <a:t>Inspection Scoring</a:t>
            </a:r>
            <a:endParaRPr lang="en-US" sz="1100" dirty="0"/>
          </a:p>
        </p:txBody>
      </p:sp>
      <p:sp>
        <p:nvSpPr>
          <p:cNvPr id="11" name="Text 8"/>
          <p:cNvSpPr/>
          <p:nvPr/>
        </p:nvSpPr>
        <p:spPr>
          <a:xfrm>
            <a:off x="2029968" y="2615184"/>
            <a:ext cx="3291840" cy="457200"/>
          </a:xfrm>
          <a:prstGeom prst="rect">
            <a:avLst/>
          </a:prstGeom>
          <a:noFill/>
          <a:ln/>
        </p:spPr>
        <p:txBody>
          <a:bodyPr wrap="square"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Every area graded at each visit. Scores trend over time — you see if standards are holding.</a:t>
            </a:r>
            <a:endParaRPr lang="en-US" sz="1050" dirty="0"/>
          </a:p>
        </p:txBody>
      </p:sp>
      <p:sp>
        <p:nvSpPr>
          <p:cNvPr id="12" name="Shape 9"/>
          <p:cNvSpPr/>
          <p:nvPr/>
        </p:nvSpPr>
        <p:spPr>
          <a:xfrm>
            <a:off x="457200" y="3182112"/>
            <a:ext cx="4937760" cy="16459"/>
          </a:xfrm>
          <a:prstGeom prst="rect">
            <a:avLst/>
          </a:prstGeom>
          <a:solidFill>
            <a:srgbClr val="D1D5DB"/>
          </a:solidFill>
          <a:ln w="12700">
            <a:solidFill>
              <a:srgbClr val="D1D5DB"/>
            </a:solidFill>
            <a:prstDash val="solid"/>
          </a:ln>
        </p:spPr>
      </p:sp>
      <p:sp>
        <p:nvSpPr>
          <p:cNvPr id="13" name="Text 10"/>
          <p:cNvSpPr/>
          <p:nvPr/>
        </p:nvSpPr>
        <p:spPr>
          <a:xfrm>
            <a:off x="457200" y="3273552"/>
            <a:ext cx="1508760" cy="219456"/>
          </a:xfrm>
          <a:prstGeom prst="rect">
            <a:avLst/>
          </a:prstGeom>
          <a:noFill/>
          <a:ln/>
        </p:spPr>
        <p:txBody>
          <a:bodyPr wrap="square" rtlCol="0" anchor="ctr"/>
          <a:lstStyle/>
          <a:p>
            <a:pPr indent="0" marL="0">
              <a:buNone/>
            </a:pPr>
            <a:r>
              <a:rPr lang="en-US" sz="1100" b="1" dirty="0">
                <a:solidFill>
                  <a:srgbClr val="374151"/>
                </a:solidFill>
                <a:latin typeface="Trebuchet MS" pitchFamily="34" charset="0"/>
                <a:ea typeface="Trebuchet MS" pitchFamily="34" charset="-122"/>
                <a:cs typeface="Trebuchet MS" pitchFamily="34" charset="-120"/>
              </a:rPr>
              <a:t>Service Tickets</a:t>
            </a:r>
            <a:endParaRPr lang="en-US" sz="1100" dirty="0"/>
          </a:p>
        </p:txBody>
      </p:sp>
      <p:sp>
        <p:nvSpPr>
          <p:cNvPr id="14" name="Text 11"/>
          <p:cNvSpPr/>
          <p:nvPr/>
        </p:nvSpPr>
        <p:spPr>
          <a:xfrm>
            <a:off x="2029968" y="3273552"/>
            <a:ext cx="3291840" cy="457200"/>
          </a:xfrm>
          <a:prstGeom prst="rect">
            <a:avLst/>
          </a:prstGeom>
          <a:noFill/>
          <a:ln/>
        </p:spPr>
        <p:txBody>
          <a:bodyPr wrap="square"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Any flagged issue creates a ticket, assigned and time-stamped. Resolution tracked to close.</a:t>
            </a:r>
            <a:endParaRPr lang="en-US" sz="1050" dirty="0"/>
          </a:p>
        </p:txBody>
      </p:sp>
      <p:sp>
        <p:nvSpPr>
          <p:cNvPr id="15" name="Shape 12"/>
          <p:cNvSpPr/>
          <p:nvPr/>
        </p:nvSpPr>
        <p:spPr>
          <a:xfrm>
            <a:off x="457200" y="3840480"/>
            <a:ext cx="4937760" cy="16459"/>
          </a:xfrm>
          <a:prstGeom prst="rect">
            <a:avLst/>
          </a:prstGeom>
          <a:solidFill>
            <a:srgbClr val="D1D5DB"/>
          </a:solidFill>
          <a:ln w="12700">
            <a:solidFill>
              <a:srgbClr val="D1D5DB"/>
            </a:solidFill>
            <a:prstDash val="solid"/>
          </a:ln>
        </p:spPr>
      </p:sp>
      <p:sp>
        <p:nvSpPr>
          <p:cNvPr id="16" name="Text 13"/>
          <p:cNvSpPr/>
          <p:nvPr/>
        </p:nvSpPr>
        <p:spPr>
          <a:xfrm>
            <a:off x="457200" y="3931920"/>
            <a:ext cx="1508760" cy="219456"/>
          </a:xfrm>
          <a:prstGeom prst="rect">
            <a:avLst/>
          </a:prstGeom>
          <a:noFill/>
          <a:ln/>
        </p:spPr>
        <p:txBody>
          <a:bodyPr wrap="square" rtlCol="0" anchor="ctr"/>
          <a:lstStyle/>
          <a:p>
            <a:pPr indent="0" marL="0">
              <a:buNone/>
            </a:pPr>
            <a:r>
              <a:rPr lang="en-US" sz="1100" b="1" dirty="0">
                <a:solidFill>
                  <a:srgbClr val="374151"/>
                </a:solidFill>
                <a:latin typeface="Trebuchet MS" pitchFamily="34" charset="0"/>
                <a:ea typeface="Trebuchet MS" pitchFamily="34" charset="-122"/>
                <a:cs typeface="Trebuchet MS" pitchFamily="34" charset="-120"/>
              </a:rPr>
              <a:t>Documented History</a:t>
            </a:r>
            <a:endParaRPr lang="en-US" sz="1100" dirty="0"/>
          </a:p>
        </p:txBody>
      </p:sp>
      <p:sp>
        <p:nvSpPr>
          <p:cNvPr id="17" name="Text 14"/>
          <p:cNvSpPr/>
          <p:nvPr/>
        </p:nvSpPr>
        <p:spPr>
          <a:xfrm>
            <a:off x="2029968" y="3931920"/>
            <a:ext cx="3291840" cy="457200"/>
          </a:xfrm>
          <a:prstGeom prst="rect">
            <a:avLst/>
          </a:prstGeom>
          <a:noFill/>
          <a:ln/>
        </p:spPr>
        <p:txBody>
          <a:bodyPr wrap="square"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audit trail of every service. Useful for compliance reviews, audits, and accountability records.</a:t>
            </a:r>
            <a:endParaRPr lang="en-US" sz="1050" dirty="0"/>
          </a:p>
        </p:txBody>
      </p:sp>
      <p:sp>
        <p:nvSpPr>
          <p:cNvPr id="18" name="Shape 15"/>
          <p:cNvSpPr/>
          <p:nvPr/>
        </p:nvSpPr>
        <p:spPr>
          <a:xfrm>
            <a:off x="457200" y="4572000"/>
            <a:ext cx="4937760" cy="16459"/>
          </a:xfrm>
          <a:prstGeom prst="rect">
            <a:avLst/>
          </a:prstGeom>
          <a:solidFill>
            <a:srgbClr val="D1D5DB"/>
          </a:solidFill>
          <a:ln w="12700">
            <a:solidFill>
              <a:srgbClr val="D1D5DB"/>
            </a:solidFill>
            <a:prstDash val="solid"/>
          </a:ln>
        </p:spPr>
      </p:sp>
      <p:sp>
        <p:nvSpPr>
          <p:cNvPr id="19" name="Text 16"/>
          <p:cNvSpPr/>
          <p:nvPr/>
        </p:nvSpPr>
        <p:spPr>
          <a:xfrm>
            <a:off x="457200" y="4626864"/>
            <a:ext cx="4937760" cy="201168"/>
          </a:xfrm>
          <a:prstGeom prst="rect">
            <a:avLst/>
          </a:prstGeom>
          <a:noFill/>
          <a:ln/>
        </p:spPr>
        <p:txBody>
          <a:bodyPr wrap="square" rtlCol="0" anchor="ctr"/>
          <a:lstStyle/>
          <a:p>
            <a:pPr indent="0" marL="0">
              <a:buNone/>
            </a:pPr>
            <a:r>
              <a:rPr lang="en-US" sz="1050" i="1" dirty="0">
                <a:solidFill>
                  <a:srgbClr val="2E7D52"/>
                </a:solidFill>
                <a:latin typeface="Calibri" pitchFamily="34" charset="0"/>
                <a:ea typeface="Calibri" pitchFamily="34" charset="-122"/>
                <a:cs typeface="Calibri" pitchFamily="34" charset="-120"/>
              </a:rPr>
              <a:t>Included with every MDF contract — at no additional charge.</a:t>
            </a:r>
            <a:endParaRPr lang="en-US" sz="1050" dirty="0"/>
          </a:p>
        </p:txBody>
      </p:sp>
      <p:sp>
        <p:nvSpPr>
          <p:cNvPr id="20" name="Shape 17"/>
          <p:cNvSpPr/>
          <p:nvPr/>
        </p:nvSpPr>
        <p:spPr>
          <a:xfrm>
            <a:off x="5532120" y="237744"/>
            <a:ext cx="16459" cy="4434840"/>
          </a:xfrm>
          <a:prstGeom prst="rect">
            <a:avLst/>
          </a:prstGeom>
          <a:solidFill>
            <a:srgbClr val="D1D5DB"/>
          </a:solidFill>
          <a:ln w="12700">
            <a:solidFill>
              <a:srgbClr val="D1D5DB"/>
            </a:solidFill>
            <a:prstDash val="solid"/>
          </a:ln>
        </p:spPr>
      </p:sp>
      <p:sp>
        <p:nvSpPr>
          <p:cNvPr id="21" name="Text 18"/>
          <p:cNvSpPr/>
          <p:nvPr/>
        </p:nvSpPr>
        <p:spPr>
          <a:xfrm>
            <a:off x="5742432" y="438912"/>
            <a:ext cx="3108960" cy="182880"/>
          </a:xfrm>
          <a:prstGeom prst="rect">
            <a:avLst/>
          </a:prstGeom>
          <a:noFill/>
          <a:ln/>
        </p:spPr>
        <p:txBody>
          <a:bodyPr wrap="square" rtlCol="0" anchor="ctr"/>
          <a:lstStyle/>
          <a:p>
            <a:pPr indent="0" marL="0">
              <a:buNone/>
            </a:pPr>
            <a:r>
              <a:rPr lang="en-US" sz="750" b="1" spc="250" kern="0" dirty="0">
                <a:solidFill>
                  <a:srgbClr val="9CA3AF"/>
                </a:solidFill>
                <a:latin typeface="Calibri" pitchFamily="34" charset="0"/>
                <a:ea typeface="Calibri" pitchFamily="34" charset="-122"/>
                <a:cs typeface="Calibri" pitchFamily="34" charset="-120"/>
              </a:rPr>
              <a:t>TARGET INSPECTION SCORE</a:t>
            </a:r>
            <a:endParaRPr lang="en-US" sz="750" dirty="0"/>
          </a:p>
        </p:txBody>
      </p:sp>
      <p:sp>
        <p:nvSpPr>
          <p:cNvPr id="22" name="Text 19"/>
          <p:cNvSpPr/>
          <p:nvPr/>
        </p:nvSpPr>
        <p:spPr>
          <a:xfrm>
            <a:off x="5742432" y="640080"/>
            <a:ext cx="3108960" cy="658368"/>
          </a:xfrm>
          <a:prstGeom prst="rect">
            <a:avLst/>
          </a:prstGeom>
          <a:noFill/>
          <a:ln/>
        </p:spPr>
        <p:txBody>
          <a:bodyPr wrap="square" rtlCol="0" anchor="ctr"/>
          <a:lstStyle/>
          <a:p>
            <a:pPr indent="0" marL="0">
              <a:buNone/>
            </a:pPr>
            <a:r>
              <a:rPr lang="en-US" sz="4200" b="1" dirty="0">
                <a:solidFill>
                  <a:srgbClr val="0D1F3C"/>
                </a:solidFill>
                <a:latin typeface="Trebuchet MS" pitchFamily="34" charset="0"/>
                <a:ea typeface="Trebuchet MS" pitchFamily="34" charset="-122"/>
                <a:cs typeface="Trebuchet MS" pitchFamily="34" charset="-120"/>
              </a:rPr>
              <a:t>90%+</a:t>
            </a:r>
            <a:endParaRPr lang="en-US" sz="4200" dirty="0"/>
          </a:p>
        </p:txBody>
      </p:sp>
      <p:sp>
        <p:nvSpPr>
          <p:cNvPr id="23" name="Text 20"/>
          <p:cNvSpPr/>
          <p:nvPr/>
        </p:nvSpPr>
        <p:spPr>
          <a:xfrm>
            <a:off x="5742432" y="1316736"/>
            <a:ext cx="3108960" cy="274320"/>
          </a:xfrm>
          <a:prstGeom prst="rect">
            <a:avLst/>
          </a:prstGeom>
          <a:noFill/>
          <a:ln/>
        </p:spPr>
        <p:txBody>
          <a:bodyPr wrap="square" rtlCol="0" anchor="ctr"/>
          <a:lstStyle/>
          <a:p>
            <a:pPr indent="0" marL="0">
              <a:buNone/>
            </a:pPr>
            <a:r>
              <a:rPr lang="en-US" sz="950" dirty="0">
                <a:solidFill>
                  <a:srgbClr val="6B7280"/>
                </a:solidFill>
                <a:latin typeface="Calibri" pitchFamily="34" charset="0"/>
                <a:ea typeface="Calibri" pitchFamily="34" charset="-122"/>
                <a:cs typeface="Calibri" pitchFamily="34" charset="-120"/>
              </a:rPr>
              <a:t>Tracked and reported every week</a:t>
            </a:r>
            <a:endParaRPr lang="en-US" sz="950" dirty="0"/>
          </a:p>
        </p:txBody>
      </p:sp>
      <p:sp>
        <p:nvSpPr>
          <p:cNvPr id="24" name="Shape 21"/>
          <p:cNvSpPr/>
          <p:nvPr/>
        </p:nvSpPr>
        <p:spPr>
          <a:xfrm>
            <a:off x="5742432" y="1682496"/>
            <a:ext cx="3108960" cy="16459"/>
          </a:xfrm>
          <a:prstGeom prst="rect">
            <a:avLst/>
          </a:prstGeom>
          <a:solidFill>
            <a:srgbClr val="D1D5DB"/>
          </a:solidFill>
          <a:ln w="12700">
            <a:solidFill>
              <a:srgbClr val="D1D5DB"/>
            </a:solidFill>
            <a:prstDash val="solid"/>
          </a:ln>
        </p:spPr>
      </p:sp>
      <p:sp>
        <p:nvSpPr>
          <p:cNvPr id="25" name="Text 22"/>
          <p:cNvSpPr/>
          <p:nvPr/>
        </p:nvSpPr>
        <p:spPr>
          <a:xfrm>
            <a:off x="5742432" y="1828800"/>
            <a:ext cx="3108960" cy="182880"/>
          </a:xfrm>
          <a:prstGeom prst="rect">
            <a:avLst/>
          </a:prstGeom>
          <a:noFill/>
          <a:ln/>
        </p:spPr>
        <p:txBody>
          <a:bodyPr wrap="square" rtlCol="0" anchor="ctr"/>
          <a:lstStyle/>
          <a:p>
            <a:pPr indent="0" marL="0">
              <a:buNone/>
            </a:pPr>
            <a:r>
              <a:rPr lang="en-US" sz="750" b="1" spc="250" kern="0" dirty="0">
                <a:solidFill>
                  <a:srgbClr val="9CA3AF"/>
                </a:solidFill>
                <a:latin typeface="Calibri" pitchFamily="34" charset="0"/>
                <a:ea typeface="Calibri" pitchFamily="34" charset="-122"/>
                <a:cs typeface="Calibri" pitchFamily="34" charset="-120"/>
              </a:rPr>
              <a:t>AVERAGE RESPONSE TIME</a:t>
            </a:r>
            <a:endParaRPr lang="en-US" sz="750" dirty="0"/>
          </a:p>
        </p:txBody>
      </p:sp>
      <p:sp>
        <p:nvSpPr>
          <p:cNvPr id="26" name="Text 23"/>
          <p:cNvSpPr/>
          <p:nvPr/>
        </p:nvSpPr>
        <p:spPr>
          <a:xfrm>
            <a:off x="5742432" y="2029968"/>
            <a:ext cx="3108960" cy="658368"/>
          </a:xfrm>
          <a:prstGeom prst="rect">
            <a:avLst/>
          </a:prstGeom>
          <a:noFill/>
          <a:ln/>
        </p:spPr>
        <p:txBody>
          <a:bodyPr wrap="square" rtlCol="0" anchor="ctr"/>
          <a:lstStyle/>
          <a:p>
            <a:pPr indent="0" marL="0">
              <a:buNone/>
            </a:pPr>
            <a:r>
              <a:rPr lang="en-US" sz="4200" b="1" dirty="0">
                <a:solidFill>
                  <a:srgbClr val="0D1F3C"/>
                </a:solidFill>
                <a:latin typeface="Trebuchet MS" pitchFamily="34" charset="0"/>
                <a:ea typeface="Trebuchet MS" pitchFamily="34" charset="-122"/>
                <a:cs typeface="Trebuchet MS" pitchFamily="34" charset="-120"/>
              </a:rPr>
              <a:t>&lt;2hr</a:t>
            </a:r>
            <a:endParaRPr lang="en-US" sz="4200" dirty="0"/>
          </a:p>
        </p:txBody>
      </p:sp>
      <p:sp>
        <p:nvSpPr>
          <p:cNvPr id="27" name="Text 24"/>
          <p:cNvSpPr/>
          <p:nvPr/>
        </p:nvSpPr>
        <p:spPr>
          <a:xfrm>
            <a:off x="5742432" y="2706624"/>
            <a:ext cx="3108960" cy="274320"/>
          </a:xfrm>
          <a:prstGeom prst="rect">
            <a:avLst/>
          </a:prstGeom>
          <a:noFill/>
          <a:ln/>
        </p:spPr>
        <p:txBody>
          <a:bodyPr wrap="square" rtlCol="0" anchor="ctr"/>
          <a:lstStyle/>
          <a:p>
            <a:pPr indent="0" marL="0">
              <a:buNone/>
            </a:pPr>
            <a:r>
              <a:rPr lang="en-US" sz="950" dirty="0">
                <a:solidFill>
                  <a:srgbClr val="6B7280"/>
                </a:solidFill>
                <a:latin typeface="Calibri" pitchFamily="34" charset="0"/>
                <a:ea typeface="Calibri" pitchFamily="34" charset="-122"/>
                <a:cs typeface="Calibri" pitchFamily="34" charset="-120"/>
              </a:rPr>
              <a:t>From ticket open to acknowledgment</a:t>
            </a:r>
            <a:endParaRPr lang="en-US" sz="950" dirty="0"/>
          </a:p>
        </p:txBody>
      </p:sp>
      <p:sp>
        <p:nvSpPr>
          <p:cNvPr id="28" name="Shape 25"/>
          <p:cNvSpPr/>
          <p:nvPr/>
        </p:nvSpPr>
        <p:spPr>
          <a:xfrm>
            <a:off x="5742432" y="3072384"/>
            <a:ext cx="3108960" cy="16459"/>
          </a:xfrm>
          <a:prstGeom prst="rect">
            <a:avLst/>
          </a:prstGeom>
          <a:solidFill>
            <a:srgbClr val="D1D5DB"/>
          </a:solidFill>
          <a:ln w="12700">
            <a:solidFill>
              <a:srgbClr val="D1D5DB"/>
            </a:solidFill>
            <a:prstDash val="solid"/>
          </a:ln>
        </p:spPr>
      </p:sp>
      <p:sp>
        <p:nvSpPr>
          <p:cNvPr id="29" name="Text 26"/>
          <p:cNvSpPr/>
          <p:nvPr/>
        </p:nvSpPr>
        <p:spPr>
          <a:xfrm>
            <a:off x="5742432" y="3218688"/>
            <a:ext cx="3108960" cy="182880"/>
          </a:xfrm>
          <a:prstGeom prst="rect">
            <a:avLst/>
          </a:prstGeom>
          <a:noFill/>
          <a:ln/>
        </p:spPr>
        <p:txBody>
          <a:bodyPr wrap="square" rtlCol="0" anchor="ctr"/>
          <a:lstStyle/>
          <a:p>
            <a:pPr indent="0" marL="0">
              <a:buNone/>
            </a:pPr>
            <a:r>
              <a:rPr lang="en-US" sz="750" b="1" spc="250" kern="0" dirty="0">
                <a:solidFill>
                  <a:srgbClr val="9CA3AF"/>
                </a:solidFill>
                <a:latin typeface="Calibri" pitchFamily="34" charset="0"/>
                <a:ea typeface="Calibri" pitchFamily="34" charset="-122"/>
                <a:cs typeface="Calibri" pitchFamily="34" charset="-120"/>
              </a:rPr>
              <a:t>AVERAGE RESOLUTION TIME</a:t>
            </a:r>
            <a:endParaRPr lang="en-US" sz="750" dirty="0"/>
          </a:p>
        </p:txBody>
      </p:sp>
      <p:sp>
        <p:nvSpPr>
          <p:cNvPr id="30" name="Text 27"/>
          <p:cNvSpPr/>
          <p:nvPr/>
        </p:nvSpPr>
        <p:spPr>
          <a:xfrm>
            <a:off x="5742432" y="3419856"/>
            <a:ext cx="3108960" cy="658368"/>
          </a:xfrm>
          <a:prstGeom prst="rect">
            <a:avLst/>
          </a:prstGeom>
          <a:noFill/>
          <a:ln/>
        </p:spPr>
        <p:txBody>
          <a:bodyPr wrap="square" rtlCol="0" anchor="ctr"/>
          <a:lstStyle/>
          <a:p>
            <a:pPr indent="0" marL="0">
              <a:buNone/>
            </a:pPr>
            <a:r>
              <a:rPr lang="en-US" sz="4200" b="1" dirty="0">
                <a:solidFill>
                  <a:srgbClr val="0D1F3C"/>
                </a:solidFill>
                <a:latin typeface="Trebuchet MS" pitchFamily="34" charset="0"/>
                <a:ea typeface="Trebuchet MS" pitchFamily="34" charset="-122"/>
                <a:cs typeface="Trebuchet MS" pitchFamily="34" charset="-120"/>
              </a:rPr>
              <a:t>&lt;24hr</a:t>
            </a:r>
            <a:endParaRPr lang="en-US" sz="4200" dirty="0"/>
          </a:p>
        </p:txBody>
      </p:sp>
      <p:sp>
        <p:nvSpPr>
          <p:cNvPr id="31" name="Text 28"/>
          <p:cNvSpPr/>
          <p:nvPr/>
        </p:nvSpPr>
        <p:spPr>
          <a:xfrm>
            <a:off x="5742432" y="4096512"/>
            <a:ext cx="3108960" cy="274320"/>
          </a:xfrm>
          <a:prstGeom prst="rect">
            <a:avLst/>
          </a:prstGeom>
          <a:noFill/>
          <a:ln/>
        </p:spPr>
        <p:txBody>
          <a:bodyPr wrap="square" rtlCol="0" anchor="ctr"/>
          <a:lstStyle/>
          <a:p>
            <a:pPr indent="0" marL="0">
              <a:buNone/>
            </a:pPr>
            <a:r>
              <a:rPr lang="en-US" sz="950" dirty="0">
                <a:solidFill>
                  <a:srgbClr val="6B7280"/>
                </a:solidFill>
                <a:latin typeface="Calibri" pitchFamily="34" charset="0"/>
                <a:ea typeface="Calibri" pitchFamily="34" charset="-122"/>
                <a:cs typeface="Calibri" pitchFamily="34" charset="-120"/>
              </a:rPr>
              <a:t>From issue flagged to issue closed</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0D1F3C"/>
          </a:solidFill>
          <a:ln w="12700">
            <a:solidFill>
              <a:srgbClr val="0D1F3C"/>
            </a:solidFill>
            <a:prstDash val="solid"/>
          </a:ln>
        </p:spPr>
      </p:sp>
      <p:sp>
        <p:nvSpPr>
          <p:cNvPr id="3" name="Text 1"/>
          <p:cNvSpPr/>
          <p:nvPr/>
        </p:nvSpPr>
        <p:spPr>
          <a:xfrm>
            <a:off x="457200" y="91440"/>
            <a:ext cx="7315200" cy="164592"/>
          </a:xfrm>
          <a:prstGeom prst="rect">
            <a:avLst/>
          </a:prstGeom>
          <a:noFill/>
          <a:ln/>
        </p:spPr>
        <p:txBody>
          <a:bodyPr wrap="square"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RAMP-UP PLAN</a:t>
            </a:r>
            <a:endParaRPr lang="en-US" sz="700" dirty="0"/>
          </a:p>
        </p:txBody>
      </p:sp>
      <p:sp>
        <p:nvSpPr>
          <p:cNvPr id="4" name="Text 2"/>
          <p:cNvSpPr/>
          <p:nvPr/>
        </p:nvSpPr>
        <p:spPr>
          <a:xfrm>
            <a:off x="8686800" y="73152"/>
            <a:ext cx="365760" cy="164592"/>
          </a:xfrm>
          <a:prstGeom prst="rect">
            <a:avLst/>
          </a:prstGeom>
          <a:noFill/>
          <a:ln/>
        </p:spPr>
        <p:txBody>
          <a:bodyPr wrap="square"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7</a:t>
            </a:r>
            <a:endParaRPr lang="en-US" sz="800" dirty="0"/>
          </a:p>
        </p:txBody>
      </p:sp>
      <p:pic>
        <p:nvPicPr>
          <p:cNvPr id="5" name="Image 0" descr="./mdf_logo_white_bg.png">    </p:cNvPr>
          <p:cNvPicPr>
            <a:picLocks noChangeAspect="1"/>
          </p:cNvPicPr>
          <p:nvPr/>
        </p:nvPicPr>
        <p:blipFill>
          <a:blip r:embed="rId1"/>
          <a:stretch>
            <a:fillRect/>
          </a:stretch>
        </p:blipFill>
        <p:spPr>
          <a:xfrm>
            <a:off x="7973568" y="4663440"/>
            <a:ext cx="1051560" cy="402336"/>
          </a:xfrm>
          <a:prstGeom prst="rect">
            <a:avLst/>
          </a:prstGeom>
        </p:spPr>
      </p:pic>
      <p:sp>
        <p:nvSpPr>
          <p:cNvPr id="6" name="Text 3"/>
          <p:cNvSpPr/>
          <p:nvPr/>
        </p:nvSpPr>
        <p:spPr>
          <a:xfrm>
            <a:off x="457200" y="256032"/>
            <a:ext cx="8229600" cy="438912"/>
          </a:xfrm>
          <a:prstGeom prst="rect">
            <a:avLst/>
          </a:prstGeom>
          <a:noFill/>
          <a:ln/>
        </p:spPr>
        <p:txBody>
          <a:bodyPr wrap="square" rtlCol="0" anchor="ctr"/>
          <a:lstStyle/>
          <a:p>
            <a:pPr indent="0" marL="0">
              <a:buNone/>
            </a:pPr>
            <a:r>
              <a:rPr lang="en-US" sz="2400" b="1" dirty="0">
                <a:solidFill>
                  <a:srgbClr val="0D1F3C"/>
                </a:solidFill>
                <a:latin typeface="Trebuchet MS" pitchFamily="34" charset="0"/>
                <a:ea typeface="Trebuchet MS" pitchFamily="34" charset="-122"/>
                <a:cs typeface="Trebuchet MS" pitchFamily="34" charset="-120"/>
              </a:rPr>
              <a:t>Your Ramp-Up. Before Day One.</a:t>
            </a:r>
            <a:endParaRPr lang="en-US" sz="2400" dirty="0"/>
          </a:p>
        </p:txBody>
      </p:sp>
      <p:sp>
        <p:nvSpPr>
          <p:cNvPr id="7" name="Shape 4"/>
          <p:cNvSpPr/>
          <p:nvPr/>
        </p:nvSpPr>
        <p:spPr>
          <a:xfrm>
            <a:off x="457200" y="749808"/>
            <a:ext cx="8229600" cy="16459"/>
          </a:xfrm>
          <a:prstGeom prst="rect">
            <a:avLst/>
          </a:prstGeom>
          <a:solidFill>
            <a:srgbClr val="D1D5DB"/>
          </a:solidFill>
          <a:ln w="12700">
            <a:solidFill>
              <a:srgbClr val="D1D5DB"/>
            </a:solidFill>
            <a:prstDash val="solid"/>
          </a:ln>
        </p:spPr>
      </p:sp>
      <p:sp>
        <p:nvSpPr>
          <p:cNvPr id="8" name="Shape 5"/>
          <p:cNvSpPr/>
          <p:nvPr/>
        </p:nvSpPr>
        <p:spPr>
          <a:xfrm>
            <a:off x="457200" y="822960"/>
            <a:ext cx="2788920" cy="438912"/>
          </a:xfrm>
          <a:prstGeom prst="rect">
            <a:avLst/>
          </a:prstGeom>
          <a:solidFill>
            <a:srgbClr val="0D1F3C"/>
          </a:solidFill>
          <a:ln w="12700">
            <a:solidFill>
              <a:srgbClr val="0D1F3C"/>
            </a:solidFill>
            <a:prstDash val="solid"/>
          </a:ln>
        </p:spPr>
      </p:sp>
      <p:sp>
        <p:nvSpPr>
          <p:cNvPr id="9" name="Text 6"/>
          <p:cNvSpPr/>
          <p:nvPr/>
        </p:nvSpPr>
        <p:spPr>
          <a:xfrm>
            <a:off x="548640" y="950976"/>
            <a:ext cx="2697480" cy="201168"/>
          </a:xfrm>
          <a:prstGeom prst="rect">
            <a:avLst/>
          </a:prstGeom>
          <a:noFill/>
          <a:ln/>
        </p:spPr>
        <p:txBody>
          <a:bodyPr wrap="square" rtlCol="0" anchor="ctr"/>
          <a:lstStyle/>
          <a:p>
            <a:pPr indent="0" marL="0">
              <a:buNone/>
            </a:pPr>
            <a:r>
              <a:rPr lang="en-US" sz="800" b="1" spc="200" kern="0" dirty="0">
                <a:solidFill>
                  <a:srgbClr val="C9A84C"/>
                </a:solidFill>
                <a:latin typeface="Calibri" pitchFamily="34" charset="0"/>
                <a:ea typeface="Calibri" pitchFamily="34" charset="-122"/>
                <a:cs typeface="Calibri" pitchFamily="34" charset="-120"/>
              </a:rPr>
              <a:t>ACTIVITY</a:t>
            </a:r>
            <a:endParaRPr lang="en-US" sz="800" dirty="0"/>
          </a:p>
        </p:txBody>
      </p:sp>
      <p:sp>
        <p:nvSpPr>
          <p:cNvPr id="10" name="Shape 7"/>
          <p:cNvSpPr/>
          <p:nvPr/>
        </p:nvSpPr>
        <p:spPr>
          <a:xfrm>
            <a:off x="3246120" y="822960"/>
            <a:ext cx="1261872" cy="438912"/>
          </a:xfrm>
          <a:prstGeom prst="rect">
            <a:avLst/>
          </a:prstGeom>
          <a:solidFill>
            <a:srgbClr val="0D1F3C"/>
          </a:solidFill>
          <a:ln w="12700">
            <a:solidFill>
              <a:srgbClr val="0D1F3C"/>
            </a:solidFill>
            <a:prstDash val="solid"/>
          </a:ln>
        </p:spPr>
      </p:sp>
      <p:sp>
        <p:nvSpPr>
          <p:cNvPr id="11" name="Text 8"/>
          <p:cNvSpPr/>
          <p:nvPr/>
        </p:nvSpPr>
        <p:spPr>
          <a:xfrm>
            <a:off x="3246120" y="950976"/>
            <a:ext cx="1261872" cy="201168"/>
          </a:xfrm>
          <a:prstGeom prst="rect">
            <a:avLst/>
          </a:prstGeom>
          <a:noFill/>
          <a:ln/>
        </p:spPr>
        <p:txBody>
          <a:bodyPr wrap="square" rtlCol="0" anchor="ctr"/>
          <a:lstStyle/>
          <a:p>
            <a:pPr algn="ctr" indent="0" marL="0">
              <a:buNone/>
            </a:pPr>
            <a:r>
              <a:rPr lang="en-US" sz="900" dirty="0">
                <a:solidFill>
                  <a:srgbClr val="9CA3AF"/>
                </a:solidFill>
                <a:latin typeface="Calibri" pitchFamily="34" charset="0"/>
                <a:ea typeface="Calibri" pitchFamily="34" charset="-122"/>
                <a:cs typeface="Calibri" pitchFamily="34" charset="-120"/>
              </a:rPr>
              <a:t>Wk -2</a:t>
            </a:r>
            <a:endParaRPr lang="en-US" sz="900" dirty="0"/>
          </a:p>
        </p:txBody>
      </p:sp>
      <p:sp>
        <p:nvSpPr>
          <p:cNvPr id="12" name="Shape 9"/>
          <p:cNvSpPr/>
          <p:nvPr/>
        </p:nvSpPr>
        <p:spPr>
          <a:xfrm>
            <a:off x="4507992" y="822960"/>
            <a:ext cx="1261872" cy="438912"/>
          </a:xfrm>
          <a:prstGeom prst="rect">
            <a:avLst/>
          </a:prstGeom>
          <a:solidFill>
            <a:srgbClr val="0D1F3C"/>
          </a:solidFill>
          <a:ln w="12700">
            <a:solidFill>
              <a:srgbClr val="0D1F3C"/>
            </a:solidFill>
            <a:prstDash val="solid"/>
          </a:ln>
        </p:spPr>
      </p:sp>
      <p:sp>
        <p:nvSpPr>
          <p:cNvPr id="13" name="Text 10"/>
          <p:cNvSpPr/>
          <p:nvPr/>
        </p:nvSpPr>
        <p:spPr>
          <a:xfrm>
            <a:off x="4507992" y="950976"/>
            <a:ext cx="1261872" cy="201168"/>
          </a:xfrm>
          <a:prstGeom prst="rect">
            <a:avLst/>
          </a:prstGeom>
          <a:noFill/>
          <a:ln/>
        </p:spPr>
        <p:txBody>
          <a:bodyPr wrap="square" rtlCol="0" anchor="ctr"/>
          <a:lstStyle/>
          <a:p>
            <a:pPr algn="ctr" indent="0" marL="0">
              <a:buNone/>
            </a:pPr>
            <a:r>
              <a:rPr lang="en-US" sz="900" dirty="0">
                <a:solidFill>
                  <a:srgbClr val="9CA3AF"/>
                </a:solidFill>
                <a:latin typeface="Calibri" pitchFamily="34" charset="0"/>
                <a:ea typeface="Calibri" pitchFamily="34" charset="-122"/>
                <a:cs typeface="Calibri" pitchFamily="34" charset="-120"/>
              </a:rPr>
              <a:t>Wk -1</a:t>
            </a:r>
            <a:endParaRPr lang="en-US" sz="900" dirty="0"/>
          </a:p>
        </p:txBody>
      </p:sp>
      <p:sp>
        <p:nvSpPr>
          <p:cNvPr id="14" name="Shape 11"/>
          <p:cNvSpPr/>
          <p:nvPr/>
        </p:nvSpPr>
        <p:spPr>
          <a:xfrm>
            <a:off x="5769864" y="822960"/>
            <a:ext cx="1261872" cy="438912"/>
          </a:xfrm>
          <a:prstGeom prst="rect">
            <a:avLst/>
          </a:prstGeom>
          <a:solidFill>
            <a:srgbClr val="0D1F3C"/>
          </a:solidFill>
          <a:ln w="12700">
            <a:solidFill>
              <a:srgbClr val="0D1F3C"/>
            </a:solidFill>
            <a:prstDash val="solid"/>
          </a:ln>
        </p:spPr>
      </p:sp>
      <p:sp>
        <p:nvSpPr>
          <p:cNvPr id="15" name="Text 12"/>
          <p:cNvSpPr/>
          <p:nvPr/>
        </p:nvSpPr>
        <p:spPr>
          <a:xfrm>
            <a:off x="5769864" y="950976"/>
            <a:ext cx="1261872" cy="201168"/>
          </a:xfrm>
          <a:prstGeom prst="rect">
            <a:avLst/>
          </a:prstGeom>
          <a:noFill/>
          <a:ln/>
        </p:spPr>
        <p:txBody>
          <a:bodyPr wrap="square" rtlCol="0" anchor="ctr"/>
          <a:lstStyle/>
          <a:p>
            <a:pPr algn="ctr" indent="0" marL="0">
              <a:buNone/>
            </a:pPr>
            <a:r>
              <a:rPr lang="en-US" sz="900" dirty="0">
                <a:solidFill>
                  <a:srgbClr val="9CA3AF"/>
                </a:solidFill>
                <a:latin typeface="Calibri" pitchFamily="34" charset="0"/>
                <a:ea typeface="Calibri" pitchFamily="34" charset="-122"/>
                <a:cs typeface="Calibri" pitchFamily="34" charset="-120"/>
              </a:rPr>
              <a:t>Week 1</a:t>
            </a:r>
            <a:endParaRPr lang="en-US" sz="900" dirty="0"/>
          </a:p>
        </p:txBody>
      </p:sp>
      <p:sp>
        <p:nvSpPr>
          <p:cNvPr id="16" name="Shape 13"/>
          <p:cNvSpPr/>
          <p:nvPr/>
        </p:nvSpPr>
        <p:spPr>
          <a:xfrm>
            <a:off x="7031736" y="822960"/>
            <a:ext cx="1261872" cy="438912"/>
          </a:xfrm>
          <a:prstGeom prst="rect">
            <a:avLst/>
          </a:prstGeom>
          <a:solidFill>
            <a:srgbClr val="0D1F3C"/>
          </a:solidFill>
          <a:ln w="12700">
            <a:solidFill>
              <a:srgbClr val="0D1F3C"/>
            </a:solidFill>
            <a:prstDash val="solid"/>
          </a:ln>
        </p:spPr>
      </p:sp>
      <p:sp>
        <p:nvSpPr>
          <p:cNvPr id="17" name="Text 14"/>
          <p:cNvSpPr/>
          <p:nvPr/>
        </p:nvSpPr>
        <p:spPr>
          <a:xfrm>
            <a:off x="7031736" y="950976"/>
            <a:ext cx="1261872" cy="201168"/>
          </a:xfrm>
          <a:prstGeom prst="rect">
            <a:avLst/>
          </a:prstGeom>
          <a:noFill/>
          <a:ln/>
        </p:spPr>
        <p:txBody>
          <a:bodyPr wrap="square" rtlCol="0" anchor="ctr"/>
          <a:lstStyle/>
          <a:p>
            <a:pPr algn="ctr" indent="0" marL="0">
              <a:buNone/>
            </a:pPr>
            <a:r>
              <a:rPr lang="en-US" sz="900" dirty="0">
                <a:solidFill>
                  <a:srgbClr val="9CA3AF"/>
                </a:solidFill>
                <a:latin typeface="Calibri" pitchFamily="34" charset="0"/>
                <a:ea typeface="Calibri" pitchFamily="34" charset="-122"/>
                <a:cs typeface="Calibri" pitchFamily="34" charset="-120"/>
              </a:rPr>
              <a:t>Week 2</a:t>
            </a:r>
            <a:endParaRPr lang="en-US" sz="900" dirty="0"/>
          </a:p>
        </p:txBody>
      </p:sp>
      <p:sp>
        <p:nvSpPr>
          <p:cNvPr id="18" name="Shape 15"/>
          <p:cNvSpPr/>
          <p:nvPr/>
        </p:nvSpPr>
        <p:spPr>
          <a:xfrm>
            <a:off x="8293608" y="822960"/>
            <a:ext cx="1261872" cy="438912"/>
          </a:xfrm>
          <a:prstGeom prst="rect">
            <a:avLst/>
          </a:prstGeom>
          <a:solidFill>
            <a:srgbClr val="0D1F3C"/>
          </a:solidFill>
          <a:ln w="12700">
            <a:solidFill>
              <a:srgbClr val="0D1F3C"/>
            </a:solidFill>
            <a:prstDash val="solid"/>
          </a:ln>
        </p:spPr>
      </p:sp>
      <p:sp>
        <p:nvSpPr>
          <p:cNvPr id="19" name="Text 16"/>
          <p:cNvSpPr/>
          <p:nvPr/>
        </p:nvSpPr>
        <p:spPr>
          <a:xfrm>
            <a:off x="8293608" y="950976"/>
            <a:ext cx="1261872" cy="201168"/>
          </a:xfrm>
          <a:prstGeom prst="rect">
            <a:avLst/>
          </a:prstGeom>
          <a:noFill/>
          <a:ln/>
        </p:spPr>
        <p:txBody>
          <a:bodyPr wrap="square" rtlCol="0" anchor="ctr"/>
          <a:lstStyle/>
          <a:p>
            <a:pPr algn="ctr" indent="0" marL="0">
              <a:buNone/>
            </a:pPr>
            <a:r>
              <a:rPr lang="en-US" sz="900" dirty="0">
                <a:solidFill>
                  <a:srgbClr val="9CA3AF"/>
                </a:solidFill>
                <a:latin typeface="Calibri" pitchFamily="34" charset="0"/>
                <a:ea typeface="Calibri" pitchFamily="34" charset="-122"/>
                <a:cs typeface="Calibri" pitchFamily="34" charset="-120"/>
              </a:rPr>
              <a:t>Mo. 2</a:t>
            </a:r>
            <a:endParaRPr lang="en-US" sz="900" dirty="0"/>
          </a:p>
        </p:txBody>
      </p:sp>
      <p:sp>
        <p:nvSpPr>
          <p:cNvPr id="20" name="Shape 17"/>
          <p:cNvSpPr/>
          <p:nvPr/>
        </p:nvSpPr>
        <p:spPr>
          <a:xfrm>
            <a:off x="9555480" y="822960"/>
            <a:ext cx="1261872" cy="438912"/>
          </a:xfrm>
          <a:prstGeom prst="rect">
            <a:avLst/>
          </a:prstGeom>
          <a:solidFill>
            <a:srgbClr val="0D1F3C"/>
          </a:solidFill>
          <a:ln w="12700">
            <a:solidFill>
              <a:srgbClr val="0D1F3C"/>
            </a:solidFill>
            <a:prstDash val="solid"/>
          </a:ln>
        </p:spPr>
      </p:sp>
      <p:sp>
        <p:nvSpPr>
          <p:cNvPr id="21" name="Text 18"/>
          <p:cNvSpPr/>
          <p:nvPr/>
        </p:nvSpPr>
        <p:spPr>
          <a:xfrm>
            <a:off x="9555480" y="950976"/>
            <a:ext cx="1261872" cy="201168"/>
          </a:xfrm>
          <a:prstGeom prst="rect">
            <a:avLst/>
          </a:prstGeom>
          <a:noFill/>
          <a:ln/>
        </p:spPr>
        <p:txBody>
          <a:bodyPr wrap="square" rtlCol="0" anchor="ctr"/>
          <a:lstStyle/>
          <a:p>
            <a:pPr algn="ctr" indent="0" marL="0">
              <a:buNone/>
            </a:pPr>
            <a:r>
              <a:rPr lang="en-US" sz="900" dirty="0">
                <a:solidFill>
                  <a:srgbClr val="9CA3AF"/>
                </a:solidFill>
                <a:latin typeface="Calibri" pitchFamily="34" charset="0"/>
                <a:ea typeface="Calibri" pitchFamily="34" charset="-122"/>
                <a:cs typeface="Calibri" pitchFamily="34" charset="-120"/>
              </a:rPr>
              <a:t>Mo. 3</a:t>
            </a:r>
            <a:endParaRPr lang="en-US" sz="900" dirty="0"/>
          </a:p>
        </p:txBody>
      </p:sp>
      <p:sp>
        <p:nvSpPr>
          <p:cNvPr id="22" name="Shape 19"/>
          <p:cNvSpPr/>
          <p:nvPr/>
        </p:nvSpPr>
        <p:spPr>
          <a:xfrm>
            <a:off x="457200" y="1261872"/>
            <a:ext cx="2788920" cy="438912"/>
          </a:xfrm>
          <a:prstGeom prst="rect">
            <a:avLst/>
          </a:prstGeom>
          <a:solidFill>
            <a:srgbClr val="FFFFFF"/>
          </a:solidFill>
          <a:ln w="12700">
            <a:solidFill>
              <a:srgbClr val="D1D5DB"/>
            </a:solidFill>
            <a:prstDash val="solid"/>
          </a:ln>
        </p:spPr>
      </p:sp>
      <p:sp>
        <p:nvSpPr>
          <p:cNvPr id="23" name="Text 20"/>
          <p:cNvSpPr/>
          <p:nvPr/>
        </p:nvSpPr>
        <p:spPr>
          <a:xfrm>
            <a:off x="548640" y="1380744"/>
            <a:ext cx="2651760" cy="219456"/>
          </a:xfrm>
          <a:prstGeom prst="rect">
            <a:avLst/>
          </a:prstGeom>
          <a:noFill/>
          <a:ln/>
        </p:spPr>
        <p:txBody>
          <a:bodyPr wrap="square" rtlCol="0" anchor="ctr"/>
          <a:lstStyle/>
          <a:p>
            <a:pPr indent="0" marL="0">
              <a:buNone/>
            </a:pPr>
            <a:r>
              <a:rPr lang="en-US" sz="950" dirty="0">
                <a:solidFill>
                  <a:srgbClr val="374151"/>
                </a:solidFill>
                <a:latin typeface="Calibri" pitchFamily="34" charset="0"/>
                <a:ea typeface="Calibri" pitchFamily="34" charset="-122"/>
                <a:cs typeface="Calibri" pitchFamily="34" charset="-120"/>
              </a:rPr>
              <a:t>CEO + QA Manager Site Walk</a:t>
            </a:r>
            <a:endParaRPr lang="en-US" sz="950" dirty="0"/>
          </a:p>
        </p:txBody>
      </p:sp>
      <p:sp>
        <p:nvSpPr>
          <p:cNvPr id="24" name="Shape 21"/>
          <p:cNvSpPr/>
          <p:nvPr/>
        </p:nvSpPr>
        <p:spPr>
          <a:xfrm>
            <a:off x="3246120" y="1261872"/>
            <a:ext cx="1261872" cy="438912"/>
          </a:xfrm>
          <a:prstGeom prst="rect">
            <a:avLst/>
          </a:prstGeom>
          <a:solidFill>
            <a:srgbClr val="FFFFFF"/>
          </a:solidFill>
          <a:ln w="12700">
            <a:solidFill>
              <a:srgbClr val="D1D5DB"/>
            </a:solidFill>
            <a:prstDash val="solid"/>
          </a:ln>
        </p:spPr>
      </p:sp>
      <p:sp>
        <p:nvSpPr>
          <p:cNvPr id="25" name="Shape 22"/>
          <p:cNvSpPr/>
          <p:nvPr/>
        </p:nvSpPr>
        <p:spPr>
          <a:xfrm>
            <a:off x="4507992" y="1261872"/>
            <a:ext cx="1261872" cy="438912"/>
          </a:xfrm>
          <a:prstGeom prst="rect">
            <a:avLst/>
          </a:prstGeom>
          <a:solidFill>
            <a:srgbClr val="FFFFFF"/>
          </a:solidFill>
          <a:ln w="12700">
            <a:solidFill>
              <a:srgbClr val="D1D5DB"/>
            </a:solidFill>
            <a:prstDash val="solid"/>
          </a:ln>
        </p:spPr>
      </p:sp>
      <p:sp>
        <p:nvSpPr>
          <p:cNvPr id="26" name="Shape 23"/>
          <p:cNvSpPr/>
          <p:nvPr/>
        </p:nvSpPr>
        <p:spPr>
          <a:xfrm>
            <a:off x="5769864" y="1261872"/>
            <a:ext cx="1261872" cy="438912"/>
          </a:xfrm>
          <a:prstGeom prst="rect">
            <a:avLst/>
          </a:prstGeom>
          <a:solidFill>
            <a:srgbClr val="FFFFFF"/>
          </a:solidFill>
          <a:ln w="12700">
            <a:solidFill>
              <a:srgbClr val="D1D5DB"/>
            </a:solidFill>
            <a:prstDash val="solid"/>
          </a:ln>
        </p:spPr>
      </p:sp>
      <p:sp>
        <p:nvSpPr>
          <p:cNvPr id="27" name="Shape 24"/>
          <p:cNvSpPr/>
          <p:nvPr/>
        </p:nvSpPr>
        <p:spPr>
          <a:xfrm>
            <a:off x="7031736" y="1261872"/>
            <a:ext cx="1261872" cy="438912"/>
          </a:xfrm>
          <a:prstGeom prst="rect">
            <a:avLst/>
          </a:prstGeom>
          <a:solidFill>
            <a:srgbClr val="FFFFFF"/>
          </a:solidFill>
          <a:ln w="12700">
            <a:solidFill>
              <a:srgbClr val="D1D5DB"/>
            </a:solidFill>
            <a:prstDash val="solid"/>
          </a:ln>
        </p:spPr>
      </p:sp>
      <p:sp>
        <p:nvSpPr>
          <p:cNvPr id="28" name="Shape 25"/>
          <p:cNvSpPr/>
          <p:nvPr/>
        </p:nvSpPr>
        <p:spPr>
          <a:xfrm>
            <a:off x="8293608" y="1261872"/>
            <a:ext cx="1261872" cy="438912"/>
          </a:xfrm>
          <a:prstGeom prst="rect">
            <a:avLst/>
          </a:prstGeom>
          <a:solidFill>
            <a:srgbClr val="FFFFFF"/>
          </a:solidFill>
          <a:ln w="12700">
            <a:solidFill>
              <a:srgbClr val="D1D5DB"/>
            </a:solidFill>
            <a:prstDash val="solid"/>
          </a:ln>
        </p:spPr>
      </p:sp>
      <p:sp>
        <p:nvSpPr>
          <p:cNvPr id="29" name="Shape 26"/>
          <p:cNvSpPr/>
          <p:nvPr/>
        </p:nvSpPr>
        <p:spPr>
          <a:xfrm>
            <a:off x="9555480" y="1261872"/>
            <a:ext cx="1261872" cy="438912"/>
          </a:xfrm>
          <a:prstGeom prst="rect">
            <a:avLst/>
          </a:prstGeom>
          <a:solidFill>
            <a:srgbClr val="FFFFFF"/>
          </a:solidFill>
          <a:ln w="12700">
            <a:solidFill>
              <a:srgbClr val="D1D5DB"/>
            </a:solidFill>
            <a:prstDash val="solid"/>
          </a:ln>
        </p:spPr>
      </p:sp>
      <p:sp>
        <p:nvSpPr>
          <p:cNvPr id="30" name="Shape 27"/>
          <p:cNvSpPr/>
          <p:nvPr/>
        </p:nvSpPr>
        <p:spPr>
          <a:xfrm>
            <a:off x="3310128" y="1362456"/>
            <a:ext cx="2395728" cy="241402"/>
          </a:xfrm>
          <a:prstGeom prst="rect">
            <a:avLst/>
          </a:prstGeom>
          <a:solidFill>
            <a:srgbClr val="C9A84C"/>
          </a:solidFill>
          <a:ln w="12700">
            <a:solidFill>
              <a:srgbClr val="C9A84C"/>
            </a:solidFill>
            <a:prstDash val="solid"/>
          </a:ln>
        </p:spPr>
      </p:sp>
      <p:sp>
        <p:nvSpPr>
          <p:cNvPr id="31" name="Shape 28"/>
          <p:cNvSpPr/>
          <p:nvPr/>
        </p:nvSpPr>
        <p:spPr>
          <a:xfrm>
            <a:off x="457200" y="1700784"/>
            <a:ext cx="2788920" cy="438912"/>
          </a:xfrm>
          <a:prstGeom prst="rect">
            <a:avLst/>
          </a:prstGeom>
          <a:solidFill>
            <a:srgbClr val="F4F7FB"/>
          </a:solidFill>
          <a:ln w="12700">
            <a:solidFill>
              <a:srgbClr val="D1D5DB"/>
            </a:solidFill>
            <a:prstDash val="solid"/>
          </a:ln>
        </p:spPr>
      </p:sp>
      <p:sp>
        <p:nvSpPr>
          <p:cNvPr id="32" name="Text 29"/>
          <p:cNvSpPr/>
          <p:nvPr/>
        </p:nvSpPr>
        <p:spPr>
          <a:xfrm>
            <a:off x="548640" y="1819656"/>
            <a:ext cx="2651760" cy="219456"/>
          </a:xfrm>
          <a:prstGeom prst="rect">
            <a:avLst/>
          </a:prstGeom>
          <a:noFill/>
          <a:ln/>
        </p:spPr>
        <p:txBody>
          <a:bodyPr wrap="square" rtlCol="0" anchor="ctr"/>
          <a:lstStyle/>
          <a:p>
            <a:pPr indent="0" marL="0">
              <a:buNone/>
            </a:pPr>
            <a:r>
              <a:rPr lang="en-US" sz="950" dirty="0">
                <a:solidFill>
                  <a:srgbClr val="374151"/>
                </a:solidFill>
                <a:latin typeface="Calibri" pitchFamily="34" charset="0"/>
                <a:ea typeface="Calibri" pitchFamily="34" charset="-122"/>
                <a:cs typeface="Calibri" pitchFamily="34" charset="-120"/>
              </a:rPr>
              <a:t>Key Handoff &amp; Supply Staging</a:t>
            </a:r>
            <a:endParaRPr lang="en-US" sz="950" dirty="0"/>
          </a:p>
        </p:txBody>
      </p:sp>
      <p:sp>
        <p:nvSpPr>
          <p:cNvPr id="33" name="Shape 30"/>
          <p:cNvSpPr/>
          <p:nvPr/>
        </p:nvSpPr>
        <p:spPr>
          <a:xfrm>
            <a:off x="3246120" y="1700784"/>
            <a:ext cx="1261872" cy="438912"/>
          </a:xfrm>
          <a:prstGeom prst="rect">
            <a:avLst/>
          </a:prstGeom>
          <a:solidFill>
            <a:srgbClr val="F4F7FB"/>
          </a:solidFill>
          <a:ln w="12700">
            <a:solidFill>
              <a:srgbClr val="D1D5DB"/>
            </a:solidFill>
            <a:prstDash val="solid"/>
          </a:ln>
        </p:spPr>
      </p:sp>
      <p:sp>
        <p:nvSpPr>
          <p:cNvPr id="34" name="Shape 31"/>
          <p:cNvSpPr/>
          <p:nvPr/>
        </p:nvSpPr>
        <p:spPr>
          <a:xfrm>
            <a:off x="4507992" y="1700784"/>
            <a:ext cx="1261872" cy="438912"/>
          </a:xfrm>
          <a:prstGeom prst="rect">
            <a:avLst/>
          </a:prstGeom>
          <a:solidFill>
            <a:srgbClr val="F4F7FB"/>
          </a:solidFill>
          <a:ln w="12700">
            <a:solidFill>
              <a:srgbClr val="D1D5DB"/>
            </a:solidFill>
            <a:prstDash val="solid"/>
          </a:ln>
        </p:spPr>
      </p:sp>
      <p:sp>
        <p:nvSpPr>
          <p:cNvPr id="35" name="Shape 32"/>
          <p:cNvSpPr/>
          <p:nvPr/>
        </p:nvSpPr>
        <p:spPr>
          <a:xfrm>
            <a:off x="5769864" y="1700784"/>
            <a:ext cx="1261872" cy="438912"/>
          </a:xfrm>
          <a:prstGeom prst="rect">
            <a:avLst/>
          </a:prstGeom>
          <a:solidFill>
            <a:srgbClr val="F4F7FB"/>
          </a:solidFill>
          <a:ln w="12700">
            <a:solidFill>
              <a:srgbClr val="D1D5DB"/>
            </a:solidFill>
            <a:prstDash val="solid"/>
          </a:ln>
        </p:spPr>
      </p:sp>
      <p:sp>
        <p:nvSpPr>
          <p:cNvPr id="36" name="Shape 33"/>
          <p:cNvSpPr/>
          <p:nvPr/>
        </p:nvSpPr>
        <p:spPr>
          <a:xfrm>
            <a:off x="7031736" y="1700784"/>
            <a:ext cx="1261872" cy="438912"/>
          </a:xfrm>
          <a:prstGeom prst="rect">
            <a:avLst/>
          </a:prstGeom>
          <a:solidFill>
            <a:srgbClr val="F4F7FB"/>
          </a:solidFill>
          <a:ln w="12700">
            <a:solidFill>
              <a:srgbClr val="D1D5DB"/>
            </a:solidFill>
            <a:prstDash val="solid"/>
          </a:ln>
        </p:spPr>
      </p:sp>
      <p:sp>
        <p:nvSpPr>
          <p:cNvPr id="37" name="Shape 34"/>
          <p:cNvSpPr/>
          <p:nvPr/>
        </p:nvSpPr>
        <p:spPr>
          <a:xfrm>
            <a:off x="8293608" y="1700784"/>
            <a:ext cx="1261872" cy="438912"/>
          </a:xfrm>
          <a:prstGeom prst="rect">
            <a:avLst/>
          </a:prstGeom>
          <a:solidFill>
            <a:srgbClr val="F4F7FB"/>
          </a:solidFill>
          <a:ln w="12700">
            <a:solidFill>
              <a:srgbClr val="D1D5DB"/>
            </a:solidFill>
            <a:prstDash val="solid"/>
          </a:ln>
        </p:spPr>
      </p:sp>
      <p:sp>
        <p:nvSpPr>
          <p:cNvPr id="38" name="Shape 35"/>
          <p:cNvSpPr/>
          <p:nvPr/>
        </p:nvSpPr>
        <p:spPr>
          <a:xfrm>
            <a:off x="9555480" y="1700784"/>
            <a:ext cx="1261872" cy="438912"/>
          </a:xfrm>
          <a:prstGeom prst="rect">
            <a:avLst/>
          </a:prstGeom>
          <a:solidFill>
            <a:srgbClr val="F4F7FB"/>
          </a:solidFill>
          <a:ln w="12700">
            <a:solidFill>
              <a:srgbClr val="D1D5DB"/>
            </a:solidFill>
            <a:prstDash val="solid"/>
          </a:ln>
        </p:spPr>
      </p:sp>
      <p:sp>
        <p:nvSpPr>
          <p:cNvPr id="39" name="Shape 36"/>
          <p:cNvSpPr/>
          <p:nvPr/>
        </p:nvSpPr>
        <p:spPr>
          <a:xfrm>
            <a:off x="3310128" y="1801368"/>
            <a:ext cx="2395728" cy="241402"/>
          </a:xfrm>
          <a:prstGeom prst="rect">
            <a:avLst/>
          </a:prstGeom>
          <a:solidFill>
            <a:srgbClr val="C9A84C"/>
          </a:solidFill>
          <a:ln w="12700">
            <a:solidFill>
              <a:srgbClr val="C9A84C"/>
            </a:solidFill>
            <a:prstDash val="solid"/>
          </a:ln>
        </p:spPr>
      </p:sp>
      <p:sp>
        <p:nvSpPr>
          <p:cNvPr id="40" name="Shape 37"/>
          <p:cNvSpPr/>
          <p:nvPr/>
        </p:nvSpPr>
        <p:spPr>
          <a:xfrm>
            <a:off x="457200" y="2139696"/>
            <a:ext cx="2788920" cy="438912"/>
          </a:xfrm>
          <a:prstGeom prst="rect">
            <a:avLst/>
          </a:prstGeom>
          <a:solidFill>
            <a:srgbClr val="FFFFFF"/>
          </a:solidFill>
          <a:ln w="12700">
            <a:solidFill>
              <a:srgbClr val="D1D5DB"/>
            </a:solidFill>
            <a:prstDash val="solid"/>
          </a:ln>
        </p:spPr>
      </p:sp>
      <p:sp>
        <p:nvSpPr>
          <p:cNvPr id="41" name="Text 38"/>
          <p:cNvSpPr/>
          <p:nvPr/>
        </p:nvSpPr>
        <p:spPr>
          <a:xfrm>
            <a:off x="548640" y="2258568"/>
            <a:ext cx="2651760" cy="219456"/>
          </a:xfrm>
          <a:prstGeom prst="rect">
            <a:avLst/>
          </a:prstGeom>
          <a:noFill/>
          <a:ln/>
        </p:spPr>
        <p:txBody>
          <a:bodyPr wrap="square" rtlCol="0" anchor="ctr"/>
          <a:lstStyle/>
          <a:p>
            <a:pPr indent="0" marL="0">
              <a:buNone/>
            </a:pPr>
            <a:r>
              <a:rPr lang="en-US" sz="950" dirty="0">
                <a:solidFill>
                  <a:srgbClr val="374151"/>
                </a:solidFill>
                <a:latin typeface="Calibri" pitchFamily="34" charset="0"/>
                <a:ea typeface="Calibri" pitchFamily="34" charset="-122"/>
                <a:cs typeface="Calibri" pitchFamily="34" charset="-120"/>
              </a:rPr>
              <a:t>Team Assignment &amp; Orientation</a:t>
            </a:r>
            <a:endParaRPr lang="en-US" sz="950" dirty="0"/>
          </a:p>
        </p:txBody>
      </p:sp>
      <p:sp>
        <p:nvSpPr>
          <p:cNvPr id="42" name="Shape 39"/>
          <p:cNvSpPr/>
          <p:nvPr/>
        </p:nvSpPr>
        <p:spPr>
          <a:xfrm>
            <a:off x="3246120" y="2139696"/>
            <a:ext cx="1261872" cy="438912"/>
          </a:xfrm>
          <a:prstGeom prst="rect">
            <a:avLst/>
          </a:prstGeom>
          <a:solidFill>
            <a:srgbClr val="FFFFFF"/>
          </a:solidFill>
          <a:ln w="12700">
            <a:solidFill>
              <a:srgbClr val="D1D5DB"/>
            </a:solidFill>
            <a:prstDash val="solid"/>
          </a:ln>
        </p:spPr>
      </p:sp>
      <p:sp>
        <p:nvSpPr>
          <p:cNvPr id="43" name="Shape 40"/>
          <p:cNvSpPr/>
          <p:nvPr/>
        </p:nvSpPr>
        <p:spPr>
          <a:xfrm>
            <a:off x="4507992" y="2139696"/>
            <a:ext cx="1261872" cy="438912"/>
          </a:xfrm>
          <a:prstGeom prst="rect">
            <a:avLst/>
          </a:prstGeom>
          <a:solidFill>
            <a:srgbClr val="FFFFFF"/>
          </a:solidFill>
          <a:ln w="12700">
            <a:solidFill>
              <a:srgbClr val="D1D5DB"/>
            </a:solidFill>
            <a:prstDash val="solid"/>
          </a:ln>
        </p:spPr>
      </p:sp>
      <p:sp>
        <p:nvSpPr>
          <p:cNvPr id="44" name="Shape 41"/>
          <p:cNvSpPr/>
          <p:nvPr/>
        </p:nvSpPr>
        <p:spPr>
          <a:xfrm>
            <a:off x="5769864" y="2139696"/>
            <a:ext cx="1261872" cy="438912"/>
          </a:xfrm>
          <a:prstGeom prst="rect">
            <a:avLst/>
          </a:prstGeom>
          <a:solidFill>
            <a:srgbClr val="FFFFFF"/>
          </a:solidFill>
          <a:ln w="12700">
            <a:solidFill>
              <a:srgbClr val="D1D5DB"/>
            </a:solidFill>
            <a:prstDash val="solid"/>
          </a:ln>
        </p:spPr>
      </p:sp>
      <p:sp>
        <p:nvSpPr>
          <p:cNvPr id="45" name="Shape 42"/>
          <p:cNvSpPr/>
          <p:nvPr/>
        </p:nvSpPr>
        <p:spPr>
          <a:xfrm>
            <a:off x="7031736" y="2139696"/>
            <a:ext cx="1261872" cy="438912"/>
          </a:xfrm>
          <a:prstGeom prst="rect">
            <a:avLst/>
          </a:prstGeom>
          <a:solidFill>
            <a:srgbClr val="FFFFFF"/>
          </a:solidFill>
          <a:ln w="12700">
            <a:solidFill>
              <a:srgbClr val="D1D5DB"/>
            </a:solidFill>
            <a:prstDash val="solid"/>
          </a:ln>
        </p:spPr>
      </p:sp>
      <p:sp>
        <p:nvSpPr>
          <p:cNvPr id="46" name="Shape 43"/>
          <p:cNvSpPr/>
          <p:nvPr/>
        </p:nvSpPr>
        <p:spPr>
          <a:xfrm>
            <a:off x="8293608" y="2139696"/>
            <a:ext cx="1261872" cy="438912"/>
          </a:xfrm>
          <a:prstGeom prst="rect">
            <a:avLst/>
          </a:prstGeom>
          <a:solidFill>
            <a:srgbClr val="FFFFFF"/>
          </a:solidFill>
          <a:ln w="12700">
            <a:solidFill>
              <a:srgbClr val="D1D5DB"/>
            </a:solidFill>
            <a:prstDash val="solid"/>
          </a:ln>
        </p:spPr>
      </p:sp>
      <p:sp>
        <p:nvSpPr>
          <p:cNvPr id="47" name="Shape 44"/>
          <p:cNvSpPr/>
          <p:nvPr/>
        </p:nvSpPr>
        <p:spPr>
          <a:xfrm>
            <a:off x="9555480" y="2139696"/>
            <a:ext cx="1261872" cy="438912"/>
          </a:xfrm>
          <a:prstGeom prst="rect">
            <a:avLst/>
          </a:prstGeom>
          <a:solidFill>
            <a:srgbClr val="FFFFFF"/>
          </a:solidFill>
          <a:ln w="12700">
            <a:solidFill>
              <a:srgbClr val="D1D5DB"/>
            </a:solidFill>
            <a:prstDash val="solid"/>
          </a:ln>
        </p:spPr>
      </p:sp>
      <p:sp>
        <p:nvSpPr>
          <p:cNvPr id="48" name="Shape 45"/>
          <p:cNvSpPr/>
          <p:nvPr/>
        </p:nvSpPr>
        <p:spPr>
          <a:xfrm>
            <a:off x="4572000" y="2240280"/>
            <a:ext cx="1133856" cy="241402"/>
          </a:xfrm>
          <a:prstGeom prst="rect">
            <a:avLst/>
          </a:prstGeom>
          <a:solidFill>
            <a:srgbClr val="C9A84C"/>
          </a:solidFill>
          <a:ln w="12700">
            <a:solidFill>
              <a:srgbClr val="C9A84C"/>
            </a:solidFill>
            <a:prstDash val="solid"/>
          </a:ln>
        </p:spPr>
      </p:sp>
      <p:sp>
        <p:nvSpPr>
          <p:cNvPr id="49" name="Shape 46"/>
          <p:cNvSpPr/>
          <p:nvPr/>
        </p:nvSpPr>
        <p:spPr>
          <a:xfrm>
            <a:off x="457200" y="2578608"/>
            <a:ext cx="2788920" cy="438912"/>
          </a:xfrm>
          <a:prstGeom prst="rect">
            <a:avLst/>
          </a:prstGeom>
          <a:solidFill>
            <a:srgbClr val="F4F7FB"/>
          </a:solidFill>
          <a:ln w="12700">
            <a:solidFill>
              <a:srgbClr val="D1D5DB"/>
            </a:solidFill>
            <a:prstDash val="solid"/>
          </a:ln>
        </p:spPr>
      </p:sp>
      <p:sp>
        <p:nvSpPr>
          <p:cNvPr id="50" name="Text 47"/>
          <p:cNvSpPr/>
          <p:nvPr/>
        </p:nvSpPr>
        <p:spPr>
          <a:xfrm>
            <a:off x="548640" y="2697480"/>
            <a:ext cx="2651760" cy="219456"/>
          </a:xfrm>
          <a:prstGeom prst="rect">
            <a:avLst/>
          </a:prstGeom>
          <a:noFill/>
          <a:ln/>
        </p:spPr>
        <p:txBody>
          <a:bodyPr wrap="square" rtlCol="0" anchor="ctr"/>
          <a:lstStyle/>
          <a:p>
            <a:pPr indent="0" marL="0">
              <a:buNone/>
            </a:pPr>
            <a:r>
              <a:rPr lang="en-US" sz="950" dirty="0">
                <a:solidFill>
                  <a:srgbClr val="374151"/>
                </a:solidFill>
                <a:latin typeface="Calibri" pitchFamily="34" charset="0"/>
                <a:ea typeface="Calibri" pitchFamily="34" charset="-122"/>
                <a:cs typeface="Calibri" pitchFamily="34" charset="-120"/>
              </a:rPr>
              <a:t>Service Launch</a:t>
            </a:r>
            <a:endParaRPr lang="en-US" sz="950" dirty="0"/>
          </a:p>
        </p:txBody>
      </p:sp>
      <p:sp>
        <p:nvSpPr>
          <p:cNvPr id="51" name="Shape 48"/>
          <p:cNvSpPr/>
          <p:nvPr/>
        </p:nvSpPr>
        <p:spPr>
          <a:xfrm>
            <a:off x="3246120" y="2578608"/>
            <a:ext cx="1261872" cy="438912"/>
          </a:xfrm>
          <a:prstGeom prst="rect">
            <a:avLst/>
          </a:prstGeom>
          <a:solidFill>
            <a:srgbClr val="F4F7FB"/>
          </a:solidFill>
          <a:ln w="12700">
            <a:solidFill>
              <a:srgbClr val="D1D5DB"/>
            </a:solidFill>
            <a:prstDash val="solid"/>
          </a:ln>
        </p:spPr>
      </p:sp>
      <p:sp>
        <p:nvSpPr>
          <p:cNvPr id="52" name="Shape 49"/>
          <p:cNvSpPr/>
          <p:nvPr/>
        </p:nvSpPr>
        <p:spPr>
          <a:xfrm>
            <a:off x="4507992" y="2578608"/>
            <a:ext cx="1261872" cy="438912"/>
          </a:xfrm>
          <a:prstGeom prst="rect">
            <a:avLst/>
          </a:prstGeom>
          <a:solidFill>
            <a:srgbClr val="F4F7FB"/>
          </a:solidFill>
          <a:ln w="12700">
            <a:solidFill>
              <a:srgbClr val="D1D5DB"/>
            </a:solidFill>
            <a:prstDash val="solid"/>
          </a:ln>
        </p:spPr>
      </p:sp>
      <p:sp>
        <p:nvSpPr>
          <p:cNvPr id="53" name="Shape 50"/>
          <p:cNvSpPr/>
          <p:nvPr/>
        </p:nvSpPr>
        <p:spPr>
          <a:xfrm>
            <a:off x="5769864" y="2578608"/>
            <a:ext cx="1261872" cy="438912"/>
          </a:xfrm>
          <a:prstGeom prst="rect">
            <a:avLst/>
          </a:prstGeom>
          <a:solidFill>
            <a:srgbClr val="F4F7FB"/>
          </a:solidFill>
          <a:ln w="12700">
            <a:solidFill>
              <a:srgbClr val="D1D5DB"/>
            </a:solidFill>
            <a:prstDash val="solid"/>
          </a:ln>
        </p:spPr>
      </p:sp>
      <p:sp>
        <p:nvSpPr>
          <p:cNvPr id="54" name="Shape 51"/>
          <p:cNvSpPr/>
          <p:nvPr/>
        </p:nvSpPr>
        <p:spPr>
          <a:xfrm>
            <a:off x="7031736" y="2578608"/>
            <a:ext cx="1261872" cy="438912"/>
          </a:xfrm>
          <a:prstGeom prst="rect">
            <a:avLst/>
          </a:prstGeom>
          <a:solidFill>
            <a:srgbClr val="F4F7FB"/>
          </a:solidFill>
          <a:ln w="12700">
            <a:solidFill>
              <a:srgbClr val="D1D5DB"/>
            </a:solidFill>
            <a:prstDash val="solid"/>
          </a:ln>
        </p:spPr>
      </p:sp>
      <p:sp>
        <p:nvSpPr>
          <p:cNvPr id="55" name="Shape 52"/>
          <p:cNvSpPr/>
          <p:nvPr/>
        </p:nvSpPr>
        <p:spPr>
          <a:xfrm>
            <a:off x="8293608" y="2578608"/>
            <a:ext cx="1261872" cy="438912"/>
          </a:xfrm>
          <a:prstGeom prst="rect">
            <a:avLst/>
          </a:prstGeom>
          <a:solidFill>
            <a:srgbClr val="F4F7FB"/>
          </a:solidFill>
          <a:ln w="12700">
            <a:solidFill>
              <a:srgbClr val="D1D5DB"/>
            </a:solidFill>
            <a:prstDash val="solid"/>
          </a:ln>
        </p:spPr>
      </p:sp>
      <p:sp>
        <p:nvSpPr>
          <p:cNvPr id="56" name="Shape 53"/>
          <p:cNvSpPr/>
          <p:nvPr/>
        </p:nvSpPr>
        <p:spPr>
          <a:xfrm>
            <a:off x="9555480" y="2578608"/>
            <a:ext cx="1261872" cy="438912"/>
          </a:xfrm>
          <a:prstGeom prst="rect">
            <a:avLst/>
          </a:prstGeom>
          <a:solidFill>
            <a:srgbClr val="F4F7FB"/>
          </a:solidFill>
          <a:ln w="12700">
            <a:solidFill>
              <a:srgbClr val="D1D5DB"/>
            </a:solidFill>
            <a:prstDash val="solid"/>
          </a:ln>
        </p:spPr>
      </p:sp>
      <p:sp>
        <p:nvSpPr>
          <p:cNvPr id="57" name="Shape 54"/>
          <p:cNvSpPr/>
          <p:nvPr/>
        </p:nvSpPr>
        <p:spPr>
          <a:xfrm>
            <a:off x="5833872" y="2679192"/>
            <a:ext cx="1133856" cy="241402"/>
          </a:xfrm>
          <a:prstGeom prst="rect">
            <a:avLst/>
          </a:prstGeom>
          <a:solidFill>
            <a:srgbClr val="0D1F3C"/>
          </a:solidFill>
          <a:ln w="12700">
            <a:solidFill>
              <a:srgbClr val="0D1F3C"/>
            </a:solidFill>
            <a:prstDash val="solid"/>
          </a:ln>
        </p:spPr>
      </p:sp>
      <p:sp>
        <p:nvSpPr>
          <p:cNvPr id="58" name="Shape 55"/>
          <p:cNvSpPr/>
          <p:nvPr/>
        </p:nvSpPr>
        <p:spPr>
          <a:xfrm>
            <a:off x="457200" y="3017520"/>
            <a:ext cx="2788920" cy="438912"/>
          </a:xfrm>
          <a:prstGeom prst="rect">
            <a:avLst/>
          </a:prstGeom>
          <a:solidFill>
            <a:srgbClr val="FFFFFF"/>
          </a:solidFill>
          <a:ln w="12700">
            <a:solidFill>
              <a:srgbClr val="D1D5DB"/>
            </a:solidFill>
            <a:prstDash val="solid"/>
          </a:ln>
        </p:spPr>
      </p:sp>
      <p:sp>
        <p:nvSpPr>
          <p:cNvPr id="59" name="Text 56"/>
          <p:cNvSpPr/>
          <p:nvPr/>
        </p:nvSpPr>
        <p:spPr>
          <a:xfrm>
            <a:off x="548640" y="3136392"/>
            <a:ext cx="2651760" cy="219456"/>
          </a:xfrm>
          <a:prstGeom prst="rect">
            <a:avLst/>
          </a:prstGeom>
          <a:noFill/>
          <a:ln/>
        </p:spPr>
        <p:txBody>
          <a:bodyPr wrap="square" rtlCol="0" anchor="ctr"/>
          <a:lstStyle/>
          <a:p>
            <a:pPr indent="0" marL="0">
              <a:buNone/>
            </a:pPr>
            <a:r>
              <a:rPr lang="en-US" sz="950" dirty="0">
                <a:solidFill>
                  <a:srgbClr val="374151"/>
                </a:solidFill>
                <a:latin typeface="Calibri" pitchFamily="34" charset="0"/>
                <a:ea typeface="Calibri" pitchFamily="34" charset="-122"/>
                <a:cs typeface="Calibri" pitchFamily="34" charset="-120"/>
              </a:rPr>
              <a:t>Daily Supervisor Check-Ins</a:t>
            </a:r>
            <a:endParaRPr lang="en-US" sz="950" dirty="0"/>
          </a:p>
        </p:txBody>
      </p:sp>
      <p:sp>
        <p:nvSpPr>
          <p:cNvPr id="60" name="Shape 57"/>
          <p:cNvSpPr/>
          <p:nvPr/>
        </p:nvSpPr>
        <p:spPr>
          <a:xfrm>
            <a:off x="3246120" y="3017520"/>
            <a:ext cx="1261872" cy="438912"/>
          </a:xfrm>
          <a:prstGeom prst="rect">
            <a:avLst/>
          </a:prstGeom>
          <a:solidFill>
            <a:srgbClr val="FFFFFF"/>
          </a:solidFill>
          <a:ln w="12700">
            <a:solidFill>
              <a:srgbClr val="D1D5DB"/>
            </a:solidFill>
            <a:prstDash val="solid"/>
          </a:ln>
        </p:spPr>
      </p:sp>
      <p:sp>
        <p:nvSpPr>
          <p:cNvPr id="61" name="Shape 58"/>
          <p:cNvSpPr/>
          <p:nvPr/>
        </p:nvSpPr>
        <p:spPr>
          <a:xfrm>
            <a:off x="4507992" y="3017520"/>
            <a:ext cx="1261872" cy="438912"/>
          </a:xfrm>
          <a:prstGeom prst="rect">
            <a:avLst/>
          </a:prstGeom>
          <a:solidFill>
            <a:srgbClr val="FFFFFF"/>
          </a:solidFill>
          <a:ln w="12700">
            <a:solidFill>
              <a:srgbClr val="D1D5DB"/>
            </a:solidFill>
            <a:prstDash val="solid"/>
          </a:ln>
        </p:spPr>
      </p:sp>
      <p:sp>
        <p:nvSpPr>
          <p:cNvPr id="62" name="Shape 59"/>
          <p:cNvSpPr/>
          <p:nvPr/>
        </p:nvSpPr>
        <p:spPr>
          <a:xfrm>
            <a:off x="5769864" y="3017520"/>
            <a:ext cx="1261872" cy="438912"/>
          </a:xfrm>
          <a:prstGeom prst="rect">
            <a:avLst/>
          </a:prstGeom>
          <a:solidFill>
            <a:srgbClr val="FFFFFF"/>
          </a:solidFill>
          <a:ln w="12700">
            <a:solidFill>
              <a:srgbClr val="D1D5DB"/>
            </a:solidFill>
            <a:prstDash val="solid"/>
          </a:ln>
        </p:spPr>
      </p:sp>
      <p:sp>
        <p:nvSpPr>
          <p:cNvPr id="63" name="Shape 60"/>
          <p:cNvSpPr/>
          <p:nvPr/>
        </p:nvSpPr>
        <p:spPr>
          <a:xfrm>
            <a:off x="7031736" y="3017520"/>
            <a:ext cx="1261872" cy="438912"/>
          </a:xfrm>
          <a:prstGeom prst="rect">
            <a:avLst/>
          </a:prstGeom>
          <a:solidFill>
            <a:srgbClr val="FFFFFF"/>
          </a:solidFill>
          <a:ln w="12700">
            <a:solidFill>
              <a:srgbClr val="D1D5DB"/>
            </a:solidFill>
            <a:prstDash val="solid"/>
          </a:ln>
        </p:spPr>
      </p:sp>
      <p:sp>
        <p:nvSpPr>
          <p:cNvPr id="64" name="Shape 61"/>
          <p:cNvSpPr/>
          <p:nvPr/>
        </p:nvSpPr>
        <p:spPr>
          <a:xfrm>
            <a:off x="8293608" y="3017520"/>
            <a:ext cx="1261872" cy="438912"/>
          </a:xfrm>
          <a:prstGeom prst="rect">
            <a:avLst/>
          </a:prstGeom>
          <a:solidFill>
            <a:srgbClr val="FFFFFF"/>
          </a:solidFill>
          <a:ln w="12700">
            <a:solidFill>
              <a:srgbClr val="D1D5DB"/>
            </a:solidFill>
            <a:prstDash val="solid"/>
          </a:ln>
        </p:spPr>
      </p:sp>
      <p:sp>
        <p:nvSpPr>
          <p:cNvPr id="65" name="Shape 62"/>
          <p:cNvSpPr/>
          <p:nvPr/>
        </p:nvSpPr>
        <p:spPr>
          <a:xfrm>
            <a:off x="9555480" y="3017520"/>
            <a:ext cx="1261872" cy="438912"/>
          </a:xfrm>
          <a:prstGeom prst="rect">
            <a:avLst/>
          </a:prstGeom>
          <a:solidFill>
            <a:srgbClr val="FFFFFF"/>
          </a:solidFill>
          <a:ln w="12700">
            <a:solidFill>
              <a:srgbClr val="D1D5DB"/>
            </a:solidFill>
            <a:prstDash val="solid"/>
          </a:ln>
        </p:spPr>
      </p:sp>
      <p:sp>
        <p:nvSpPr>
          <p:cNvPr id="66" name="Shape 63"/>
          <p:cNvSpPr/>
          <p:nvPr/>
        </p:nvSpPr>
        <p:spPr>
          <a:xfrm>
            <a:off x="5833872" y="3118104"/>
            <a:ext cx="2395728" cy="241402"/>
          </a:xfrm>
          <a:prstGeom prst="rect">
            <a:avLst/>
          </a:prstGeom>
          <a:solidFill>
            <a:srgbClr val="0D1F3C"/>
          </a:solidFill>
          <a:ln w="12700">
            <a:solidFill>
              <a:srgbClr val="0D1F3C"/>
            </a:solidFill>
            <a:prstDash val="solid"/>
          </a:ln>
        </p:spPr>
      </p:sp>
      <p:sp>
        <p:nvSpPr>
          <p:cNvPr id="67" name="Shape 64"/>
          <p:cNvSpPr/>
          <p:nvPr/>
        </p:nvSpPr>
        <p:spPr>
          <a:xfrm>
            <a:off x="457200" y="3456432"/>
            <a:ext cx="2788920" cy="438912"/>
          </a:xfrm>
          <a:prstGeom prst="rect">
            <a:avLst/>
          </a:prstGeom>
          <a:solidFill>
            <a:srgbClr val="F4F7FB"/>
          </a:solidFill>
          <a:ln w="12700">
            <a:solidFill>
              <a:srgbClr val="D1D5DB"/>
            </a:solidFill>
            <a:prstDash val="solid"/>
          </a:ln>
        </p:spPr>
      </p:sp>
      <p:sp>
        <p:nvSpPr>
          <p:cNvPr id="68" name="Text 65"/>
          <p:cNvSpPr/>
          <p:nvPr/>
        </p:nvSpPr>
        <p:spPr>
          <a:xfrm>
            <a:off x="548640" y="3575304"/>
            <a:ext cx="2651760" cy="219456"/>
          </a:xfrm>
          <a:prstGeom prst="rect">
            <a:avLst/>
          </a:prstGeom>
          <a:noFill/>
          <a:ln/>
        </p:spPr>
        <p:txBody>
          <a:bodyPr wrap="square" rtlCol="0" anchor="ctr"/>
          <a:lstStyle/>
          <a:p>
            <a:pPr indent="0" marL="0">
              <a:buNone/>
            </a:pPr>
            <a:r>
              <a:rPr lang="en-US" sz="950" dirty="0">
                <a:solidFill>
                  <a:srgbClr val="374151"/>
                </a:solidFill>
                <a:latin typeface="Calibri" pitchFamily="34" charset="0"/>
                <a:ea typeface="Calibri" pitchFamily="34" charset="-122"/>
                <a:cs typeface="Calibri" pitchFamily="34" charset="-120"/>
              </a:rPr>
              <a:t>OrangeQC Baseline Report</a:t>
            </a:r>
            <a:endParaRPr lang="en-US" sz="950" dirty="0"/>
          </a:p>
        </p:txBody>
      </p:sp>
      <p:sp>
        <p:nvSpPr>
          <p:cNvPr id="69" name="Shape 66"/>
          <p:cNvSpPr/>
          <p:nvPr/>
        </p:nvSpPr>
        <p:spPr>
          <a:xfrm>
            <a:off x="3246120" y="3456432"/>
            <a:ext cx="1261872" cy="438912"/>
          </a:xfrm>
          <a:prstGeom prst="rect">
            <a:avLst/>
          </a:prstGeom>
          <a:solidFill>
            <a:srgbClr val="F4F7FB"/>
          </a:solidFill>
          <a:ln w="12700">
            <a:solidFill>
              <a:srgbClr val="D1D5DB"/>
            </a:solidFill>
            <a:prstDash val="solid"/>
          </a:ln>
        </p:spPr>
      </p:sp>
      <p:sp>
        <p:nvSpPr>
          <p:cNvPr id="70" name="Shape 67"/>
          <p:cNvSpPr/>
          <p:nvPr/>
        </p:nvSpPr>
        <p:spPr>
          <a:xfrm>
            <a:off x="4507992" y="3456432"/>
            <a:ext cx="1261872" cy="438912"/>
          </a:xfrm>
          <a:prstGeom prst="rect">
            <a:avLst/>
          </a:prstGeom>
          <a:solidFill>
            <a:srgbClr val="F4F7FB"/>
          </a:solidFill>
          <a:ln w="12700">
            <a:solidFill>
              <a:srgbClr val="D1D5DB"/>
            </a:solidFill>
            <a:prstDash val="solid"/>
          </a:ln>
        </p:spPr>
      </p:sp>
      <p:sp>
        <p:nvSpPr>
          <p:cNvPr id="71" name="Shape 68"/>
          <p:cNvSpPr/>
          <p:nvPr/>
        </p:nvSpPr>
        <p:spPr>
          <a:xfrm>
            <a:off x="5769864" y="3456432"/>
            <a:ext cx="1261872" cy="438912"/>
          </a:xfrm>
          <a:prstGeom prst="rect">
            <a:avLst/>
          </a:prstGeom>
          <a:solidFill>
            <a:srgbClr val="F4F7FB"/>
          </a:solidFill>
          <a:ln w="12700">
            <a:solidFill>
              <a:srgbClr val="D1D5DB"/>
            </a:solidFill>
            <a:prstDash val="solid"/>
          </a:ln>
        </p:spPr>
      </p:sp>
      <p:sp>
        <p:nvSpPr>
          <p:cNvPr id="72" name="Shape 69"/>
          <p:cNvSpPr/>
          <p:nvPr/>
        </p:nvSpPr>
        <p:spPr>
          <a:xfrm>
            <a:off x="7031736" y="3456432"/>
            <a:ext cx="1261872" cy="438912"/>
          </a:xfrm>
          <a:prstGeom prst="rect">
            <a:avLst/>
          </a:prstGeom>
          <a:solidFill>
            <a:srgbClr val="F4F7FB"/>
          </a:solidFill>
          <a:ln w="12700">
            <a:solidFill>
              <a:srgbClr val="D1D5DB"/>
            </a:solidFill>
            <a:prstDash val="solid"/>
          </a:ln>
        </p:spPr>
      </p:sp>
      <p:sp>
        <p:nvSpPr>
          <p:cNvPr id="73" name="Shape 70"/>
          <p:cNvSpPr/>
          <p:nvPr/>
        </p:nvSpPr>
        <p:spPr>
          <a:xfrm>
            <a:off x="8293608" y="3456432"/>
            <a:ext cx="1261872" cy="438912"/>
          </a:xfrm>
          <a:prstGeom prst="rect">
            <a:avLst/>
          </a:prstGeom>
          <a:solidFill>
            <a:srgbClr val="F4F7FB"/>
          </a:solidFill>
          <a:ln w="12700">
            <a:solidFill>
              <a:srgbClr val="D1D5DB"/>
            </a:solidFill>
            <a:prstDash val="solid"/>
          </a:ln>
        </p:spPr>
      </p:sp>
      <p:sp>
        <p:nvSpPr>
          <p:cNvPr id="74" name="Shape 71"/>
          <p:cNvSpPr/>
          <p:nvPr/>
        </p:nvSpPr>
        <p:spPr>
          <a:xfrm>
            <a:off x="9555480" y="3456432"/>
            <a:ext cx="1261872" cy="438912"/>
          </a:xfrm>
          <a:prstGeom prst="rect">
            <a:avLst/>
          </a:prstGeom>
          <a:solidFill>
            <a:srgbClr val="F4F7FB"/>
          </a:solidFill>
          <a:ln w="12700">
            <a:solidFill>
              <a:srgbClr val="D1D5DB"/>
            </a:solidFill>
            <a:prstDash val="solid"/>
          </a:ln>
        </p:spPr>
      </p:sp>
      <p:sp>
        <p:nvSpPr>
          <p:cNvPr id="75" name="Shape 72"/>
          <p:cNvSpPr/>
          <p:nvPr/>
        </p:nvSpPr>
        <p:spPr>
          <a:xfrm>
            <a:off x="5833872" y="3557016"/>
            <a:ext cx="2395728" cy="241402"/>
          </a:xfrm>
          <a:prstGeom prst="rect">
            <a:avLst/>
          </a:prstGeom>
          <a:solidFill>
            <a:srgbClr val="0D1F3C"/>
          </a:solidFill>
          <a:ln w="12700">
            <a:solidFill>
              <a:srgbClr val="0D1F3C"/>
            </a:solidFill>
            <a:prstDash val="solid"/>
          </a:ln>
        </p:spPr>
      </p:sp>
      <p:sp>
        <p:nvSpPr>
          <p:cNvPr id="76" name="Shape 73"/>
          <p:cNvSpPr/>
          <p:nvPr/>
        </p:nvSpPr>
        <p:spPr>
          <a:xfrm>
            <a:off x="457200" y="3895344"/>
            <a:ext cx="2788920" cy="438912"/>
          </a:xfrm>
          <a:prstGeom prst="rect">
            <a:avLst/>
          </a:prstGeom>
          <a:solidFill>
            <a:srgbClr val="FFFFFF"/>
          </a:solidFill>
          <a:ln w="12700">
            <a:solidFill>
              <a:srgbClr val="D1D5DB"/>
            </a:solidFill>
            <a:prstDash val="solid"/>
          </a:ln>
        </p:spPr>
      </p:sp>
      <p:sp>
        <p:nvSpPr>
          <p:cNvPr id="77" name="Text 74"/>
          <p:cNvSpPr/>
          <p:nvPr/>
        </p:nvSpPr>
        <p:spPr>
          <a:xfrm>
            <a:off x="548640" y="4014216"/>
            <a:ext cx="2651760" cy="219456"/>
          </a:xfrm>
          <a:prstGeom prst="rect">
            <a:avLst/>
          </a:prstGeom>
          <a:noFill/>
          <a:ln/>
        </p:spPr>
        <p:txBody>
          <a:bodyPr wrap="square" rtlCol="0" anchor="ctr"/>
          <a:lstStyle/>
          <a:p>
            <a:pPr indent="0" marL="0">
              <a:buNone/>
            </a:pPr>
            <a:r>
              <a:rPr lang="en-US" sz="950" dirty="0">
                <a:solidFill>
                  <a:srgbClr val="374151"/>
                </a:solidFill>
                <a:latin typeface="Calibri" pitchFamily="34" charset="0"/>
                <a:ea typeface="Calibri" pitchFamily="34" charset="-122"/>
                <a:cs typeface="Calibri" pitchFamily="34" charset="-120"/>
              </a:rPr>
              <a:t>30-Day Review Call</a:t>
            </a:r>
            <a:endParaRPr lang="en-US" sz="950" dirty="0"/>
          </a:p>
        </p:txBody>
      </p:sp>
      <p:sp>
        <p:nvSpPr>
          <p:cNvPr id="78" name="Shape 75"/>
          <p:cNvSpPr/>
          <p:nvPr/>
        </p:nvSpPr>
        <p:spPr>
          <a:xfrm>
            <a:off x="3246120" y="3895344"/>
            <a:ext cx="1261872" cy="438912"/>
          </a:xfrm>
          <a:prstGeom prst="rect">
            <a:avLst/>
          </a:prstGeom>
          <a:solidFill>
            <a:srgbClr val="FFFFFF"/>
          </a:solidFill>
          <a:ln w="12700">
            <a:solidFill>
              <a:srgbClr val="D1D5DB"/>
            </a:solidFill>
            <a:prstDash val="solid"/>
          </a:ln>
        </p:spPr>
      </p:sp>
      <p:sp>
        <p:nvSpPr>
          <p:cNvPr id="79" name="Shape 76"/>
          <p:cNvSpPr/>
          <p:nvPr/>
        </p:nvSpPr>
        <p:spPr>
          <a:xfrm>
            <a:off x="4507992" y="3895344"/>
            <a:ext cx="1261872" cy="438912"/>
          </a:xfrm>
          <a:prstGeom prst="rect">
            <a:avLst/>
          </a:prstGeom>
          <a:solidFill>
            <a:srgbClr val="FFFFFF"/>
          </a:solidFill>
          <a:ln w="12700">
            <a:solidFill>
              <a:srgbClr val="D1D5DB"/>
            </a:solidFill>
            <a:prstDash val="solid"/>
          </a:ln>
        </p:spPr>
      </p:sp>
      <p:sp>
        <p:nvSpPr>
          <p:cNvPr id="80" name="Shape 77"/>
          <p:cNvSpPr/>
          <p:nvPr/>
        </p:nvSpPr>
        <p:spPr>
          <a:xfrm>
            <a:off x="5769864" y="3895344"/>
            <a:ext cx="1261872" cy="438912"/>
          </a:xfrm>
          <a:prstGeom prst="rect">
            <a:avLst/>
          </a:prstGeom>
          <a:solidFill>
            <a:srgbClr val="FFFFFF"/>
          </a:solidFill>
          <a:ln w="12700">
            <a:solidFill>
              <a:srgbClr val="D1D5DB"/>
            </a:solidFill>
            <a:prstDash val="solid"/>
          </a:ln>
        </p:spPr>
      </p:sp>
      <p:sp>
        <p:nvSpPr>
          <p:cNvPr id="81" name="Shape 78"/>
          <p:cNvSpPr/>
          <p:nvPr/>
        </p:nvSpPr>
        <p:spPr>
          <a:xfrm>
            <a:off x="7031736" y="3895344"/>
            <a:ext cx="1261872" cy="438912"/>
          </a:xfrm>
          <a:prstGeom prst="rect">
            <a:avLst/>
          </a:prstGeom>
          <a:solidFill>
            <a:srgbClr val="FFFFFF"/>
          </a:solidFill>
          <a:ln w="12700">
            <a:solidFill>
              <a:srgbClr val="D1D5DB"/>
            </a:solidFill>
            <a:prstDash val="solid"/>
          </a:ln>
        </p:spPr>
      </p:sp>
      <p:sp>
        <p:nvSpPr>
          <p:cNvPr id="82" name="Shape 79"/>
          <p:cNvSpPr/>
          <p:nvPr/>
        </p:nvSpPr>
        <p:spPr>
          <a:xfrm>
            <a:off x="8293608" y="3895344"/>
            <a:ext cx="1261872" cy="438912"/>
          </a:xfrm>
          <a:prstGeom prst="rect">
            <a:avLst/>
          </a:prstGeom>
          <a:solidFill>
            <a:srgbClr val="FFFFFF"/>
          </a:solidFill>
          <a:ln w="12700">
            <a:solidFill>
              <a:srgbClr val="D1D5DB"/>
            </a:solidFill>
            <a:prstDash val="solid"/>
          </a:ln>
        </p:spPr>
      </p:sp>
      <p:sp>
        <p:nvSpPr>
          <p:cNvPr id="83" name="Shape 80"/>
          <p:cNvSpPr/>
          <p:nvPr/>
        </p:nvSpPr>
        <p:spPr>
          <a:xfrm>
            <a:off x="9555480" y="3895344"/>
            <a:ext cx="1261872" cy="438912"/>
          </a:xfrm>
          <a:prstGeom prst="rect">
            <a:avLst/>
          </a:prstGeom>
          <a:solidFill>
            <a:srgbClr val="FFFFFF"/>
          </a:solidFill>
          <a:ln w="12700">
            <a:solidFill>
              <a:srgbClr val="D1D5DB"/>
            </a:solidFill>
            <a:prstDash val="solid"/>
          </a:ln>
        </p:spPr>
      </p:sp>
      <p:sp>
        <p:nvSpPr>
          <p:cNvPr id="84" name="Shape 81"/>
          <p:cNvSpPr/>
          <p:nvPr/>
        </p:nvSpPr>
        <p:spPr>
          <a:xfrm>
            <a:off x="8357616" y="3995928"/>
            <a:ext cx="1133856" cy="241402"/>
          </a:xfrm>
          <a:prstGeom prst="rect">
            <a:avLst/>
          </a:prstGeom>
          <a:solidFill>
            <a:srgbClr val="2E7D52"/>
          </a:solidFill>
          <a:ln w="12700">
            <a:solidFill>
              <a:srgbClr val="2E7D52"/>
            </a:solidFill>
            <a:prstDash val="solid"/>
          </a:ln>
        </p:spPr>
      </p:sp>
      <p:sp>
        <p:nvSpPr>
          <p:cNvPr id="85" name="Shape 82"/>
          <p:cNvSpPr/>
          <p:nvPr/>
        </p:nvSpPr>
        <p:spPr>
          <a:xfrm>
            <a:off x="457200" y="4334256"/>
            <a:ext cx="2788920" cy="438912"/>
          </a:xfrm>
          <a:prstGeom prst="rect">
            <a:avLst/>
          </a:prstGeom>
          <a:solidFill>
            <a:srgbClr val="F4F7FB"/>
          </a:solidFill>
          <a:ln w="12700">
            <a:solidFill>
              <a:srgbClr val="D1D5DB"/>
            </a:solidFill>
            <a:prstDash val="solid"/>
          </a:ln>
        </p:spPr>
      </p:sp>
      <p:sp>
        <p:nvSpPr>
          <p:cNvPr id="86" name="Text 83"/>
          <p:cNvSpPr/>
          <p:nvPr/>
        </p:nvSpPr>
        <p:spPr>
          <a:xfrm>
            <a:off x="548640" y="4453128"/>
            <a:ext cx="2651760" cy="219456"/>
          </a:xfrm>
          <a:prstGeom prst="rect">
            <a:avLst/>
          </a:prstGeom>
          <a:noFill/>
          <a:ln/>
        </p:spPr>
        <p:txBody>
          <a:bodyPr wrap="square" rtlCol="0" anchor="ctr"/>
          <a:lstStyle/>
          <a:p>
            <a:pPr indent="0" marL="0">
              <a:buNone/>
            </a:pPr>
            <a:r>
              <a:rPr lang="en-US" sz="950" dirty="0">
                <a:solidFill>
                  <a:srgbClr val="374151"/>
                </a:solidFill>
                <a:latin typeface="Calibri" pitchFamily="34" charset="0"/>
                <a:ea typeface="Calibri" pitchFamily="34" charset="-122"/>
                <a:cs typeface="Calibri" pitchFamily="34" charset="-120"/>
              </a:rPr>
              <a:t>90-Day QBR &amp; Scope Review</a:t>
            </a:r>
            <a:endParaRPr lang="en-US" sz="950" dirty="0"/>
          </a:p>
        </p:txBody>
      </p:sp>
      <p:sp>
        <p:nvSpPr>
          <p:cNvPr id="87" name="Shape 84"/>
          <p:cNvSpPr/>
          <p:nvPr/>
        </p:nvSpPr>
        <p:spPr>
          <a:xfrm>
            <a:off x="3246120" y="4334256"/>
            <a:ext cx="1261872" cy="438912"/>
          </a:xfrm>
          <a:prstGeom prst="rect">
            <a:avLst/>
          </a:prstGeom>
          <a:solidFill>
            <a:srgbClr val="F4F7FB"/>
          </a:solidFill>
          <a:ln w="12700">
            <a:solidFill>
              <a:srgbClr val="D1D5DB"/>
            </a:solidFill>
            <a:prstDash val="solid"/>
          </a:ln>
        </p:spPr>
      </p:sp>
      <p:sp>
        <p:nvSpPr>
          <p:cNvPr id="88" name="Shape 85"/>
          <p:cNvSpPr/>
          <p:nvPr/>
        </p:nvSpPr>
        <p:spPr>
          <a:xfrm>
            <a:off x="4507992" y="4334256"/>
            <a:ext cx="1261872" cy="438912"/>
          </a:xfrm>
          <a:prstGeom prst="rect">
            <a:avLst/>
          </a:prstGeom>
          <a:solidFill>
            <a:srgbClr val="F4F7FB"/>
          </a:solidFill>
          <a:ln w="12700">
            <a:solidFill>
              <a:srgbClr val="D1D5DB"/>
            </a:solidFill>
            <a:prstDash val="solid"/>
          </a:ln>
        </p:spPr>
      </p:sp>
      <p:sp>
        <p:nvSpPr>
          <p:cNvPr id="89" name="Shape 86"/>
          <p:cNvSpPr/>
          <p:nvPr/>
        </p:nvSpPr>
        <p:spPr>
          <a:xfrm>
            <a:off x="5769864" y="4334256"/>
            <a:ext cx="1261872" cy="438912"/>
          </a:xfrm>
          <a:prstGeom prst="rect">
            <a:avLst/>
          </a:prstGeom>
          <a:solidFill>
            <a:srgbClr val="F4F7FB"/>
          </a:solidFill>
          <a:ln w="12700">
            <a:solidFill>
              <a:srgbClr val="D1D5DB"/>
            </a:solidFill>
            <a:prstDash val="solid"/>
          </a:ln>
        </p:spPr>
      </p:sp>
      <p:sp>
        <p:nvSpPr>
          <p:cNvPr id="90" name="Shape 87"/>
          <p:cNvSpPr/>
          <p:nvPr/>
        </p:nvSpPr>
        <p:spPr>
          <a:xfrm>
            <a:off x="7031736" y="4334256"/>
            <a:ext cx="1261872" cy="438912"/>
          </a:xfrm>
          <a:prstGeom prst="rect">
            <a:avLst/>
          </a:prstGeom>
          <a:solidFill>
            <a:srgbClr val="F4F7FB"/>
          </a:solidFill>
          <a:ln w="12700">
            <a:solidFill>
              <a:srgbClr val="D1D5DB"/>
            </a:solidFill>
            <a:prstDash val="solid"/>
          </a:ln>
        </p:spPr>
      </p:sp>
      <p:sp>
        <p:nvSpPr>
          <p:cNvPr id="91" name="Shape 88"/>
          <p:cNvSpPr/>
          <p:nvPr/>
        </p:nvSpPr>
        <p:spPr>
          <a:xfrm>
            <a:off x="8293608" y="4334256"/>
            <a:ext cx="1261872" cy="438912"/>
          </a:xfrm>
          <a:prstGeom prst="rect">
            <a:avLst/>
          </a:prstGeom>
          <a:solidFill>
            <a:srgbClr val="F4F7FB"/>
          </a:solidFill>
          <a:ln w="12700">
            <a:solidFill>
              <a:srgbClr val="D1D5DB"/>
            </a:solidFill>
            <a:prstDash val="solid"/>
          </a:ln>
        </p:spPr>
      </p:sp>
      <p:sp>
        <p:nvSpPr>
          <p:cNvPr id="92" name="Shape 89"/>
          <p:cNvSpPr/>
          <p:nvPr/>
        </p:nvSpPr>
        <p:spPr>
          <a:xfrm>
            <a:off x="9555480" y="4334256"/>
            <a:ext cx="1261872" cy="438912"/>
          </a:xfrm>
          <a:prstGeom prst="rect">
            <a:avLst/>
          </a:prstGeom>
          <a:solidFill>
            <a:srgbClr val="F4F7FB"/>
          </a:solidFill>
          <a:ln w="12700">
            <a:solidFill>
              <a:srgbClr val="D1D5DB"/>
            </a:solidFill>
            <a:prstDash val="solid"/>
          </a:ln>
        </p:spPr>
      </p:sp>
      <p:sp>
        <p:nvSpPr>
          <p:cNvPr id="93" name="Shape 90"/>
          <p:cNvSpPr/>
          <p:nvPr/>
        </p:nvSpPr>
        <p:spPr>
          <a:xfrm>
            <a:off x="9619488" y="4434840"/>
            <a:ext cx="1133856" cy="241402"/>
          </a:xfrm>
          <a:prstGeom prst="rect">
            <a:avLst/>
          </a:prstGeom>
          <a:solidFill>
            <a:srgbClr val="2E7D52"/>
          </a:solidFill>
          <a:ln w="12700">
            <a:solidFill>
              <a:srgbClr val="2E7D52"/>
            </a:solidFill>
            <a:prstDash val="solid"/>
          </a:ln>
        </p:spPr>
      </p:sp>
      <p:sp>
        <p:nvSpPr>
          <p:cNvPr id="94" name="Shape 91"/>
          <p:cNvSpPr/>
          <p:nvPr/>
        </p:nvSpPr>
        <p:spPr>
          <a:xfrm>
            <a:off x="457200" y="4882896"/>
            <a:ext cx="219456" cy="137160"/>
          </a:xfrm>
          <a:prstGeom prst="rect">
            <a:avLst/>
          </a:prstGeom>
          <a:solidFill>
            <a:srgbClr val="C9A84C"/>
          </a:solidFill>
          <a:ln w="12700">
            <a:solidFill>
              <a:srgbClr val="C9A84C"/>
            </a:solidFill>
            <a:prstDash val="solid"/>
          </a:ln>
        </p:spPr>
      </p:sp>
      <p:sp>
        <p:nvSpPr>
          <p:cNvPr id="95" name="Text 92"/>
          <p:cNvSpPr/>
          <p:nvPr/>
        </p:nvSpPr>
        <p:spPr>
          <a:xfrm>
            <a:off x="749808" y="4873752"/>
            <a:ext cx="2194560" cy="164592"/>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Pre-Start</a:t>
            </a:r>
            <a:endParaRPr lang="en-US" sz="900" dirty="0"/>
          </a:p>
        </p:txBody>
      </p:sp>
      <p:sp>
        <p:nvSpPr>
          <p:cNvPr id="96" name="Shape 93"/>
          <p:cNvSpPr/>
          <p:nvPr/>
        </p:nvSpPr>
        <p:spPr>
          <a:xfrm>
            <a:off x="3200400" y="4882896"/>
            <a:ext cx="219456" cy="137160"/>
          </a:xfrm>
          <a:prstGeom prst="rect">
            <a:avLst/>
          </a:prstGeom>
          <a:solidFill>
            <a:srgbClr val="0D1F3C"/>
          </a:solidFill>
          <a:ln w="12700">
            <a:solidFill>
              <a:srgbClr val="0D1F3C"/>
            </a:solidFill>
            <a:prstDash val="solid"/>
          </a:ln>
        </p:spPr>
      </p:sp>
      <p:sp>
        <p:nvSpPr>
          <p:cNvPr id="97" name="Text 94"/>
          <p:cNvSpPr/>
          <p:nvPr/>
        </p:nvSpPr>
        <p:spPr>
          <a:xfrm>
            <a:off x="3493008" y="4873752"/>
            <a:ext cx="2194560" cy="164592"/>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Active Service</a:t>
            </a:r>
            <a:endParaRPr lang="en-US" sz="900" dirty="0"/>
          </a:p>
        </p:txBody>
      </p:sp>
      <p:sp>
        <p:nvSpPr>
          <p:cNvPr id="98" name="Shape 95"/>
          <p:cNvSpPr/>
          <p:nvPr/>
        </p:nvSpPr>
        <p:spPr>
          <a:xfrm>
            <a:off x="5943600" y="4882896"/>
            <a:ext cx="219456" cy="137160"/>
          </a:xfrm>
          <a:prstGeom prst="rect">
            <a:avLst/>
          </a:prstGeom>
          <a:solidFill>
            <a:srgbClr val="2E7D52"/>
          </a:solidFill>
          <a:ln w="12700">
            <a:solidFill>
              <a:srgbClr val="2E7D52"/>
            </a:solidFill>
            <a:prstDash val="solid"/>
          </a:ln>
        </p:spPr>
      </p:sp>
      <p:sp>
        <p:nvSpPr>
          <p:cNvPr id="99" name="Text 96"/>
          <p:cNvSpPr/>
          <p:nvPr/>
        </p:nvSpPr>
        <p:spPr>
          <a:xfrm>
            <a:off x="6236208" y="4873752"/>
            <a:ext cx="2194560" cy="164592"/>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Milestone Review</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0D1F3C"/>
          </a:solidFill>
          <a:ln w="12700">
            <a:solidFill>
              <a:srgbClr val="0D1F3C"/>
            </a:solidFill>
            <a:prstDash val="solid"/>
          </a:ln>
        </p:spPr>
      </p:sp>
      <p:sp>
        <p:nvSpPr>
          <p:cNvPr id="3" name="Text 1"/>
          <p:cNvSpPr/>
          <p:nvPr/>
        </p:nvSpPr>
        <p:spPr>
          <a:xfrm>
            <a:off x="457200" y="91440"/>
            <a:ext cx="7315200" cy="164592"/>
          </a:xfrm>
          <a:prstGeom prst="rect">
            <a:avLst/>
          </a:prstGeom>
          <a:noFill/>
          <a:ln/>
        </p:spPr>
        <p:txBody>
          <a:bodyPr wrap="square"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CLIENT TESTIMONIALS</a:t>
            </a:r>
            <a:endParaRPr lang="en-US" sz="700" dirty="0"/>
          </a:p>
        </p:txBody>
      </p:sp>
      <p:sp>
        <p:nvSpPr>
          <p:cNvPr id="4" name="Text 2"/>
          <p:cNvSpPr/>
          <p:nvPr/>
        </p:nvSpPr>
        <p:spPr>
          <a:xfrm>
            <a:off x="8686800" y="73152"/>
            <a:ext cx="365760" cy="164592"/>
          </a:xfrm>
          <a:prstGeom prst="rect">
            <a:avLst/>
          </a:prstGeom>
          <a:noFill/>
          <a:ln/>
        </p:spPr>
        <p:txBody>
          <a:bodyPr wrap="square"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8</a:t>
            </a:r>
            <a:endParaRPr lang="en-US" sz="800" dirty="0"/>
          </a:p>
        </p:txBody>
      </p:sp>
      <p:pic>
        <p:nvPicPr>
          <p:cNvPr id="5" name="Image 0" descr="./mdf_logo_white_bg.png">    </p:cNvPr>
          <p:cNvPicPr>
            <a:picLocks noChangeAspect="1"/>
          </p:cNvPicPr>
          <p:nvPr/>
        </p:nvPicPr>
        <p:blipFill>
          <a:blip r:embed="rId1"/>
          <a:stretch>
            <a:fillRect/>
          </a:stretch>
        </p:blipFill>
        <p:spPr>
          <a:xfrm>
            <a:off x="7973568" y="4663440"/>
            <a:ext cx="1051560" cy="402336"/>
          </a:xfrm>
          <a:prstGeom prst="rect">
            <a:avLst/>
          </a:prstGeom>
        </p:spPr>
      </p:pic>
      <p:sp>
        <p:nvSpPr>
          <p:cNvPr id="6" name="Text 3"/>
          <p:cNvSpPr/>
          <p:nvPr/>
        </p:nvSpPr>
        <p:spPr>
          <a:xfrm>
            <a:off x="457200" y="256032"/>
            <a:ext cx="6400800" cy="438912"/>
          </a:xfrm>
          <a:prstGeom prst="rect">
            <a:avLst/>
          </a:prstGeom>
          <a:noFill/>
          <a:ln/>
        </p:spPr>
        <p:txBody>
          <a:bodyPr wrap="square" rtlCol="0" anchor="ctr"/>
          <a:lstStyle/>
          <a:p>
            <a:pPr indent="0" marL="0">
              <a:buNone/>
            </a:pPr>
            <a:r>
              <a:rPr lang="en-US" sz="2400" b="1" dirty="0">
                <a:solidFill>
                  <a:srgbClr val="0D1F3C"/>
                </a:solidFill>
                <a:latin typeface="Trebuchet MS" pitchFamily="34" charset="0"/>
                <a:ea typeface="Trebuchet MS" pitchFamily="34" charset="-122"/>
                <a:cs typeface="Trebuchet MS" pitchFamily="34" charset="-120"/>
              </a:rPr>
              <a:t>What Our Clients Say.</a:t>
            </a:r>
            <a:endParaRPr lang="en-US" sz="2400" dirty="0"/>
          </a:p>
        </p:txBody>
      </p:sp>
      <p:sp>
        <p:nvSpPr>
          <p:cNvPr id="7" name="Text 4"/>
          <p:cNvSpPr/>
          <p:nvPr/>
        </p:nvSpPr>
        <p:spPr>
          <a:xfrm>
            <a:off x="457200" y="694944"/>
            <a:ext cx="6400800" cy="237744"/>
          </a:xfrm>
          <a:prstGeom prst="rect">
            <a:avLst/>
          </a:prstGeom>
          <a:noFill/>
          <a:ln/>
        </p:spPr>
        <p:txBody>
          <a:bodyPr wrap="square" rtlCol="0" anchor="ctr"/>
          <a:lstStyle/>
          <a:p>
            <a:pPr indent="0" marL="0">
              <a:buNone/>
            </a:pPr>
            <a:r>
              <a:rPr lang="en-US" sz="1200" dirty="0">
                <a:solidFill>
                  <a:srgbClr val="6B7280"/>
                </a:solidFill>
                <a:latin typeface="Calibri" pitchFamily="34" charset="0"/>
                <a:ea typeface="Calibri" pitchFamily="34" charset="-122"/>
                <a:cs typeface="Calibri" pitchFamily="34" charset="-120"/>
              </a:rPr>
              <a:t>Facilities that can't afford to get it wrong — and don't.</a:t>
            </a:r>
            <a:endParaRPr lang="en-US" sz="1200" dirty="0"/>
          </a:p>
        </p:txBody>
      </p:sp>
      <p:sp>
        <p:nvSpPr>
          <p:cNvPr id="8" name="Shape 5"/>
          <p:cNvSpPr/>
          <p:nvPr/>
        </p:nvSpPr>
        <p:spPr>
          <a:xfrm>
            <a:off x="457200" y="987552"/>
            <a:ext cx="8229600" cy="16459"/>
          </a:xfrm>
          <a:prstGeom prst="rect">
            <a:avLst/>
          </a:prstGeom>
          <a:solidFill>
            <a:srgbClr val="D1D5DB"/>
          </a:solidFill>
          <a:ln w="12700">
            <a:solidFill>
              <a:srgbClr val="D1D5DB"/>
            </a:solidFill>
            <a:prstDash val="solid"/>
          </a:ln>
        </p:spPr>
      </p:sp>
      <p:sp>
        <p:nvSpPr>
          <p:cNvPr id="9" name="Text 6"/>
          <p:cNvSpPr/>
          <p:nvPr/>
        </p:nvSpPr>
        <p:spPr>
          <a:xfrm>
            <a:off x="457200" y="1078992"/>
            <a:ext cx="6035040" cy="914400"/>
          </a:xfrm>
          <a:prstGeom prst="rect">
            <a:avLst/>
          </a:prstGeom>
          <a:noFill/>
          <a:ln/>
        </p:spPr>
        <p:txBody>
          <a:bodyPr wrap="square" rtlCol="0" anchor="ctr"/>
          <a:lstStyle/>
          <a:p>
            <a:pPr indent="0" marL="0">
              <a:buNone/>
            </a:pPr>
            <a:r>
              <a:rPr lang="en-US" sz="1300" i="1" dirty="0">
                <a:solidFill>
                  <a:srgbClr val="0D1F3C"/>
                </a:solidFill>
                <a:latin typeface="Georgia" pitchFamily="34" charset="0"/>
                <a:ea typeface="Georgia" pitchFamily="34" charset="-122"/>
                <a:cs typeface="Georgia" pitchFamily="34" charset="-120"/>
              </a:rPr>
              <a:t>"What impressed us most was their understanding of our compliance requirements. They didn't just clean — they followed our protocols, documented everything, and worked around our production schedule without missing a beat."</a:t>
            </a:r>
            <a:endParaRPr lang="en-US" sz="1300" dirty="0"/>
          </a:p>
        </p:txBody>
      </p:sp>
      <p:sp>
        <p:nvSpPr>
          <p:cNvPr id="10" name="Text 7"/>
          <p:cNvSpPr/>
          <p:nvPr/>
        </p:nvSpPr>
        <p:spPr>
          <a:xfrm>
            <a:off x="457200" y="2011680"/>
            <a:ext cx="6035040" cy="201168"/>
          </a:xfrm>
          <a:prstGeom prst="rect">
            <a:avLst/>
          </a:prstGeom>
          <a:noFill/>
          <a:ln/>
        </p:spPr>
        <p:txBody>
          <a:bodyPr wrap="square" rtlCol="0" anchor="ctr"/>
          <a:lstStyle/>
          <a:p>
            <a:pPr indent="0" marL="0">
              <a:buNone/>
            </a:pPr>
            <a:r>
              <a:rPr lang="en-US" sz="950" dirty="0">
                <a:solidFill>
                  <a:srgbClr val="9CA3AF"/>
                </a:solidFill>
                <a:latin typeface="Calibri" pitchFamily="34" charset="0"/>
                <a:ea typeface="Calibri" pitchFamily="34" charset="-122"/>
                <a:cs typeface="Calibri" pitchFamily="34" charset="-120"/>
              </a:rPr>
              <a:t>— Manufacturing Plant Operations Manager</a:t>
            </a:r>
            <a:endParaRPr lang="en-US" sz="950" dirty="0"/>
          </a:p>
        </p:txBody>
      </p:sp>
      <p:sp>
        <p:nvSpPr>
          <p:cNvPr id="11" name="Shape 8"/>
          <p:cNvSpPr/>
          <p:nvPr/>
        </p:nvSpPr>
        <p:spPr>
          <a:xfrm>
            <a:off x="457200" y="2267712"/>
            <a:ext cx="6035040" cy="16459"/>
          </a:xfrm>
          <a:prstGeom prst="rect">
            <a:avLst/>
          </a:prstGeom>
          <a:solidFill>
            <a:srgbClr val="D1D5DB"/>
          </a:solidFill>
          <a:ln w="12700">
            <a:solidFill>
              <a:srgbClr val="D1D5DB"/>
            </a:solidFill>
            <a:prstDash val="solid"/>
          </a:ln>
        </p:spPr>
      </p:sp>
      <p:sp>
        <p:nvSpPr>
          <p:cNvPr id="12" name="Text 9"/>
          <p:cNvSpPr/>
          <p:nvPr/>
        </p:nvSpPr>
        <p:spPr>
          <a:xfrm>
            <a:off x="457200" y="2359152"/>
            <a:ext cx="2834640" cy="731520"/>
          </a:xfrm>
          <a:prstGeom prst="rect">
            <a:avLst/>
          </a:prstGeom>
          <a:noFill/>
          <a:ln/>
        </p:spPr>
        <p:txBody>
          <a:bodyPr wrap="square"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"The team at MDF understands that in our environment, cleaning is part of our safety program — not just an afterthought."</a:t>
            </a:r>
            <a:endParaRPr lang="en-US" sz="1050" dirty="0"/>
          </a:p>
        </p:txBody>
      </p:sp>
      <p:sp>
        <p:nvSpPr>
          <p:cNvPr id="13" name="Text 10"/>
          <p:cNvSpPr/>
          <p:nvPr/>
        </p:nvSpPr>
        <p:spPr>
          <a:xfrm>
            <a:off x="457200" y="3108960"/>
            <a:ext cx="2834640" cy="182880"/>
          </a:xfrm>
          <a:prstGeom prst="rect">
            <a:avLst/>
          </a:prstGeom>
          <a:noFill/>
          <a:ln/>
        </p:spPr>
        <p:txBody>
          <a:bodyPr wrap="square" rtlCol="0" anchor="ctr"/>
          <a:lstStyle/>
          <a:p>
            <a:pPr indent="0" marL="0">
              <a:buNone/>
            </a:pPr>
            <a:r>
              <a:rPr lang="en-US" sz="850" dirty="0">
                <a:solidFill>
                  <a:srgbClr val="9CA3AF"/>
                </a:solidFill>
                <a:latin typeface="Calibri" pitchFamily="34" charset="0"/>
                <a:ea typeface="Calibri" pitchFamily="34" charset="-122"/>
                <a:cs typeface="Calibri" pitchFamily="34" charset="-120"/>
              </a:rPr>
              <a:t>— Sheriff's Office Facility Manager</a:t>
            </a:r>
            <a:endParaRPr lang="en-US" sz="850" dirty="0"/>
          </a:p>
        </p:txBody>
      </p:sp>
      <p:sp>
        <p:nvSpPr>
          <p:cNvPr id="14" name="Text 11"/>
          <p:cNvSpPr/>
          <p:nvPr/>
        </p:nvSpPr>
        <p:spPr>
          <a:xfrm>
            <a:off x="3429000" y="2359152"/>
            <a:ext cx="2834640" cy="731520"/>
          </a:xfrm>
          <a:prstGeom prst="rect">
            <a:avLst/>
          </a:prstGeom>
          <a:noFill/>
          <a:ln/>
        </p:spPr>
        <p:txBody>
          <a:bodyPr wrap="square"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"We've worked with several cleaning companies over the years, but Mad Dog is different. When there's an issue, they fix it immediately."</a:t>
            </a:r>
            <a:endParaRPr lang="en-US" sz="1050" dirty="0"/>
          </a:p>
        </p:txBody>
      </p:sp>
      <p:sp>
        <p:nvSpPr>
          <p:cNvPr id="15" name="Text 12"/>
          <p:cNvSpPr/>
          <p:nvPr/>
        </p:nvSpPr>
        <p:spPr>
          <a:xfrm>
            <a:off x="3429000" y="3108960"/>
            <a:ext cx="2834640" cy="182880"/>
          </a:xfrm>
          <a:prstGeom prst="rect">
            <a:avLst/>
          </a:prstGeom>
          <a:noFill/>
          <a:ln/>
        </p:spPr>
        <p:txBody>
          <a:bodyPr wrap="square" rtlCol="0" anchor="ctr"/>
          <a:lstStyle/>
          <a:p>
            <a:pPr indent="0" marL="0">
              <a:buNone/>
            </a:pPr>
            <a:r>
              <a:rPr lang="en-US" sz="850" dirty="0">
                <a:solidFill>
                  <a:srgbClr val="9CA3AF"/>
                </a:solidFill>
                <a:latin typeface="Calibri" pitchFamily="34" charset="0"/>
                <a:ea typeface="Calibri" pitchFamily="34" charset="-122"/>
                <a:cs typeface="Calibri" pitchFamily="34" charset="-120"/>
              </a:rPr>
              <a:t>— Government Administrator</a:t>
            </a:r>
            <a:endParaRPr lang="en-US" sz="850" dirty="0"/>
          </a:p>
        </p:txBody>
      </p:sp>
      <p:sp>
        <p:nvSpPr>
          <p:cNvPr id="16" name="Shape 13"/>
          <p:cNvSpPr/>
          <p:nvPr/>
        </p:nvSpPr>
        <p:spPr>
          <a:xfrm>
            <a:off x="6693408" y="1005840"/>
            <a:ext cx="16459" cy="3474720"/>
          </a:xfrm>
          <a:prstGeom prst="rect">
            <a:avLst/>
          </a:prstGeom>
          <a:solidFill>
            <a:srgbClr val="D1D5DB"/>
          </a:solidFill>
          <a:ln w="12700">
            <a:solidFill>
              <a:srgbClr val="D1D5DB"/>
            </a:solidFill>
            <a:prstDash val="solid"/>
          </a:ln>
        </p:spPr>
      </p:sp>
      <p:sp>
        <p:nvSpPr>
          <p:cNvPr id="17" name="Text 14"/>
          <p:cNvSpPr/>
          <p:nvPr/>
        </p:nvSpPr>
        <p:spPr>
          <a:xfrm>
            <a:off x="6912864" y="1170432"/>
            <a:ext cx="1920240" cy="530352"/>
          </a:xfrm>
          <a:prstGeom prst="rect">
            <a:avLst/>
          </a:prstGeom>
          <a:noFill/>
          <a:ln/>
        </p:spPr>
        <p:txBody>
          <a:bodyPr wrap="square" rtlCol="0" anchor="ctr"/>
          <a:lstStyle/>
          <a:p>
            <a:pPr algn="ctr" indent="0" marL="0">
              <a:buNone/>
            </a:pPr>
            <a:r>
              <a:rPr lang="en-US" sz="2600" b="1" dirty="0">
                <a:solidFill>
                  <a:srgbClr val="0D1F3C"/>
                </a:solidFill>
                <a:latin typeface="Trebuchet MS" pitchFamily="34" charset="0"/>
                <a:ea typeface="Trebuchet MS" pitchFamily="34" charset="-122"/>
                <a:cs typeface="Trebuchet MS" pitchFamily="34" charset="-120"/>
              </a:rPr>
              <a:t>FAA</a:t>
            </a:r>
            <a:endParaRPr lang="en-US" sz="2600" dirty="0"/>
          </a:p>
        </p:txBody>
      </p:sp>
      <p:sp>
        <p:nvSpPr>
          <p:cNvPr id="18" name="Text 15"/>
          <p:cNvSpPr/>
          <p:nvPr/>
        </p:nvSpPr>
        <p:spPr>
          <a:xfrm>
            <a:off x="6912864" y="1719072"/>
            <a:ext cx="1920240" cy="201168"/>
          </a:xfrm>
          <a:prstGeom prst="rect">
            <a:avLst/>
          </a:prstGeom>
          <a:noFill/>
          <a:ln/>
        </p:spPr>
        <p:txBody>
          <a:bodyPr wrap="square" rtlCol="0" anchor="ctr"/>
          <a:lstStyle/>
          <a:p>
            <a:pPr algn="ctr" indent="0" marL="0">
              <a:buNone/>
            </a:pPr>
            <a:r>
              <a:rPr lang="en-US" sz="800" b="1" spc="150" kern="0" dirty="0">
                <a:solidFill>
                  <a:srgbClr val="9CA3AF"/>
                </a:solidFill>
                <a:latin typeface="Calibri" pitchFamily="34" charset="0"/>
                <a:ea typeface="Calibri" pitchFamily="34" charset="-122"/>
                <a:cs typeface="Calibri" pitchFamily="34" charset="-120"/>
              </a:rPr>
              <a:t>CERTIFIED PAST PERFORMANCE</a:t>
            </a:r>
            <a:endParaRPr lang="en-US" sz="800" dirty="0"/>
          </a:p>
        </p:txBody>
      </p:sp>
      <p:sp>
        <p:nvSpPr>
          <p:cNvPr id="19" name="Shape 16"/>
          <p:cNvSpPr/>
          <p:nvPr/>
        </p:nvSpPr>
        <p:spPr>
          <a:xfrm>
            <a:off x="6912864" y="1993392"/>
            <a:ext cx="1920240" cy="16459"/>
          </a:xfrm>
          <a:prstGeom prst="rect">
            <a:avLst/>
          </a:prstGeom>
          <a:solidFill>
            <a:srgbClr val="D1D5DB"/>
          </a:solidFill>
          <a:ln w="12700">
            <a:solidFill>
              <a:srgbClr val="D1D5DB"/>
            </a:solidFill>
            <a:prstDash val="solid"/>
          </a:ln>
        </p:spPr>
      </p:sp>
      <p:sp>
        <p:nvSpPr>
          <p:cNvPr id="20" name="Text 17"/>
          <p:cNvSpPr/>
          <p:nvPr/>
        </p:nvSpPr>
        <p:spPr>
          <a:xfrm>
            <a:off x="6912864" y="2304288"/>
            <a:ext cx="1920240" cy="530352"/>
          </a:xfrm>
          <a:prstGeom prst="rect">
            <a:avLst/>
          </a:prstGeom>
          <a:noFill/>
          <a:ln/>
        </p:spPr>
        <p:txBody>
          <a:bodyPr wrap="square" rtlCol="0" anchor="ctr"/>
          <a:lstStyle/>
          <a:p>
            <a:pPr algn="ctr" indent="0" marL="0">
              <a:buNone/>
            </a:pPr>
            <a:r>
              <a:rPr lang="en-US" sz="2600" b="1" dirty="0">
                <a:solidFill>
                  <a:srgbClr val="0D1F3C"/>
                </a:solidFill>
                <a:latin typeface="Trebuchet MS" pitchFamily="34" charset="0"/>
                <a:ea typeface="Trebuchet MS" pitchFamily="34" charset="-122"/>
                <a:cs typeface="Trebuchet MS" pitchFamily="34" charset="-120"/>
              </a:rPr>
              <a:t>Army</a:t>
            </a:r>
            <a:endParaRPr lang="en-US" sz="2600" dirty="0"/>
          </a:p>
        </p:txBody>
      </p:sp>
      <p:sp>
        <p:nvSpPr>
          <p:cNvPr id="21" name="Text 18"/>
          <p:cNvSpPr/>
          <p:nvPr/>
        </p:nvSpPr>
        <p:spPr>
          <a:xfrm>
            <a:off x="6912864" y="2852928"/>
            <a:ext cx="1920240" cy="201168"/>
          </a:xfrm>
          <a:prstGeom prst="rect">
            <a:avLst/>
          </a:prstGeom>
          <a:noFill/>
          <a:ln/>
        </p:spPr>
        <p:txBody>
          <a:bodyPr wrap="square" rtlCol="0" anchor="ctr"/>
          <a:lstStyle/>
          <a:p>
            <a:pPr algn="ctr" indent="0" marL="0">
              <a:buNone/>
            </a:pPr>
            <a:r>
              <a:rPr lang="en-US" sz="800" b="1" spc="150" kern="0" dirty="0">
                <a:solidFill>
                  <a:srgbClr val="9CA3AF"/>
                </a:solidFill>
                <a:latin typeface="Calibri" pitchFamily="34" charset="0"/>
                <a:ea typeface="Calibri" pitchFamily="34" charset="-122"/>
                <a:cs typeface="Calibri" pitchFamily="34" charset="-120"/>
              </a:rPr>
              <a:t>PAST PERFORMANCE</a:t>
            </a:r>
            <a:endParaRPr lang="en-US" sz="800" dirty="0"/>
          </a:p>
        </p:txBody>
      </p:sp>
      <p:sp>
        <p:nvSpPr>
          <p:cNvPr id="22" name="Shape 19"/>
          <p:cNvSpPr/>
          <p:nvPr/>
        </p:nvSpPr>
        <p:spPr>
          <a:xfrm>
            <a:off x="6912864" y="3127248"/>
            <a:ext cx="1920240" cy="16459"/>
          </a:xfrm>
          <a:prstGeom prst="rect">
            <a:avLst/>
          </a:prstGeom>
          <a:solidFill>
            <a:srgbClr val="D1D5DB"/>
          </a:solidFill>
          <a:ln w="12700">
            <a:solidFill>
              <a:srgbClr val="D1D5DB"/>
            </a:solidFill>
            <a:prstDash val="solid"/>
          </a:ln>
        </p:spPr>
      </p:sp>
      <p:sp>
        <p:nvSpPr>
          <p:cNvPr id="23" name="Text 20"/>
          <p:cNvSpPr/>
          <p:nvPr/>
        </p:nvSpPr>
        <p:spPr>
          <a:xfrm>
            <a:off x="6912864" y="3438144"/>
            <a:ext cx="1920240" cy="530352"/>
          </a:xfrm>
          <a:prstGeom prst="rect">
            <a:avLst/>
          </a:prstGeom>
          <a:noFill/>
          <a:ln/>
        </p:spPr>
        <p:txBody>
          <a:bodyPr wrap="square" rtlCol="0" anchor="ctr"/>
          <a:lstStyle/>
          <a:p>
            <a:pPr algn="ctr" indent="0" marL="0">
              <a:buNone/>
            </a:pPr>
            <a:r>
              <a:rPr lang="en-US" sz="2600" b="1" dirty="0">
                <a:solidFill>
                  <a:srgbClr val="0D1F3C"/>
                </a:solidFill>
                <a:latin typeface="Trebuchet MS" pitchFamily="34" charset="0"/>
                <a:ea typeface="Trebuchet MS" pitchFamily="34" charset="-122"/>
                <a:cs typeface="Trebuchet MS" pitchFamily="34" charset="-120"/>
              </a:rPr>
              <a:t>ISSA</a:t>
            </a:r>
            <a:endParaRPr lang="en-US" sz="2600" dirty="0"/>
          </a:p>
        </p:txBody>
      </p:sp>
      <p:sp>
        <p:nvSpPr>
          <p:cNvPr id="24" name="Text 21"/>
          <p:cNvSpPr/>
          <p:nvPr/>
        </p:nvSpPr>
        <p:spPr>
          <a:xfrm>
            <a:off x="6912864" y="3986784"/>
            <a:ext cx="1920240" cy="201168"/>
          </a:xfrm>
          <a:prstGeom prst="rect">
            <a:avLst/>
          </a:prstGeom>
          <a:noFill/>
          <a:ln/>
        </p:spPr>
        <p:txBody>
          <a:bodyPr wrap="square" rtlCol="0" anchor="ctr"/>
          <a:lstStyle/>
          <a:p>
            <a:pPr algn="ctr" indent="0" marL="0">
              <a:buNone/>
            </a:pPr>
            <a:r>
              <a:rPr lang="en-US" sz="800" b="1" spc="150" kern="0" dirty="0">
                <a:solidFill>
                  <a:srgbClr val="9CA3AF"/>
                </a:solidFill>
                <a:latin typeface="Calibri" pitchFamily="34" charset="0"/>
                <a:ea typeface="Calibri" pitchFamily="34" charset="-122"/>
                <a:cs typeface="Calibri" pitchFamily="34" charset="-120"/>
              </a:rPr>
              <a:t>INDUSTRY MEMBER</a:t>
            </a:r>
            <a:endParaRPr lang="en-US" sz="800" dirty="0"/>
          </a:p>
        </p:txBody>
      </p:sp>
      <p:sp>
        <p:nvSpPr>
          <p:cNvPr id="25" name="Shape 22"/>
          <p:cNvSpPr/>
          <p:nvPr/>
        </p:nvSpPr>
        <p:spPr>
          <a:xfrm>
            <a:off x="457200" y="3401568"/>
            <a:ext cx="6035040" cy="16459"/>
          </a:xfrm>
          <a:prstGeom prst="rect">
            <a:avLst/>
          </a:prstGeom>
          <a:solidFill>
            <a:srgbClr val="D1D5DB"/>
          </a:solidFill>
          <a:ln w="12700">
            <a:solidFill>
              <a:srgbClr val="D1D5DB"/>
            </a:solidFill>
            <a:prstDash val="solid"/>
          </a:ln>
        </p:spPr>
      </p:sp>
      <p:sp>
        <p:nvSpPr>
          <p:cNvPr id="26" name="Text 23"/>
          <p:cNvSpPr/>
          <p:nvPr/>
        </p:nvSpPr>
        <p:spPr>
          <a:xfrm>
            <a:off x="457200" y="3474720"/>
            <a:ext cx="6035040" cy="512064"/>
          </a:xfrm>
          <a:prstGeom prst="rect">
            <a:avLst/>
          </a:prstGeom>
          <a:noFill/>
          <a:ln/>
        </p:spPr>
        <p:txBody>
          <a:bodyPr wrap="square"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"The background checks and professionalism of their crew gave us confidence from day one. In a government facility, security and accountability aren't negotiable. Mad Dog gets that."</a:t>
            </a:r>
            <a:endParaRPr lang="en-US" sz="1050" dirty="0"/>
          </a:p>
        </p:txBody>
      </p:sp>
      <p:sp>
        <p:nvSpPr>
          <p:cNvPr id="27" name="Text 24"/>
          <p:cNvSpPr/>
          <p:nvPr/>
        </p:nvSpPr>
        <p:spPr>
          <a:xfrm>
            <a:off x="457200" y="4005072"/>
            <a:ext cx="6035040" cy="182880"/>
          </a:xfrm>
          <a:prstGeom prst="rect">
            <a:avLst/>
          </a:prstGeom>
          <a:noFill/>
          <a:ln/>
        </p:spPr>
        <p:txBody>
          <a:bodyPr wrap="square" rtlCol="0" anchor="ctr"/>
          <a:lstStyle/>
          <a:p>
            <a:pPr indent="0" marL="0">
              <a:buNone/>
            </a:pPr>
            <a:r>
              <a:rPr lang="en-US" sz="850" dirty="0">
                <a:solidFill>
                  <a:srgbClr val="9CA3AF"/>
                </a:solidFill>
                <a:latin typeface="Calibri" pitchFamily="34" charset="0"/>
                <a:ea typeface="Calibri" pitchFamily="34" charset="-122"/>
                <a:cs typeface="Calibri" pitchFamily="34" charset="-120"/>
              </a:rPr>
              <a:t>— Municipal Building Supervisor</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0D1F3C"/>
          </a:solidFill>
          <a:ln w="12700">
            <a:solidFill>
              <a:srgbClr val="0D1F3C"/>
            </a:solidFill>
            <a:prstDash val="solid"/>
          </a:ln>
        </p:spPr>
      </p:sp>
      <p:sp>
        <p:nvSpPr>
          <p:cNvPr id="3" name="Text 1"/>
          <p:cNvSpPr/>
          <p:nvPr/>
        </p:nvSpPr>
        <p:spPr>
          <a:xfrm>
            <a:off x="457200" y="91440"/>
            <a:ext cx="7315200" cy="164592"/>
          </a:xfrm>
          <a:prstGeom prst="rect">
            <a:avLst/>
          </a:prstGeom>
          <a:noFill/>
          <a:ln/>
        </p:spPr>
        <p:txBody>
          <a:bodyPr wrap="square"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YOUR INVESTMENT &amp; NEXT STEPS</a:t>
            </a:r>
            <a:endParaRPr lang="en-US" sz="700" dirty="0"/>
          </a:p>
        </p:txBody>
      </p:sp>
      <p:sp>
        <p:nvSpPr>
          <p:cNvPr id="4" name="Text 2"/>
          <p:cNvSpPr/>
          <p:nvPr/>
        </p:nvSpPr>
        <p:spPr>
          <a:xfrm>
            <a:off x="8686800" y="73152"/>
            <a:ext cx="365760" cy="164592"/>
          </a:xfrm>
          <a:prstGeom prst="rect">
            <a:avLst/>
          </a:prstGeom>
          <a:noFill/>
          <a:ln/>
        </p:spPr>
        <p:txBody>
          <a:bodyPr wrap="square"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9</a:t>
            </a:r>
            <a:endParaRPr lang="en-US" sz="800" dirty="0"/>
          </a:p>
        </p:txBody>
      </p:sp>
      <p:pic>
        <p:nvPicPr>
          <p:cNvPr id="5" name="Image 0" descr="./mdf_logo_white_bg.png">    </p:cNvPr>
          <p:cNvPicPr>
            <a:picLocks noChangeAspect="1"/>
          </p:cNvPicPr>
          <p:nvPr/>
        </p:nvPicPr>
        <p:blipFill>
          <a:blip r:embed="rId1"/>
          <a:stretch>
            <a:fillRect/>
          </a:stretch>
        </p:blipFill>
        <p:spPr>
          <a:xfrm>
            <a:off x="7973568" y="4663440"/>
            <a:ext cx="1051560" cy="402336"/>
          </a:xfrm>
          <a:prstGeom prst="rect">
            <a:avLst/>
          </a:prstGeom>
        </p:spPr>
      </p:pic>
      <p:sp>
        <p:nvSpPr>
          <p:cNvPr id="6" name="Text 3"/>
          <p:cNvSpPr/>
          <p:nvPr/>
        </p:nvSpPr>
        <p:spPr>
          <a:xfrm>
            <a:off x="457200" y="256032"/>
            <a:ext cx="3931920" cy="182880"/>
          </a:xfrm>
          <a:prstGeom prst="rect">
            <a:avLst/>
          </a:prstGeom>
          <a:noFill/>
          <a:ln/>
        </p:spPr>
        <p:txBody>
          <a:bodyPr wrap="square"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YOUR INVESTMENT</a:t>
            </a:r>
            <a:endParaRPr lang="en-US" sz="700" dirty="0"/>
          </a:p>
        </p:txBody>
      </p:sp>
      <p:sp>
        <p:nvSpPr>
          <p:cNvPr id="7" name="Text 4"/>
          <p:cNvSpPr/>
          <p:nvPr/>
        </p:nvSpPr>
        <p:spPr>
          <a:xfrm>
            <a:off x="457200" y="438912"/>
            <a:ext cx="3931920" cy="877824"/>
          </a:xfrm>
          <a:prstGeom prst="rect">
            <a:avLst/>
          </a:prstGeom>
          <a:noFill/>
          <a:ln/>
        </p:spPr>
        <p:txBody>
          <a:bodyPr wrap="square" rtlCol="0" anchor="ctr"/>
          <a:lstStyle/>
          <a:p>
            <a:pPr indent="0" marL="0">
              <a:buNone/>
            </a:pPr>
            <a:r>
              <a:rPr lang="en-US" sz="5600" b="1" dirty="0">
                <a:solidFill>
                  <a:srgbClr val="0D1F3C"/>
                </a:solidFill>
                <a:latin typeface="Trebuchet MS" pitchFamily="34" charset="0"/>
                <a:ea typeface="Trebuchet MS" pitchFamily="34" charset="-122"/>
                <a:cs typeface="Trebuchet MS" pitchFamily="34" charset="-120"/>
              </a:rPr>
              <a:t>$1,000</a:t>
            </a:r>
            <a:endParaRPr lang="en-US" sz="5600" dirty="0"/>
          </a:p>
        </p:txBody>
      </p:sp>
      <p:sp>
        <p:nvSpPr>
          <p:cNvPr id="8" name="Text 5"/>
          <p:cNvSpPr/>
          <p:nvPr/>
        </p:nvSpPr>
        <p:spPr>
          <a:xfrm>
            <a:off x="457200" y="1316736"/>
            <a:ext cx="3931920" cy="201168"/>
          </a:xfrm>
          <a:prstGeom prst="rect">
            <a:avLst/>
          </a:prstGeom>
          <a:noFill/>
          <a:ln/>
        </p:spPr>
        <p:txBody>
          <a:bodyPr wrap="square" rtlCol="0" anchor="ctr"/>
          <a:lstStyle/>
          <a:p>
            <a:pPr indent="0" marL="0">
              <a:buNone/>
            </a:pPr>
            <a:r>
              <a:rPr lang="en-US" sz="950" dirty="0">
                <a:solidFill>
                  <a:srgbClr val="6B7280"/>
                </a:solidFill>
                <a:latin typeface="Calibri" pitchFamily="34" charset="0"/>
                <a:ea typeface="Calibri" pitchFamily="34" charset="-122"/>
                <a:cs typeface="Calibri" pitchFamily="34" charset="-120"/>
              </a:rPr>
              <a:t>per month  ·  $12,000 annually  ·  Month-to-Month  ·  30-Day Notice</a:t>
            </a:r>
            <a:endParaRPr lang="en-US" sz="950" dirty="0"/>
          </a:p>
        </p:txBody>
      </p:sp>
      <p:sp>
        <p:nvSpPr>
          <p:cNvPr id="9" name="Shape 6"/>
          <p:cNvSpPr/>
          <p:nvPr/>
        </p:nvSpPr>
        <p:spPr>
          <a:xfrm>
            <a:off x="457200" y="1572768"/>
            <a:ext cx="3931920" cy="16459"/>
          </a:xfrm>
          <a:prstGeom prst="rect">
            <a:avLst/>
          </a:prstGeom>
          <a:solidFill>
            <a:srgbClr val="D1D5DB"/>
          </a:solidFill>
          <a:ln w="12700">
            <a:solidFill>
              <a:srgbClr val="D1D5DB"/>
            </a:solidFill>
            <a:prstDash val="solid"/>
          </a:ln>
        </p:spPr>
      </p:sp>
      <p:sp>
        <p:nvSpPr>
          <p:cNvPr id="10" name="Shape 7"/>
          <p:cNvSpPr/>
          <p:nvPr/>
        </p:nvSpPr>
        <p:spPr>
          <a:xfrm>
            <a:off x="438912" y="1664208"/>
            <a:ext cx="3950208" cy="292608"/>
          </a:xfrm>
          <a:prstGeom prst="rect">
            <a:avLst/>
          </a:prstGeom>
          <a:solidFill>
            <a:srgbClr val="FFFFFF"/>
          </a:solidFill>
          <a:ln w="12700">
            <a:solidFill>
              <a:srgbClr val="FFFFFF"/>
            </a:solidFill>
            <a:prstDash val="solid"/>
          </a:ln>
        </p:spPr>
      </p:sp>
      <p:sp>
        <p:nvSpPr>
          <p:cNvPr id="11" name="Text 8"/>
          <p:cNvSpPr/>
          <p:nvPr/>
        </p:nvSpPr>
        <p:spPr>
          <a:xfrm>
            <a:off x="530352" y="1719072"/>
            <a:ext cx="2651760" cy="201168"/>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Labor — W-2 Employees</a:t>
            </a:r>
            <a:endParaRPr lang="en-US" sz="1000" dirty="0"/>
          </a:p>
        </p:txBody>
      </p:sp>
      <p:sp>
        <p:nvSpPr>
          <p:cNvPr id="12" name="Text 9"/>
          <p:cNvSpPr/>
          <p:nvPr/>
        </p:nvSpPr>
        <p:spPr>
          <a:xfrm>
            <a:off x="3200400" y="1719072"/>
            <a:ext cx="1097280" cy="201168"/>
          </a:xfrm>
          <a:prstGeom prst="rect">
            <a:avLst/>
          </a:prstGeom>
          <a:noFill/>
          <a:ln/>
        </p:spPr>
        <p:txBody>
          <a:bodyPr wrap="square" rtlCol="0" anchor="ctr"/>
          <a:lstStyle/>
          <a:p>
            <a:pPr algn="r" indent="0" marL="0">
              <a:buNone/>
            </a:pPr>
            <a:r>
              <a:rPr lang="en-US" sz="1000" b="1" dirty="0">
                <a:solidFill>
                  <a:srgbClr val="374151"/>
                </a:solidFill>
                <a:latin typeface="Calibri" pitchFamily="34" charset="0"/>
                <a:ea typeface="Calibri" pitchFamily="34" charset="-122"/>
                <a:cs typeface="Calibri" pitchFamily="34" charset="-120"/>
              </a:rPr>
              <a:t>$630</a:t>
            </a:r>
            <a:endParaRPr lang="en-US" sz="1000" dirty="0"/>
          </a:p>
        </p:txBody>
      </p:sp>
      <p:sp>
        <p:nvSpPr>
          <p:cNvPr id="13" name="Shape 10"/>
          <p:cNvSpPr/>
          <p:nvPr/>
        </p:nvSpPr>
        <p:spPr>
          <a:xfrm>
            <a:off x="438912" y="1993392"/>
            <a:ext cx="3950208" cy="292608"/>
          </a:xfrm>
          <a:prstGeom prst="rect">
            <a:avLst/>
          </a:prstGeom>
          <a:solidFill>
            <a:srgbClr val="F4F7FB"/>
          </a:solidFill>
          <a:ln w="12700">
            <a:solidFill>
              <a:srgbClr val="F4F7FB"/>
            </a:solidFill>
            <a:prstDash val="solid"/>
          </a:ln>
        </p:spPr>
      </p:sp>
      <p:sp>
        <p:nvSpPr>
          <p:cNvPr id="14" name="Text 11"/>
          <p:cNvSpPr/>
          <p:nvPr/>
        </p:nvSpPr>
        <p:spPr>
          <a:xfrm>
            <a:off x="530352" y="2048256"/>
            <a:ext cx="2651760" cy="201168"/>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Supplies &amp; Consumables (4%)</a:t>
            </a:r>
            <a:endParaRPr lang="en-US" sz="1000" dirty="0"/>
          </a:p>
        </p:txBody>
      </p:sp>
      <p:sp>
        <p:nvSpPr>
          <p:cNvPr id="15" name="Text 12"/>
          <p:cNvSpPr/>
          <p:nvPr/>
        </p:nvSpPr>
        <p:spPr>
          <a:xfrm>
            <a:off x="3200400" y="2048256"/>
            <a:ext cx="1097280" cy="201168"/>
          </a:xfrm>
          <a:prstGeom prst="rect">
            <a:avLst/>
          </a:prstGeom>
          <a:noFill/>
          <a:ln/>
        </p:spPr>
        <p:txBody>
          <a:bodyPr wrap="square" rtlCol="0" anchor="ctr"/>
          <a:lstStyle/>
          <a:p>
            <a:pPr algn="r" indent="0" marL="0">
              <a:buNone/>
            </a:pPr>
            <a:r>
              <a:rPr lang="en-US" sz="1000" b="1" dirty="0">
                <a:solidFill>
                  <a:srgbClr val="374151"/>
                </a:solidFill>
                <a:latin typeface="Calibri" pitchFamily="34" charset="0"/>
                <a:ea typeface="Calibri" pitchFamily="34" charset="-122"/>
                <a:cs typeface="Calibri" pitchFamily="34" charset="-120"/>
              </a:rPr>
              <a:t>$40</a:t>
            </a:r>
            <a:endParaRPr lang="en-US" sz="1000" dirty="0"/>
          </a:p>
        </p:txBody>
      </p:sp>
      <p:sp>
        <p:nvSpPr>
          <p:cNvPr id="16" name="Shape 13"/>
          <p:cNvSpPr/>
          <p:nvPr/>
        </p:nvSpPr>
        <p:spPr>
          <a:xfrm>
            <a:off x="438912" y="2322576"/>
            <a:ext cx="3950208" cy="292608"/>
          </a:xfrm>
          <a:prstGeom prst="rect">
            <a:avLst/>
          </a:prstGeom>
          <a:solidFill>
            <a:srgbClr val="FFFFFF"/>
          </a:solidFill>
          <a:ln w="12700">
            <a:solidFill>
              <a:srgbClr val="FFFFFF"/>
            </a:solidFill>
            <a:prstDash val="solid"/>
          </a:ln>
        </p:spPr>
      </p:sp>
      <p:sp>
        <p:nvSpPr>
          <p:cNvPr id="17" name="Text 14"/>
          <p:cNvSpPr/>
          <p:nvPr/>
        </p:nvSpPr>
        <p:spPr>
          <a:xfrm>
            <a:off x="530352" y="2377440"/>
            <a:ext cx="2651760" cy="201168"/>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Equipment &amp; Maintenance (3%)</a:t>
            </a:r>
            <a:endParaRPr lang="en-US" sz="1000" dirty="0"/>
          </a:p>
        </p:txBody>
      </p:sp>
      <p:sp>
        <p:nvSpPr>
          <p:cNvPr id="18" name="Text 15"/>
          <p:cNvSpPr/>
          <p:nvPr/>
        </p:nvSpPr>
        <p:spPr>
          <a:xfrm>
            <a:off x="3200400" y="2377440"/>
            <a:ext cx="1097280" cy="201168"/>
          </a:xfrm>
          <a:prstGeom prst="rect">
            <a:avLst/>
          </a:prstGeom>
          <a:noFill/>
          <a:ln/>
        </p:spPr>
        <p:txBody>
          <a:bodyPr wrap="square" rtlCol="0" anchor="ctr"/>
          <a:lstStyle/>
          <a:p>
            <a:pPr algn="r" indent="0" marL="0">
              <a:buNone/>
            </a:pPr>
            <a:r>
              <a:rPr lang="en-US" sz="1000" b="1" dirty="0">
                <a:solidFill>
                  <a:srgbClr val="374151"/>
                </a:solidFill>
                <a:latin typeface="Calibri" pitchFamily="34" charset="0"/>
                <a:ea typeface="Calibri" pitchFamily="34" charset="-122"/>
                <a:cs typeface="Calibri" pitchFamily="34" charset="-120"/>
              </a:rPr>
              <a:t>$30</a:t>
            </a:r>
            <a:endParaRPr lang="en-US" sz="1000" dirty="0"/>
          </a:p>
        </p:txBody>
      </p:sp>
      <p:sp>
        <p:nvSpPr>
          <p:cNvPr id="19" name="Shape 16"/>
          <p:cNvSpPr/>
          <p:nvPr/>
        </p:nvSpPr>
        <p:spPr>
          <a:xfrm>
            <a:off x="438912" y="2651760"/>
            <a:ext cx="3950208" cy="292608"/>
          </a:xfrm>
          <a:prstGeom prst="rect">
            <a:avLst/>
          </a:prstGeom>
          <a:solidFill>
            <a:srgbClr val="F4F7FB"/>
          </a:solidFill>
          <a:ln w="12700">
            <a:solidFill>
              <a:srgbClr val="F4F7FB"/>
            </a:solidFill>
            <a:prstDash val="solid"/>
          </a:ln>
        </p:spPr>
      </p:sp>
      <p:sp>
        <p:nvSpPr>
          <p:cNvPr id="20" name="Text 17"/>
          <p:cNvSpPr/>
          <p:nvPr/>
        </p:nvSpPr>
        <p:spPr>
          <a:xfrm>
            <a:off x="530352" y="2706624"/>
            <a:ext cx="2651760" cy="201168"/>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QA Inspection Reports</a:t>
            </a:r>
            <a:endParaRPr lang="en-US" sz="1000" dirty="0"/>
          </a:p>
        </p:txBody>
      </p:sp>
      <p:sp>
        <p:nvSpPr>
          <p:cNvPr id="21" name="Text 18"/>
          <p:cNvSpPr/>
          <p:nvPr/>
        </p:nvSpPr>
        <p:spPr>
          <a:xfrm>
            <a:off x="3200400" y="2706624"/>
            <a:ext cx="1097280" cy="201168"/>
          </a:xfrm>
          <a:prstGeom prst="rect">
            <a:avLst/>
          </a:prstGeom>
          <a:noFill/>
          <a:ln/>
        </p:spPr>
        <p:txBody>
          <a:bodyPr wrap="square" rtlCol="0" anchor="ctr"/>
          <a:lstStyle/>
          <a:p>
            <a:pPr algn="r" indent="0" marL="0">
              <a:buNone/>
            </a:pPr>
            <a:r>
              <a:rPr lang="en-US" sz="1000" b="1" dirty="0">
                <a:solidFill>
                  <a:srgbClr val="2E7D52"/>
                </a:solidFill>
                <a:latin typeface="Calibri" pitchFamily="34" charset="0"/>
                <a:ea typeface="Calibri" pitchFamily="34" charset="-122"/>
                <a:cs typeface="Calibri" pitchFamily="34" charset="-120"/>
              </a:rPr>
              <a:t>Included</a:t>
            </a:r>
            <a:endParaRPr lang="en-US" sz="1000" dirty="0"/>
          </a:p>
        </p:txBody>
      </p:sp>
      <p:sp>
        <p:nvSpPr>
          <p:cNvPr id="22" name="Shape 19"/>
          <p:cNvSpPr/>
          <p:nvPr/>
        </p:nvSpPr>
        <p:spPr>
          <a:xfrm>
            <a:off x="438912" y="2980944"/>
            <a:ext cx="3950208" cy="292608"/>
          </a:xfrm>
          <a:prstGeom prst="rect">
            <a:avLst/>
          </a:prstGeom>
          <a:solidFill>
            <a:srgbClr val="FFFFFF"/>
          </a:solidFill>
          <a:ln w="12700">
            <a:solidFill>
              <a:srgbClr val="FFFFFF"/>
            </a:solidFill>
            <a:prstDash val="solid"/>
          </a:ln>
        </p:spPr>
      </p:sp>
      <p:sp>
        <p:nvSpPr>
          <p:cNvPr id="23" name="Text 20"/>
          <p:cNvSpPr/>
          <p:nvPr/>
        </p:nvSpPr>
        <p:spPr>
          <a:xfrm>
            <a:off x="530352" y="3035808"/>
            <a:ext cx="2651760" cy="201168"/>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Dedicated QA Manager</a:t>
            </a:r>
            <a:endParaRPr lang="en-US" sz="1000" dirty="0"/>
          </a:p>
        </p:txBody>
      </p:sp>
      <p:sp>
        <p:nvSpPr>
          <p:cNvPr id="24" name="Text 21"/>
          <p:cNvSpPr/>
          <p:nvPr/>
        </p:nvSpPr>
        <p:spPr>
          <a:xfrm>
            <a:off x="3200400" y="3035808"/>
            <a:ext cx="1097280" cy="201168"/>
          </a:xfrm>
          <a:prstGeom prst="rect">
            <a:avLst/>
          </a:prstGeom>
          <a:noFill/>
          <a:ln/>
        </p:spPr>
        <p:txBody>
          <a:bodyPr wrap="square" rtlCol="0" anchor="ctr"/>
          <a:lstStyle/>
          <a:p>
            <a:pPr algn="r" indent="0" marL="0">
              <a:buNone/>
            </a:pPr>
            <a:r>
              <a:rPr lang="en-US" sz="1000" b="1" dirty="0">
                <a:solidFill>
                  <a:srgbClr val="2E7D52"/>
                </a:solidFill>
                <a:latin typeface="Calibri" pitchFamily="34" charset="0"/>
                <a:ea typeface="Calibri" pitchFamily="34" charset="-122"/>
                <a:cs typeface="Calibri" pitchFamily="34" charset="-120"/>
              </a:rPr>
              <a:t>Included</a:t>
            </a:r>
            <a:endParaRPr lang="en-US" sz="1000" dirty="0"/>
          </a:p>
        </p:txBody>
      </p:sp>
      <p:sp>
        <p:nvSpPr>
          <p:cNvPr id="25" name="Shape 22"/>
          <p:cNvSpPr/>
          <p:nvPr/>
        </p:nvSpPr>
        <p:spPr>
          <a:xfrm>
            <a:off x="438912" y="3310128"/>
            <a:ext cx="3950208" cy="292608"/>
          </a:xfrm>
          <a:prstGeom prst="rect">
            <a:avLst/>
          </a:prstGeom>
          <a:solidFill>
            <a:srgbClr val="F4F7FB"/>
          </a:solidFill>
          <a:ln w="12700">
            <a:solidFill>
              <a:srgbClr val="F4F7FB"/>
            </a:solidFill>
            <a:prstDash val="solid"/>
          </a:ln>
        </p:spPr>
      </p:sp>
      <p:sp>
        <p:nvSpPr>
          <p:cNvPr id="26" name="Text 23"/>
          <p:cNvSpPr/>
          <p:nvPr/>
        </p:nvSpPr>
        <p:spPr>
          <a:xfrm>
            <a:off x="530352" y="3364992"/>
            <a:ext cx="2651760" cy="201168"/>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Ownership Direct Line</a:t>
            </a:r>
            <a:endParaRPr lang="en-US" sz="1000" dirty="0"/>
          </a:p>
        </p:txBody>
      </p:sp>
      <p:sp>
        <p:nvSpPr>
          <p:cNvPr id="27" name="Text 24"/>
          <p:cNvSpPr/>
          <p:nvPr/>
        </p:nvSpPr>
        <p:spPr>
          <a:xfrm>
            <a:off x="3200400" y="3364992"/>
            <a:ext cx="1097280" cy="201168"/>
          </a:xfrm>
          <a:prstGeom prst="rect">
            <a:avLst/>
          </a:prstGeom>
          <a:noFill/>
          <a:ln/>
        </p:spPr>
        <p:txBody>
          <a:bodyPr wrap="square" rtlCol="0" anchor="ctr"/>
          <a:lstStyle/>
          <a:p>
            <a:pPr algn="r" indent="0" marL="0">
              <a:buNone/>
            </a:pPr>
            <a:r>
              <a:rPr lang="en-US" sz="1000" b="1" dirty="0">
                <a:solidFill>
                  <a:srgbClr val="2E7D52"/>
                </a:solidFill>
                <a:latin typeface="Calibri" pitchFamily="34" charset="0"/>
                <a:ea typeface="Calibri" pitchFamily="34" charset="-122"/>
                <a:cs typeface="Calibri" pitchFamily="34" charset="-120"/>
              </a:rPr>
              <a:t>Included</a:t>
            </a:r>
            <a:endParaRPr lang="en-US" sz="1000" dirty="0"/>
          </a:p>
        </p:txBody>
      </p:sp>
      <p:sp>
        <p:nvSpPr>
          <p:cNvPr id="28" name="Shape 25"/>
          <p:cNvSpPr/>
          <p:nvPr/>
        </p:nvSpPr>
        <p:spPr>
          <a:xfrm>
            <a:off x="438912" y="3712464"/>
            <a:ext cx="3950208" cy="384048"/>
          </a:xfrm>
          <a:prstGeom prst="rect">
            <a:avLst/>
          </a:prstGeom>
          <a:solidFill>
            <a:srgbClr val="0D1F3C"/>
          </a:solidFill>
          <a:ln w="12700">
            <a:solidFill>
              <a:srgbClr val="0D1F3C"/>
            </a:solidFill>
            <a:prstDash val="solid"/>
          </a:ln>
        </p:spPr>
      </p:sp>
      <p:sp>
        <p:nvSpPr>
          <p:cNvPr id="29" name="Text 26"/>
          <p:cNvSpPr/>
          <p:nvPr/>
        </p:nvSpPr>
        <p:spPr>
          <a:xfrm>
            <a:off x="548640" y="3803904"/>
            <a:ext cx="2194560" cy="219456"/>
          </a:xfrm>
          <a:prstGeom prst="rect">
            <a:avLst/>
          </a:prstGeom>
          <a:noFill/>
          <a:ln/>
        </p:spPr>
        <p:txBody>
          <a:bodyPr wrap="square" rtlCol="0" anchor="ct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Monthly Total</a:t>
            </a:r>
            <a:endParaRPr lang="en-US" sz="1100" dirty="0"/>
          </a:p>
        </p:txBody>
      </p:sp>
      <p:sp>
        <p:nvSpPr>
          <p:cNvPr id="30" name="Text 27"/>
          <p:cNvSpPr/>
          <p:nvPr/>
        </p:nvSpPr>
        <p:spPr>
          <a:xfrm>
            <a:off x="2560320" y="3803904"/>
            <a:ext cx="1737360" cy="219456"/>
          </a:xfrm>
          <a:prstGeom prst="rect">
            <a:avLst/>
          </a:prstGeom>
          <a:noFill/>
          <a:ln/>
        </p:spPr>
        <p:txBody>
          <a:bodyPr wrap="square" rtlCol="0" anchor="ctr"/>
          <a:lstStyle/>
          <a:p>
            <a:pPr algn="r" indent="0" marL="0">
              <a:buNone/>
            </a:pPr>
            <a:r>
              <a:rPr lang="en-US" sz="1100" b="1" dirty="0">
                <a:solidFill>
                  <a:srgbClr val="C9A84C"/>
                </a:solidFill>
                <a:latin typeface="Trebuchet MS" pitchFamily="34" charset="0"/>
                <a:ea typeface="Trebuchet MS" pitchFamily="34" charset="-122"/>
                <a:cs typeface="Trebuchet MS" pitchFamily="34" charset="-120"/>
              </a:rPr>
              <a:t>$1,000</a:t>
            </a:r>
            <a:endParaRPr lang="en-US" sz="1100" dirty="0"/>
          </a:p>
        </p:txBody>
      </p:sp>
      <p:sp>
        <p:nvSpPr>
          <p:cNvPr id="31" name="Shape 28"/>
          <p:cNvSpPr/>
          <p:nvPr/>
        </p:nvSpPr>
        <p:spPr>
          <a:xfrm>
            <a:off x="4590288" y="219456"/>
            <a:ext cx="16459" cy="4709160"/>
          </a:xfrm>
          <a:prstGeom prst="rect">
            <a:avLst/>
          </a:prstGeom>
          <a:solidFill>
            <a:srgbClr val="D1D5DB"/>
          </a:solidFill>
          <a:ln w="12700">
            <a:solidFill>
              <a:srgbClr val="D1D5DB"/>
            </a:solidFill>
            <a:prstDash val="solid"/>
          </a:ln>
        </p:spPr>
      </p:sp>
      <p:sp>
        <p:nvSpPr>
          <p:cNvPr id="32" name="Text 29"/>
          <p:cNvSpPr/>
          <p:nvPr/>
        </p:nvSpPr>
        <p:spPr>
          <a:xfrm>
            <a:off x="4773168" y="256032"/>
            <a:ext cx="4114800" cy="182880"/>
          </a:xfrm>
          <a:prstGeom prst="rect">
            <a:avLst/>
          </a:prstGeom>
          <a:noFill/>
          <a:ln/>
        </p:spPr>
        <p:txBody>
          <a:bodyPr wrap="square"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READY TO MOVE FORWARD?</a:t>
            </a:r>
            <a:endParaRPr lang="en-US" sz="700" dirty="0"/>
          </a:p>
        </p:txBody>
      </p:sp>
      <p:sp>
        <p:nvSpPr>
          <p:cNvPr id="33" name="Text 30"/>
          <p:cNvSpPr/>
          <p:nvPr/>
        </p:nvSpPr>
        <p:spPr>
          <a:xfrm>
            <a:off x="4773168" y="457200"/>
            <a:ext cx="4114800" cy="475488"/>
          </a:xfrm>
          <a:prstGeom prst="rect">
            <a:avLst/>
          </a:prstGeom>
          <a:noFill/>
          <a:ln/>
        </p:spPr>
        <p:txBody>
          <a:bodyPr wrap="square" rtlCol="0" anchor="ctr"/>
          <a:lstStyle/>
          <a:p>
            <a:pPr indent="0" marL="0">
              <a:buNone/>
            </a:pPr>
            <a:r>
              <a:rPr lang="en-US" sz="2000" b="1" dirty="0">
                <a:solidFill>
                  <a:srgbClr val="0D1F3C"/>
                </a:solidFill>
                <a:latin typeface="Trebuchet MS" pitchFamily="34" charset="0"/>
                <a:ea typeface="Trebuchet MS" pitchFamily="34" charset="-122"/>
                <a:cs typeface="Trebuchet MS" pitchFamily="34" charset="-120"/>
              </a:rPr>
              <a:t>What happens when you say yes:</a:t>
            </a:r>
            <a:endParaRPr lang="en-US" sz="2000" dirty="0"/>
          </a:p>
        </p:txBody>
      </p:sp>
      <p:sp>
        <p:nvSpPr>
          <p:cNvPr id="34" name="Text 31"/>
          <p:cNvSpPr/>
          <p:nvPr/>
        </p:nvSpPr>
        <p:spPr>
          <a:xfrm>
            <a:off x="4773168" y="1042416"/>
            <a:ext cx="292608" cy="292608"/>
          </a:xfrm>
          <a:prstGeom prst="rect">
            <a:avLst/>
          </a:prstGeom>
          <a:noFill/>
          <a:ln/>
        </p:spPr>
        <p:txBody>
          <a:bodyPr wrap="square" rtlCol="0" anchor="ctr"/>
          <a:lstStyle/>
          <a:p>
            <a:pPr indent="0" marL="0">
              <a:buNone/>
            </a:pPr>
            <a:r>
              <a:rPr lang="en-US" sz="1500" b="1" dirty="0">
                <a:solidFill>
                  <a:srgbClr val="C9A84C"/>
                </a:solidFill>
                <a:latin typeface="Trebuchet MS" pitchFamily="34" charset="0"/>
                <a:ea typeface="Trebuchet MS" pitchFamily="34" charset="-122"/>
                <a:cs typeface="Trebuchet MS" pitchFamily="34" charset="-120"/>
              </a:rPr>
              <a:t>1</a:t>
            </a:r>
            <a:endParaRPr lang="en-US" sz="1500" dirty="0"/>
          </a:p>
        </p:txBody>
      </p:sp>
      <p:sp>
        <p:nvSpPr>
          <p:cNvPr id="35" name="Shape 32"/>
          <p:cNvSpPr/>
          <p:nvPr/>
        </p:nvSpPr>
        <p:spPr>
          <a:xfrm>
            <a:off x="4773168" y="1371600"/>
            <a:ext cx="292608" cy="16459"/>
          </a:xfrm>
          <a:prstGeom prst="rect">
            <a:avLst/>
          </a:prstGeom>
          <a:solidFill>
            <a:srgbClr val="C9A84C"/>
          </a:solidFill>
          <a:ln w="12700">
            <a:solidFill>
              <a:srgbClr val="C9A84C"/>
            </a:solidFill>
            <a:prstDash val="solid"/>
          </a:ln>
        </p:spPr>
      </p:sp>
      <p:sp>
        <p:nvSpPr>
          <p:cNvPr id="36" name="Text 33"/>
          <p:cNvSpPr/>
          <p:nvPr/>
        </p:nvSpPr>
        <p:spPr>
          <a:xfrm>
            <a:off x="5157216" y="1088136"/>
            <a:ext cx="3657600" cy="329184"/>
          </a:xfrm>
          <a:prstGeom prst="rect">
            <a:avLst/>
          </a:prstGeom>
          <a:noFill/>
          <a:ln/>
        </p:spPr>
        <p:txBody>
          <a:bodyPr wrap="square"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Agreement signed &amp; start date confirmed</a:t>
            </a:r>
            <a:endParaRPr lang="en-US" sz="1050" dirty="0"/>
          </a:p>
        </p:txBody>
      </p:sp>
      <p:sp>
        <p:nvSpPr>
          <p:cNvPr id="37" name="Text 34"/>
          <p:cNvSpPr/>
          <p:nvPr/>
        </p:nvSpPr>
        <p:spPr>
          <a:xfrm>
            <a:off x="4773168" y="1554480"/>
            <a:ext cx="292608" cy="292608"/>
          </a:xfrm>
          <a:prstGeom prst="rect">
            <a:avLst/>
          </a:prstGeom>
          <a:noFill/>
          <a:ln/>
        </p:spPr>
        <p:txBody>
          <a:bodyPr wrap="square" rtlCol="0" anchor="ctr"/>
          <a:lstStyle/>
          <a:p>
            <a:pPr indent="0" marL="0">
              <a:buNone/>
            </a:pPr>
            <a:r>
              <a:rPr lang="en-US" sz="1500" b="1" dirty="0">
                <a:solidFill>
                  <a:srgbClr val="C9A84C"/>
                </a:solidFill>
                <a:latin typeface="Trebuchet MS" pitchFamily="34" charset="0"/>
                <a:ea typeface="Trebuchet MS" pitchFamily="34" charset="-122"/>
                <a:cs typeface="Trebuchet MS" pitchFamily="34" charset="-120"/>
              </a:rPr>
              <a:t>2</a:t>
            </a:r>
            <a:endParaRPr lang="en-US" sz="1500" dirty="0"/>
          </a:p>
        </p:txBody>
      </p:sp>
      <p:sp>
        <p:nvSpPr>
          <p:cNvPr id="38" name="Shape 35"/>
          <p:cNvSpPr/>
          <p:nvPr/>
        </p:nvSpPr>
        <p:spPr>
          <a:xfrm>
            <a:off x="4773168" y="1883664"/>
            <a:ext cx="292608" cy="16459"/>
          </a:xfrm>
          <a:prstGeom prst="rect">
            <a:avLst/>
          </a:prstGeom>
          <a:solidFill>
            <a:srgbClr val="C9A84C"/>
          </a:solidFill>
          <a:ln w="12700">
            <a:solidFill>
              <a:srgbClr val="C9A84C"/>
            </a:solidFill>
            <a:prstDash val="solid"/>
          </a:ln>
        </p:spPr>
      </p:sp>
      <p:sp>
        <p:nvSpPr>
          <p:cNvPr id="39" name="Text 36"/>
          <p:cNvSpPr/>
          <p:nvPr/>
        </p:nvSpPr>
        <p:spPr>
          <a:xfrm>
            <a:off x="5157216" y="1600200"/>
            <a:ext cx="3657600" cy="329184"/>
          </a:xfrm>
          <a:prstGeom prst="rect">
            <a:avLst/>
          </a:prstGeom>
          <a:noFill/>
          <a:ln/>
        </p:spPr>
        <p:txBody>
          <a:bodyPr wrap="square"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CEO + QA Manager schedule site walkthrough</a:t>
            </a:r>
            <a:endParaRPr lang="en-US" sz="1050" dirty="0"/>
          </a:p>
        </p:txBody>
      </p:sp>
      <p:sp>
        <p:nvSpPr>
          <p:cNvPr id="40" name="Text 37"/>
          <p:cNvSpPr/>
          <p:nvPr/>
        </p:nvSpPr>
        <p:spPr>
          <a:xfrm>
            <a:off x="4773168" y="2066544"/>
            <a:ext cx="292608" cy="292608"/>
          </a:xfrm>
          <a:prstGeom prst="rect">
            <a:avLst/>
          </a:prstGeom>
          <a:noFill/>
          <a:ln/>
        </p:spPr>
        <p:txBody>
          <a:bodyPr wrap="square" rtlCol="0" anchor="ctr"/>
          <a:lstStyle/>
          <a:p>
            <a:pPr indent="0" marL="0">
              <a:buNone/>
            </a:pPr>
            <a:r>
              <a:rPr lang="en-US" sz="1500" b="1" dirty="0">
                <a:solidFill>
                  <a:srgbClr val="C9A84C"/>
                </a:solidFill>
                <a:latin typeface="Trebuchet MS" pitchFamily="34" charset="0"/>
                <a:ea typeface="Trebuchet MS" pitchFamily="34" charset="-122"/>
                <a:cs typeface="Trebuchet MS" pitchFamily="34" charset="-120"/>
              </a:rPr>
              <a:t>3</a:t>
            </a:r>
            <a:endParaRPr lang="en-US" sz="1500" dirty="0"/>
          </a:p>
        </p:txBody>
      </p:sp>
      <p:sp>
        <p:nvSpPr>
          <p:cNvPr id="41" name="Shape 38"/>
          <p:cNvSpPr/>
          <p:nvPr/>
        </p:nvSpPr>
        <p:spPr>
          <a:xfrm>
            <a:off x="4773168" y="2395728"/>
            <a:ext cx="292608" cy="16459"/>
          </a:xfrm>
          <a:prstGeom prst="rect">
            <a:avLst/>
          </a:prstGeom>
          <a:solidFill>
            <a:srgbClr val="C9A84C"/>
          </a:solidFill>
          <a:ln w="12700">
            <a:solidFill>
              <a:srgbClr val="C9A84C"/>
            </a:solidFill>
            <a:prstDash val="solid"/>
          </a:ln>
        </p:spPr>
      </p:sp>
      <p:sp>
        <p:nvSpPr>
          <p:cNvPr id="42" name="Text 39"/>
          <p:cNvSpPr/>
          <p:nvPr/>
        </p:nvSpPr>
        <p:spPr>
          <a:xfrm>
            <a:off x="5157216" y="2112264"/>
            <a:ext cx="3657600" cy="329184"/>
          </a:xfrm>
          <a:prstGeom prst="rect">
            <a:avLst/>
          </a:prstGeom>
          <a:noFill/>
          <a:ln/>
        </p:spPr>
        <p:txBody>
          <a:bodyPr wrap="square"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Team assigned, keys exchanged, supplies staged</a:t>
            </a:r>
            <a:endParaRPr lang="en-US" sz="1050" dirty="0"/>
          </a:p>
        </p:txBody>
      </p:sp>
      <p:sp>
        <p:nvSpPr>
          <p:cNvPr id="43" name="Text 40"/>
          <p:cNvSpPr/>
          <p:nvPr/>
        </p:nvSpPr>
        <p:spPr>
          <a:xfrm>
            <a:off x="4773168" y="2578608"/>
            <a:ext cx="292608" cy="292608"/>
          </a:xfrm>
          <a:prstGeom prst="rect">
            <a:avLst/>
          </a:prstGeom>
          <a:noFill/>
          <a:ln/>
        </p:spPr>
        <p:txBody>
          <a:bodyPr wrap="square" rtlCol="0" anchor="ctr"/>
          <a:lstStyle/>
          <a:p>
            <a:pPr indent="0" marL="0">
              <a:buNone/>
            </a:pPr>
            <a:r>
              <a:rPr lang="en-US" sz="1500" b="1" dirty="0">
                <a:solidFill>
                  <a:srgbClr val="C9A84C"/>
                </a:solidFill>
                <a:latin typeface="Trebuchet MS" pitchFamily="34" charset="0"/>
                <a:ea typeface="Trebuchet MS" pitchFamily="34" charset="-122"/>
                <a:cs typeface="Trebuchet MS" pitchFamily="34" charset="-120"/>
              </a:rPr>
              <a:t>4</a:t>
            </a:r>
            <a:endParaRPr lang="en-US" sz="1500" dirty="0"/>
          </a:p>
        </p:txBody>
      </p:sp>
      <p:sp>
        <p:nvSpPr>
          <p:cNvPr id="44" name="Shape 41"/>
          <p:cNvSpPr/>
          <p:nvPr/>
        </p:nvSpPr>
        <p:spPr>
          <a:xfrm>
            <a:off x="4773168" y="2907792"/>
            <a:ext cx="292608" cy="16459"/>
          </a:xfrm>
          <a:prstGeom prst="rect">
            <a:avLst/>
          </a:prstGeom>
          <a:solidFill>
            <a:srgbClr val="C9A84C"/>
          </a:solidFill>
          <a:ln w="12700">
            <a:solidFill>
              <a:srgbClr val="C9A84C"/>
            </a:solidFill>
            <a:prstDash val="solid"/>
          </a:ln>
        </p:spPr>
      </p:sp>
      <p:sp>
        <p:nvSpPr>
          <p:cNvPr id="45" name="Text 42"/>
          <p:cNvSpPr/>
          <p:nvPr/>
        </p:nvSpPr>
        <p:spPr>
          <a:xfrm>
            <a:off x="5157216" y="2624328"/>
            <a:ext cx="3657600" cy="329184"/>
          </a:xfrm>
          <a:prstGeom prst="rect">
            <a:avLst/>
          </a:prstGeom>
          <a:noFill/>
          <a:ln/>
        </p:spPr>
        <p:txBody>
          <a:bodyPr wrap="square" rtlCol="0" anchor="ctr"/>
          <a:lstStyle/>
          <a:p>
            <a:pPr indent="0" marL="0">
              <a:buNone/>
            </a:pPr>
            <a:r>
              <a:rPr lang="en-US" sz="1050" dirty="0">
                <a:solidFill>
                  <a:srgbClr val="6B7280"/>
                </a:solidFill>
                <a:latin typeface="Calibri" pitchFamily="34" charset="0"/>
                <a:ea typeface="Calibri" pitchFamily="34" charset="-122"/>
                <a:cs typeface="Calibri" pitchFamily="34" charset="-120"/>
              </a:rPr>
              <a:t>QA inspection account created — you get dashboard access</a:t>
            </a:r>
            <a:endParaRPr lang="en-US" sz="1050" dirty="0"/>
          </a:p>
        </p:txBody>
      </p:sp>
      <p:sp>
        <p:nvSpPr>
          <p:cNvPr id="46" name="Text 43"/>
          <p:cNvSpPr/>
          <p:nvPr/>
        </p:nvSpPr>
        <p:spPr>
          <a:xfrm>
            <a:off x="4773168" y="3090672"/>
            <a:ext cx="292608" cy="292608"/>
          </a:xfrm>
          <a:prstGeom prst="rect">
            <a:avLst/>
          </a:prstGeom>
          <a:noFill/>
          <a:ln/>
        </p:spPr>
        <p:txBody>
          <a:bodyPr wrap="square" rtlCol="0" anchor="ctr"/>
          <a:lstStyle/>
          <a:p>
            <a:pPr indent="0" marL="0">
              <a:buNone/>
            </a:pPr>
            <a:r>
              <a:rPr lang="en-US" sz="1500" b="1" dirty="0">
                <a:solidFill>
                  <a:srgbClr val="C9A84C"/>
                </a:solidFill>
                <a:latin typeface="Trebuchet MS" pitchFamily="34" charset="0"/>
                <a:ea typeface="Trebuchet MS" pitchFamily="34" charset="-122"/>
                <a:cs typeface="Trebuchet MS" pitchFamily="34" charset="-120"/>
              </a:rPr>
              <a:t>5</a:t>
            </a:r>
            <a:endParaRPr lang="en-US" sz="1500" dirty="0"/>
          </a:p>
        </p:txBody>
      </p:sp>
      <p:sp>
        <p:nvSpPr>
          <p:cNvPr id="47" name="Shape 44"/>
          <p:cNvSpPr/>
          <p:nvPr/>
        </p:nvSpPr>
        <p:spPr>
          <a:xfrm>
            <a:off x="4773168" y="3419856"/>
            <a:ext cx="292608" cy="16459"/>
          </a:xfrm>
          <a:prstGeom prst="rect">
            <a:avLst/>
          </a:prstGeom>
          <a:solidFill>
            <a:srgbClr val="C9A84C"/>
          </a:solidFill>
          <a:ln w="12700">
            <a:solidFill>
              <a:srgbClr val="C9A84C"/>
            </a:solidFill>
            <a:prstDash val="solid"/>
          </a:ln>
        </p:spPr>
      </p:sp>
      <p:sp>
        <p:nvSpPr>
          <p:cNvPr id="48" name="Text 45"/>
          <p:cNvSpPr/>
          <p:nvPr/>
        </p:nvSpPr>
        <p:spPr>
          <a:xfrm>
            <a:off x="5157216" y="3136392"/>
            <a:ext cx="3657600" cy="329184"/>
          </a:xfrm>
          <a:prstGeom prst="rect">
            <a:avLst/>
          </a:prstGeom>
          <a:noFill/>
          <a:ln/>
        </p:spPr>
        <p:txBody>
          <a:bodyPr wrap="square"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First service delivered on your start date, July 1</a:t>
            </a:r>
            <a:endParaRPr lang="en-US" sz="1050" dirty="0"/>
          </a:p>
        </p:txBody>
      </p:sp>
      <p:sp>
        <p:nvSpPr>
          <p:cNvPr id="49" name="Shape 46"/>
          <p:cNvSpPr/>
          <p:nvPr/>
        </p:nvSpPr>
        <p:spPr>
          <a:xfrm>
            <a:off x="4773168" y="3657600"/>
            <a:ext cx="4114800" cy="16459"/>
          </a:xfrm>
          <a:prstGeom prst="rect">
            <a:avLst/>
          </a:prstGeom>
          <a:solidFill>
            <a:srgbClr val="D1D5DB"/>
          </a:solidFill>
          <a:ln w="12700">
            <a:solidFill>
              <a:srgbClr val="D1D5DB"/>
            </a:solidFill>
            <a:prstDash val="solid"/>
          </a:ln>
        </p:spPr>
      </p:sp>
      <p:sp>
        <p:nvSpPr>
          <p:cNvPr id="50" name="Text 47"/>
          <p:cNvSpPr/>
          <p:nvPr/>
        </p:nvSpPr>
        <p:spPr>
          <a:xfrm>
            <a:off x="4773168" y="3749040"/>
            <a:ext cx="4114800" cy="274320"/>
          </a:xfrm>
          <a:prstGeom prst="rect">
            <a:avLst/>
          </a:prstGeom>
          <a:noFill/>
          <a:ln/>
        </p:spPr>
        <p:txBody>
          <a:bodyPr wrap="square" rtlCol="0" anchor="ctr"/>
          <a:lstStyle/>
          <a:p>
            <a:pPr indent="0" marL="0">
              <a:buNone/>
            </a:pPr>
            <a:r>
              <a:rPr lang="en-US" sz="1300" b="1" dirty="0">
                <a:solidFill>
                  <a:srgbClr val="0D1F3C"/>
                </a:solidFill>
                <a:latin typeface="Trebuchet MS" pitchFamily="34" charset="0"/>
                <a:ea typeface="Trebuchet MS" pitchFamily="34" charset="-122"/>
                <a:cs typeface="Trebuchet MS" pitchFamily="34" charset="-120"/>
              </a:rPr>
              <a:t>Hereford Johnson</a:t>
            </a:r>
            <a:endParaRPr lang="en-US" sz="1300" dirty="0"/>
          </a:p>
        </p:txBody>
      </p:sp>
      <p:sp>
        <p:nvSpPr>
          <p:cNvPr id="51" name="Text 48"/>
          <p:cNvSpPr/>
          <p:nvPr/>
        </p:nvSpPr>
        <p:spPr>
          <a:xfrm>
            <a:off x="4773168" y="4023360"/>
            <a:ext cx="4114800" cy="219456"/>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623-321-2542  ·  office@maddogcleaning.com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MDF Facility Services Proposal — Logical Systems</dc:title>
  <dc:subject>PptxGenJS Presentation</dc:subject>
  <dc:creator>PptxGenJS</dc:creator>
  <cp:lastModifiedBy>PptxGenJS</cp:lastModifiedBy>
  <cp:revision>1</cp:revision>
  <dcterms:created xsi:type="dcterms:W3CDTF">2026-05-28T23:38:17Z</dcterms:created>
  <dcterms:modified xsi:type="dcterms:W3CDTF">2026-05-28T23:38:17Z</dcterms:modified>
</cp:coreProperties>
</file>