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mdf_logo_all_white.png">    </p:cNvPr>
          <p:cNvPicPr>
            <a:picLocks noChangeAspect="1"/>
          </p:cNvPicPr>
          <p:nvPr/>
        </p:nvPicPr>
        <p:blipFill>
          <a:blip r:embed="rId2"/>
          <a:stretch>
            <a:fillRect/>
          </a:stretch>
        </p:blipFill>
        <p:spPr>
          <a:xfrm>
            <a:off x="347472" y="256032"/>
            <a:ext cx="1051560" cy="621792"/>
          </a:xfrm>
          <a:prstGeom prst="rect">
            <a:avLst/>
          </a:prstGeom>
        </p:spPr>
      </p:pic>
      <p:sp>
        <p:nvSpPr>
          <p:cNvPr id="3" name="Text 0"/>
          <p:cNvSpPr/>
          <p:nvPr/>
        </p:nvSpPr>
        <p:spPr>
          <a:xfrm>
            <a:off x="457200" y="3154680"/>
            <a:ext cx="6400800" cy="182880"/>
          </a:xfrm>
          <a:prstGeom prst="rect">
            <a:avLst/>
          </a:prstGeom>
          <a:noFill/>
          <a:ln/>
        </p:spPr>
        <p:txBody>
          <a:bodyPr wrap="square" rtlCol="0" anchor="ctr"/>
          <a:lstStyle/>
          <a:p>
            <a:pPr indent="0" marL="0">
              <a:buNone/>
            </a:pPr>
            <a:r>
              <a:rPr lang="en-US" sz="700" b="1" spc="350" kern="0" dirty="0">
                <a:solidFill>
                  <a:srgbClr val="A8B8CC"/>
                </a:solidFill>
                <a:latin typeface="Calibri" pitchFamily="34" charset="0"/>
                <a:ea typeface="Calibri" pitchFamily="34" charset="-122"/>
                <a:cs typeface="Calibri" pitchFamily="34" charset="-120"/>
              </a:rPr>
              <a:t>PREPARED FOR</a:t>
            </a:r>
            <a:endParaRPr lang="en-US" sz="700" dirty="0"/>
          </a:p>
        </p:txBody>
      </p:sp>
      <p:sp>
        <p:nvSpPr>
          <p:cNvPr id="4" name="Text 1"/>
          <p:cNvSpPr/>
          <p:nvPr/>
        </p:nvSpPr>
        <p:spPr>
          <a:xfrm>
            <a:off x="457200" y="3346704"/>
            <a:ext cx="7772400" cy="82296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Logical Systems Inc.</a:t>
            </a:r>
            <a:endParaRPr lang="en-US" sz="3600" dirty="0"/>
          </a:p>
        </p:txBody>
      </p:sp>
      <p:sp>
        <p:nvSpPr>
          <p:cNvPr id="5" name="Shape 2"/>
          <p:cNvSpPr/>
          <p:nvPr/>
        </p:nvSpPr>
        <p:spPr>
          <a:xfrm>
            <a:off x="457200" y="4187952"/>
            <a:ext cx="6583680" cy="16459"/>
          </a:xfrm>
          <a:prstGeom prst="rect">
            <a:avLst/>
          </a:prstGeom>
          <a:solidFill>
            <a:srgbClr val="5A6A7A"/>
          </a:solidFill>
          <a:ln w="12700">
            <a:solidFill>
              <a:srgbClr val="5A6A7A"/>
            </a:solidFill>
            <a:prstDash val="solid"/>
          </a:ln>
        </p:spPr>
      </p:sp>
      <p:sp>
        <p:nvSpPr>
          <p:cNvPr id="6" name="Text 3"/>
          <p:cNvSpPr/>
          <p:nvPr/>
        </p:nvSpPr>
        <p:spPr>
          <a:xfrm>
            <a:off x="457200" y="4242816"/>
            <a:ext cx="8412480" cy="219456"/>
          </a:xfrm>
          <a:prstGeom prst="rect">
            <a:avLst/>
          </a:prstGeom>
          <a:noFill/>
          <a:ln/>
        </p:spPr>
        <p:txBody>
          <a:bodyPr wrap="square" rtlCol="0" anchor="ctr"/>
          <a:lstStyle/>
          <a:p>
            <a:pPr indent="0" marL="0">
              <a:buNone/>
            </a:pPr>
            <a:r>
              <a:rPr lang="en-US" sz="950" dirty="0">
                <a:solidFill>
                  <a:srgbClr val="8B9BAD"/>
                </a:solidFill>
                <a:latin typeface="Calibri" pitchFamily="34" charset="0"/>
                <a:ea typeface="Calibri" pitchFamily="34" charset="-122"/>
                <a:cs typeface="Calibri" pitchFamily="34" charset="-120"/>
              </a:rPr>
              <a:t>Facility Services Proposal  ·  April Bocox, Health and Safety Coordinator  ·  May 28,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WHY MAD DOG FACILITY PARTNERS</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832104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 can choose any janitorial company.</a:t>
            </a:r>
            <a:endParaRPr lang="en-US" sz="2400" dirty="0"/>
          </a:p>
        </p:txBody>
      </p:sp>
      <p:sp>
        <p:nvSpPr>
          <p:cNvPr id="7" name="Text 4"/>
          <p:cNvSpPr/>
          <p:nvPr/>
        </p:nvSpPr>
        <p:spPr>
          <a:xfrm>
            <a:off x="457200" y="713232"/>
            <a:ext cx="8321040" cy="237744"/>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Here is why our clients stay for an average of 6 years.</a:t>
            </a:r>
            <a:endParaRPr lang="en-US" sz="1200" dirty="0"/>
          </a:p>
        </p:txBody>
      </p:sp>
      <p:sp>
        <p:nvSpPr>
          <p:cNvPr id="8" name="Shape 5"/>
          <p:cNvSpPr/>
          <p:nvPr/>
        </p:nvSpPr>
        <p:spPr>
          <a:xfrm>
            <a:off x="457200" y="987552"/>
            <a:ext cx="8321040" cy="16459"/>
          </a:xfrm>
          <a:prstGeom prst="rect">
            <a:avLst/>
          </a:prstGeom>
          <a:solidFill>
            <a:srgbClr val="D1D5DB"/>
          </a:solidFill>
          <a:ln w="12700">
            <a:solidFill>
              <a:srgbClr val="D1D5DB"/>
            </a:solidFill>
            <a:prstDash val="solid"/>
          </a:ln>
        </p:spPr>
      </p:sp>
      <p:sp>
        <p:nvSpPr>
          <p:cNvPr id="9" name="Text 6"/>
          <p:cNvSpPr/>
          <p:nvPr/>
        </p:nvSpPr>
        <p:spPr>
          <a:xfrm>
            <a:off x="457200" y="1060704"/>
            <a:ext cx="2633472" cy="868680"/>
          </a:xfrm>
          <a:prstGeom prst="rect">
            <a:avLst/>
          </a:prstGeom>
          <a:noFill/>
          <a:ln/>
        </p:spPr>
        <p:txBody>
          <a:bodyPr wrap="square" rtlCol="0" anchor="ctr"/>
          <a:lstStyle/>
          <a:p>
            <a:pPr indent="0" marL="0">
              <a:buNone/>
            </a:pPr>
            <a:r>
              <a:rPr lang="en-US" sz="5000" b="1" dirty="0">
                <a:solidFill>
                  <a:srgbClr val="0D1F3C"/>
                </a:solidFill>
                <a:latin typeface="Trebuchet MS" pitchFamily="34" charset="0"/>
                <a:ea typeface="Trebuchet MS" pitchFamily="34" charset="-122"/>
                <a:cs typeface="Trebuchet MS" pitchFamily="34" charset="-120"/>
              </a:rPr>
              <a:t>92%+</a:t>
            </a:r>
            <a:endParaRPr lang="en-US" sz="5000" dirty="0"/>
          </a:p>
        </p:txBody>
      </p:sp>
      <p:sp>
        <p:nvSpPr>
          <p:cNvPr id="10" name="Text 7"/>
          <p:cNvSpPr/>
          <p:nvPr/>
        </p:nvSpPr>
        <p:spPr>
          <a:xfrm>
            <a:off x="457200" y="1938528"/>
            <a:ext cx="2633472" cy="23774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avg. inspection score</a:t>
            </a:r>
            <a:endParaRPr lang="en-US" sz="1000" dirty="0"/>
          </a:p>
        </p:txBody>
      </p:sp>
      <p:sp>
        <p:nvSpPr>
          <p:cNvPr id="11" name="Shape 8"/>
          <p:cNvSpPr/>
          <p:nvPr/>
        </p:nvSpPr>
        <p:spPr>
          <a:xfrm>
            <a:off x="457200" y="2212848"/>
            <a:ext cx="2633472" cy="16459"/>
          </a:xfrm>
          <a:prstGeom prst="rect">
            <a:avLst/>
          </a:prstGeom>
          <a:solidFill>
            <a:srgbClr val="D1D5DB"/>
          </a:solidFill>
          <a:ln w="12700">
            <a:solidFill>
              <a:srgbClr val="D1D5DB"/>
            </a:solidFill>
            <a:prstDash val="solid"/>
          </a:ln>
        </p:spPr>
      </p:sp>
      <p:sp>
        <p:nvSpPr>
          <p:cNvPr id="12" name="Text 9"/>
          <p:cNvSpPr/>
          <p:nvPr/>
        </p:nvSpPr>
        <p:spPr>
          <a:xfrm>
            <a:off x="457200" y="2286000"/>
            <a:ext cx="2633472" cy="274320"/>
          </a:xfrm>
          <a:prstGeom prst="rect">
            <a:avLst/>
          </a:prstGeom>
          <a:noFill/>
          <a:ln/>
        </p:spPr>
        <p:txBody>
          <a:bodyPr wrap="square" rtlCol="0" anchor="ctr"/>
          <a:lstStyle/>
          <a:p>
            <a:pPr indent="0" marL="0">
              <a:buNone/>
            </a:pPr>
            <a:r>
              <a:rPr lang="en-US" sz="1300" b="1" dirty="0">
                <a:solidFill>
                  <a:srgbClr val="374151"/>
                </a:solidFill>
                <a:latin typeface="Trebuchet MS" pitchFamily="34" charset="0"/>
                <a:ea typeface="Trebuchet MS" pitchFamily="34" charset="-122"/>
                <a:cs typeface="Trebuchet MS" pitchFamily="34" charset="-120"/>
              </a:rPr>
              <a:t>Real-Time Quality Assurance</a:t>
            </a:r>
            <a:endParaRPr lang="en-US" sz="1300" dirty="0"/>
          </a:p>
        </p:txBody>
      </p:sp>
      <p:sp>
        <p:nvSpPr>
          <p:cNvPr id="13" name="Text 10"/>
          <p:cNvSpPr/>
          <p:nvPr/>
        </p:nvSpPr>
        <p:spPr>
          <a:xfrm>
            <a:off x="457200" y="2596896"/>
            <a:ext cx="2633472" cy="148132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Every service is tracked through a third-party inspection platform. Scores are logged, time-stamped, and available to you in real time. You never have to wonder if the work was done — or how well.</a:t>
            </a:r>
            <a:endParaRPr lang="en-US" sz="1100" dirty="0"/>
          </a:p>
        </p:txBody>
      </p:sp>
      <p:sp>
        <p:nvSpPr>
          <p:cNvPr id="14" name="Shape 11"/>
          <p:cNvSpPr/>
          <p:nvPr/>
        </p:nvSpPr>
        <p:spPr>
          <a:xfrm>
            <a:off x="3127248" y="1005840"/>
            <a:ext cx="16459" cy="3621024"/>
          </a:xfrm>
          <a:prstGeom prst="rect">
            <a:avLst/>
          </a:prstGeom>
          <a:solidFill>
            <a:srgbClr val="D1D5DB"/>
          </a:solidFill>
          <a:ln w="12700">
            <a:solidFill>
              <a:srgbClr val="D1D5DB"/>
            </a:solidFill>
            <a:prstDash val="solid"/>
          </a:ln>
        </p:spPr>
      </p:sp>
      <p:sp>
        <p:nvSpPr>
          <p:cNvPr id="15" name="Text 12"/>
          <p:cNvSpPr/>
          <p:nvPr/>
        </p:nvSpPr>
        <p:spPr>
          <a:xfrm>
            <a:off x="3255264" y="1060704"/>
            <a:ext cx="2633472" cy="868680"/>
          </a:xfrm>
          <a:prstGeom prst="rect">
            <a:avLst/>
          </a:prstGeom>
          <a:noFill/>
          <a:ln/>
        </p:spPr>
        <p:txBody>
          <a:bodyPr wrap="square" rtlCol="0" anchor="ctr"/>
          <a:lstStyle/>
          <a:p>
            <a:pPr indent="0" marL="0">
              <a:buNone/>
            </a:pPr>
            <a:r>
              <a:rPr lang="en-US" sz="5000" b="1" dirty="0">
                <a:solidFill>
                  <a:srgbClr val="0D1F3C"/>
                </a:solidFill>
                <a:latin typeface="Trebuchet MS" pitchFamily="34" charset="0"/>
                <a:ea typeface="Trebuchet MS" pitchFamily="34" charset="-122"/>
                <a:cs typeface="Trebuchet MS" pitchFamily="34" charset="-120"/>
              </a:rPr>
              <a:t>&lt;24hr</a:t>
            </a:r>
            <a:endParaRPr lang="en-US" sz="5000" dirty="0"/>
          </a:p>
        </p:txBody>
      </p:sp>
      <p:sp>
        <p:nvSpPr>
          <p:cNvPr id="16" name="Text 13"/>
          <p:cNvSpPr/>
          <p:nvPr/>
        </p:nvSpPr>
        <p:spPr>
          <a:xfrm>
            <a:off x="3255264" y="1938528"/>
            <a:ext cx="2633472" cy="23774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avg. resolution time</a:t>
            </a:r>
            <a:endParaRPr lang="en-US" sz="1000" dirty="0"/>
          </a:p>
        </p:txBody>
      </p:sp>
      <p:sp>
        <p:nvSpPr>
          <p:cNvPr id="17" name="Shape 14"/>
          <p:cNvSpPr/>
          <p:nvPr/>
        </p:nvSpPr>
        <p:spPr>
          <a:xfrm>
            <a:off x="3255264" y="2212848"/>
            <a:ext cx="2633472" cy="16459"/>
          </a:xfrm>
          <a:prstGeom prst="rect">
            <a:avLst/>
          </a:prstGeom>
          <a:solidFill>
            <a:srgbClr val="D1D5DB"/>
          </a:solidFill>
          <a:ln w="12700">
            <a:solidFill>
              <a:srgbClr val="D1D5DB"/>
            </a:solidFill>
            <a:prstDash val="solid"/>
          </a:ln>
        </p:spPr>
      </p:sp>
      <p:sp>
        <p:nvSpPr>
          <p:cNvPr id="18" name="Text 15"/>
          <p:cNvSpPr/>
          <p:nvPr/>
        </p:nvSpPr>
        <p:spPr>
          <a:xfrm>
            <a:off x="3255264" y="2286000"/>
            <a:ext cx="2633472" cy="274320"/>
          </a:xfrm>
          <a:prstGeom prst="rect">
            <a:avLst/>
          </a:prstGeom>
          <a:noFill/>
          <a:ln/>
        </p:spPr>
        <p:txBody>
          <a:bodyPr wrap="square" rtlCol="0" anchor="ctr"/>
          <a:lstStyle/>
          <a:p>
            <a:pPr indent="0" marL="0">
              <a:buNone/>
            </a:pPr>
            <a:r>
              <a:rPr lang="en-US" sz="1300" b="1" dirty="0">
                <a:solidFill>
                  <a:srgbClr val="374151"/>
                </a:solidFill>
                <a:latin typeface="Trebuchet MS" pitchFamily="34" charset="0"/>
                <a:ea typeface="Trebuchet MS" pitchFamily="34" charset="-122"/>
                <a:cs typeface="Trebuchet MS" pitchFamily="34" charset="-120"/>
              </a:rPr>
              <a:t>Documented Service Resolution</a:t>
            </a:r>
            <a:endParaRPr lang="en-US" sz="1300" dirty="0"/>
          </a:p>
        </p:txBody>
      </p:sp>
      <p:sp>
        <p:nvSpPr>
          <p:cNvPr id="19" name="Text 16"/>
          <p:cNvSpPr/>
          <p:nvPr/>
        </p:nvSpPr>
        <p:spPr>
          <a:xfrm>
            <a:off x="3255264" y="2596896"/>
            <a:ext cx="2633472" cy="148132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Every issue generates a service ticket with a timestamp and assigned owner. Problems are tracked from open to closed — nothing falls through the cracks and every response is documented.</a:t>
            </a:r>
            <a:endParaRPr lang="en-US" sz="1100" dirty="0"/>
          </a:p>
        </p:txBody>
      </p:sp>
      <p:sp>
        <p:nvSpPr>
          <p:cNvPr id="20" name="Shape 17"/>
          <p:cNvSpPr/>
          <p:nvPr/>
        </p:nvSpPr>
        <p:spPr>
          <a:xfrm>
            <a:off x="5925312" y="1005840"/>
            <a:ext cx="16459" cy="3621024"/>
          </a:xfrm>
          <a:prstGeom prst="rect">
            <a:avLst/>
          </a:prstGeom>
          <a:solidFill>
            <a:srgbClr val="D1D5DB"/>
          </a:solidFill>
          <a:ln w="12700">
            <a:solidFill>
              <a:srgbClr val="D1D5DB"/>
            </a:solidFill>
            <a:prstDash val="solid"/>
          </a:ln>
        </p:spPr>
      </p:sp>
      <p:sp>
        <p:nvSpPr>
          <p:cNvPr id="21" name="Text 18"/>
          <p:cNvSpPr/>
          <p:nvPr/>
        </p:nvSpPr>
        <p:spPr>
          <a:xfrm>
            <a:off x="6053328" y="1060704"/>
            <a:ext cx="2633472" cy="868680"/>
          </a:xfrm>
          <a:prstGeom prst="rect">
            <a:avLst/>
          </a:prstGeom>
          <a:noFill/>
          <a:ln/>
        </p:spPr>
        <p:txBody>
          <a:bodyPr wrap="square" rtlCol="0" anchor="ctr"/>
          <a:lstStyle/>
          <a:p>
            <a:pPr indent="0" marL="0">
              <a:buNone/>
            </a:pPr>
            <a:r>
              <a:rPr lang="en-US" sz="5000" b="1" dirty="0">
                <a:solidFill>
                  <a:srgbClr val="0D1F3C"/>
                </a:solidFill>
                <a:latin typeface="Trebuchet MS" pitchFamily="34" charset="0"/>
                <a:ea typeface="Trebuchet MS" pitchFamily="34" charset="-122"/>
                <a:cs typeface="Trebuchet MS" pitchFamily="34" charset="-120"/>
              </a:rPr>
              <a:t>CEO</a:t>
            </a:r>
            <a:endParaRPr lang="en-US" sz="5000" dirty="0"/>
          </a:p>
        </p:txBody>
      </p:sp>
      <p:sp>
        <p:nvSpPr>
          <p:cNvPr id="22" name="Text 19"/>
          <p:cNvSpPr/>
          <p:nvPr/>
        </p:nvSpPr>
        <p:spPr>
          <a:xfrm>
            <a:off x="6053328" y="1938528"/>
            <a:ext cx="2633472" cy="23774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is your primary contact</a:t>
            </a:r>
            <a:endParaRPr lang="en-US" sz="1000" dirty="0"/>
          </a:p>
        </p:txBody>
      </p:sp>
      <p:sp>
        <p:nvSpPr>
          <p:cNvPr id="23" name="Shape 20"/>
          <p:cNvSpPr/>
          <p:nvPr/>
        </p:nvSpPr>
        <p:spPr>
          <a:xfrm>
            <a:off x="6053328" y="2212848"/>
            <a:ext cx="2633472" cy="16459"/>
          </a:xfrm>
          <a:prstGeom prst="rect">
            <a:avLst/>
          </a:prstGeom>
          <a:solidFill>
            <a:srgbClr val="D1D5DB"/>
          </a:solidFill>
          <a:ln w="12700">
            <a:solidFill>
              <a:srgbClr val="D1D5DB"/>
            </a:solidFill>
            <a:prstDash val="solid"/>
          </a:ln>
        </p:spPr>
      </p:sp>
      <p:sp>
        <p:nvSpPr>
          <p:cNvPr id="24" name="Text 21"/>
          <p:cNvSpPr/>
          <p:nvPr/>
        </p:nvSpPr>
        <p:spPr>
          <a:xfrm>
            <a:off x="6053328" y="2286000"/>
            <a:ext cx="2633472" cy="274320"/>
          </a:xfrm>
          <a:prstGeom prst="rect">
            <a:avLst/>
          </a:prstGeom>
          <a:noFill/>
          <a:ln/>
        </p:spPr>
        <p:txBody>
          <a:bodyPr wrap="square" rtlCol="0" anchor="ctr"/>
          <a:lstStyle/>
          <a:p>
            <a:pPr indent="0" marL="0">
              <a:buNone/>
            </a:pPr>
            <a:r>
              <a:rPr lang="en-US" sz="1300" b="1" dirty="0">
                <a:solidFill>
                  <a:srgbClr val="374151"/>
                </a:solidFill>
                <a:latin typeface="Trebuchet MS" pitchFamily="34" charset="0"/>
                <a:ea typeface="Trebuchet MS" pitchFamily="34" charset="-122"/>
                <a:cs typeface="Trebuchet MS" pitchFamily="34" charset="-120"/>
              </a:rPr>
              <a:t>Direct Executive Access</a:t>
            </a:r>
            <a:endParaRPr lang="en-US" sz="1300" dirty="0"/>
          </a:p>
        </p:txBody>
      </p:sp>
      <p:sp>
        <p:nvSpPr>
          <p:cNvPr id="25" name="Text 22"/>
          <p:cNvSpPr/>
          <p:nvPr/>
        </p:nvSpPr>
        <p:spPr>
          <a:xfrm>
            <a:off x="6053328" y="2596896"/>
            <a:ext cx="2633472" cy="148132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Hereford Johnson, US Air Force veteran and company founder, picks up the phone. No account managers, no call routing, no corporate layers between you and the person ultimately responsible.</a:t>
            </a:r>
            <a:endParaRPr lang="en-US" sz="1100" dirty="0"/>
          </a:p>
        </p:txBody>
      </p:sp>
      <p:sp>
        <p:nvSpPr>
          <p:cNvPr id="26" name="Shape 23"/>
          <p:cNvSpPr/>
          <p:nvPr/>
        </p:nvSpPr>
        <p:spPr>
          <a:xfrm>
            <a:off x="457200" y="4151376"/>
            <a:ext cx="8321040" cy="16459"/>
          </a:xfrm>
          <a:prstGeom prst="rect">
            <a:avLst/>
          </a:prstGeom>
          <a:solidFill>
            <a:srgbClr val="D1D5DB"/>
          </a:solidFill>
          <a:ln w="12700">
            <a:solidFill>
              <a:srgbClr val="D1D5DB"/>
            </a:solidFill>
            <a:prstDash val="solid"/>
          </a:ln>
        </p:spPr>
      </p:sp>
      <p:sp>
        <p:nvSpPr>
          <p:cNvPr id="27" name="Text 24"/>
          <p:cNvSpPr/>
          <p:nvPr/>
        </p:nvSpPr>
        <p:spPr>
          <a:xfrm>
            <a:off x="457200" y="4206240"/>
            <a:ext cx="8321040" cy="402336"/>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"We surveyed our clients on what we should do more of. The #1 answer was communication and integrity. We believe this is why our average client has been with us for 6 years."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FACILITY</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3</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493776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We built this for Logical Systems.</a:t>
            </a:r>
            <a:endParaRPr lang="en-US" sz="2400" dirty="0"/>
          </a:p>
        </p:txBody>
      </p:sp>
      <p:sp>
        <p:nvSpPr>
          <p:cNvPr id="7" name="Shape 4"/>
          <p:cNvSpPr/>
          <p:nvPr/>
        </p:nvSpPr>
        <p:spPr>
          <a:xfrm>
            <a:off x="457200" y="768096"/>
            <a:ext cx="4937760" cy="16459"/>
          </a:xfrm>
          <a:prstGeom prst="rect">
            <a:avLst/>
          </a:prstGeom>
          <a:solidFill>
            <a:srgbClr val="D1D5DB"/>
          </a:solidFill>
          <a:ln w="12700">
            <a:solidFill>
              <a:srgbClr val="D1D5DB"/>
            </a:solidFill>
            <a:prstDash val="solid"/>
          </a:ln>
        </p:spPr>
      </p:sp>
      <p:sp>
        <p:nvSpPr>
          <p:cNvPr id="8" name="Text 5"/>
          <p:cNvSpPr/>
          <p:nvPr/>
        </p:nvSpPr>
        <p:spPr>
          <a:xfrm>
            <a:off x="457200" y="859536"/>
            <a:ext cx="4937760" cy="239572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LSI operates manufacturing and industrial facilities where precision, compliance, and uptime are non-negotiable. Your environment demands cleaning that works around production schedules, protects sensitive controls equipment, and meets the documentation standards your own clients expect from you.</a:t>
            </a:r>
            <a:endParaRPr lang="en-US" sz="1100" dirty="0"/>
          </a:p>
          <a:p>
            <a:pPr indent="0" marL="0">
              <a:buNone/>
            </a:pP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MDF delivers compliance-ready facility services designed for automation and controls environments. We coordinate around your production calendar, document every service, and treat your facility with the same operational discipline your team applies to every project.</a:t>
            </a:r>
            <a:endParaRPr lang="en-US" sz="1100" dirty="0"/>
          </a:p>
          <a:p>
            <a:pPr indent="0" marL="0">
              <a:buNone/>
            </a:pP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LSI's first customer from 1985 is still active today. Our oldest client relationship is 12 years. Retention isn't accidental — it's the product of showing up consistently and fixing problems fast.</a:t>
            </a:r>
            <a:endParaRPr lang="en-US" sz="1100" dirty="0"/>
          </a:p>
        </p:txBody>
      </p:sp>
      <p:sp>
        <p:nvSpPr>
          <p:cNvPr id="9" name="Shape 6"/>
          <p:cNvSpPr/>
          <p:nvPr/>
        </p:nvSpPr>
        <p:spPr>
          <a:xfrm>
            <a:off x="457200" y="3328416"/>
            <a:ext cx="4937760" cy="16459"/>
          </a:xfrm>
          <a:prstGeom prst="rect">
            <a:avLst/>
          </a:prstGeom>
          <a:solidFill>
            <a:srgbClr val="D1D5DB"/>
          </a:solidFill>
          <a:ln w="12700">
            <a:solidFill>
              <a:srgbClr val="D1D5DB"/>
            </a:solidFill>
            <a:prstDash val="solid"/>
          </a:ln>
        </p:spPr>
      </p:sp>
      <p:sp>
        <p:nvSpPr>
          <p:cNvPr id="10" name="Text 7"/>
          <p:cNvSpPr/>
          <p:nvPr/>
        </p:nvSpPr>
        <p:spPr>
          <a:xfrm>
            <a:off x="457200" y="3401568"/>
            <a:ext cx="4937760" cy="658368"/>
          </a:xfrm>
          <a:prstGeom prst="rect">
            <a:avLst/>
          </a:prstGeom>
          <a:noFill/>
          <a:ln/>
        </p:spPr>
        <p:txBody>
          <a:bodyPr wrap="square" rtlCol="0" anchor="ctr"/>
          <a:lstStyle/>
          <a:p>
            <a:pPr indent="0" marL="0">
              <a:buNone/>
            </a:pPr>
            <a:r>
              <a:rPr lang="en-US" sz="1100" i="1" dirty="0">
                <a:solidFill>
                  <a:srgbClr val="1B3A6B"/>
                </a:solidFill>
                <a:latin typeface="Calibri" pitchFamily="34" charset="0"/>
                <a:ea typeface="Calibri" pitchFamily="34" charset="-122"/>
                <a:cs typeface="Calibri" pitchFamily="34" charset="-120"/>
              </a:rPr>
              <a:t>"Your core values — service, integrity, and excellence — are the same values we build our teams around. That alignment isn't coincidental. It's why this partnership works."</a:t>
            </a:r>
            <a:endParaRPr lang="en-US" sz="1100" dirty="0"/>
          </a:p>
        </p:txBody>
      </p:sp>
      <p:sp>
        <p:nvSpPr>
          <p:cNvPr id="11" name="Shape 8"/>
          <p:cNvSpPr/>
          <p:nvPr/>
        </p:nvSpPr>
        <p:spPr>
          <a:xfrm>
            <a:off x="457200" y="4133088"/>
            <a:ext cx="4937760" cy="16459"/>
          </a:xfrm>
          <a:prstGeom prst="rect">
            <a:avLst/>
          </a:prstGeom>
          <a:solidFill>
            <a:srgbClr val="D1D5DB"/>
          </a:solidFill>
          <a:ln w="12700">
            <a:solidFill>
              <a:srgbClr val="D1D5DB"/>
            </a:solidFill>
            <a:prstDash val="solid"/>
          </a:ln>
        </p:spPr>
      </p:sp>
      <p:sp>
        <p:nvSpPr>
          <p:cNvPr id="12" name="Text 9"/>
          <p:cNvSpPr/>
          <p:nvPr/>
        </p:nvSpPr>
        <p:spPr>
          <a:xfrm>
            <a:off x="457200" y="4187952"/>
            <a:ext cx="4937760" cy="219456"/>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 Hereford Johnson, CEO, Mad Dog Facility Partners</a:t>
            </a:r>
            <a:endParaRPr lang="en-US" sz="900" dirty="0"/>
          </a:p>
        </p:txBody>
      </p:sp>
      <p:sp>
        <p:nvSpPr>
          <p:cNvPr id="13" name="Text 10"/>
          <p:cNvSpPr/>
          <p:nvPr/>
        </p:nvSpPr>
        <p:spPr>
          <a:xfrm>
            <a:off x="5486400" y="457200"/>
            <a:ext cx="3255264" cy="201168"/>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INDUSTRY TYPE</a:t>
            </a:r>
            <a:endParaRPr lang="en-US" sz="750" dirty="0"/>
          </a:p>
        </p:txBody>
      </p:sp>
      <p:sp>
        <p:nvSpPr>
          <p:cNvPr id="14" name="Text 11"/>
          <p:cNvSpPr/>
          <p:nvPr/>
        </p:nvSpPr>
        <p:spPr>
          <a:xfrm>
            <a:off x="5486400" y="694944"/>
            <a:ext cx="3255264" cy="512064"/>
          </a:xfrm>
          <a:prstGeom prst="rect">
            <a:avLst/>
          </a:prstGeom>
          <a:noFill/>
          <a:ln/>
        </p:spPr>
        <p:txBody>
          <a:bodyPr wrap="square" rtlCol="0" anchor="ctr"/>
          <a:lstStyle/>
          <a:p>
            <a:pPr indent="0" marL="0">
              <a:buNone/>
            </a:pPr>
            <a:r>
              <a:rPr lang="en-US" sz="1800" b="1" dirty="0">
                <a:solidFill>
                  <a:srgbClr val="0D1F3C"/>
                </a:solidFill>
                <a:latin typeface="Trebuchet MS" pitchFamily="34" charset="0"/>
                <a:ea typeface="Trebuchet MS" pitchFamily="34" charset="-122"/>
                <a:cs typeface="Trebuchet MS" pitchFamily="34" charset="-120"/>
              </a:rPr>
              <a:t>Manufacturing / Automation</a:t>
            </a:r>
            <a:endParaRPr lang="en-US" sz="1800" dirty="0"/>
          </a:p>
        </p:txBody>
      </p:sp>
      <p:sp>
        <p:nvSpPr>
          <p:cNvPr id="15" name="Shape 12"/>
          <p:cNvSpPr/>
          <p:nvPr/>
        </p:nvSpPr>
        <p:spPr>
          <a:xfrm>
            <a:off x="5486400" y="1371600"/>
            <a:ext cx="3255264" cy="16459"/>
          </a:xfrm>
          <a:prstGeom prst="rect">
            <a:avLst/>
          </a:prstGeom>
          <a:solidFill>
            <a:srgbClr val="D1D5DB"/>
          </a:solidFill>
          <a:ln w="12700">
            <a:solidFill>
              <a:srgbClr val="D1D5DB"/>
            </a:solidFill>
            <a:prstDash val="solid"/>
          </a:ln>
        </p:spPr>
      </p:sp>
      <p:sp>
        <p:nvSpPr>
          <p:cNvPr id="16" name="Text 13"/>
          <p:cNvSpPr/>
          <p:nvPr/>
        </p:nvSpPr>
        <p:spPr>
          <a:xfrm>
            <a:off x="5486400" y="1737360"/>
            <a:ext cx="3255264" cy="201168"/>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FACILITY PROFILE</a:t>
            </a:r>
            <a:endParaRPr lang="en-US" sz="750" dirty="0"/>
          </a:p>
        </p:txBody>
      </p:sp>
      <p:sp>
        <p:nvSpPr>
          <p:cNvPr id="17" name="Text 14"/>
          <p:cNvSpPr/>
          <p:nvPr/>
        </p:nvSpPr>
        <p:spPr>
          <a:xfrm>
            <a:off x="5486400" y="1975104"/>
            <a:ext cx="3255264" cy="512064"/>
          </a:xfrm>
          <a:prstGeom prst="rect">
            <a:avLst/>
          </a:prstGeom>
          <a:noFill/>
          <a:ln/>
        </p:spPr>
        <p:txBody>
          <a:bodyPr wrap="square" rtlCol="0" anchor="ctr"/>
          <a:lstStyle/>
          <a:p>
            <a:pPr indent="0" marL="0">
              <a:buNone/>
            </a:pPr>
            <a:r>
              <a:rPr lang="en-US" sz="1800" b="1" dirty="0">
                <a:solidFill>
                  <a:srgbClr val="0D1F3C"/>
                </a:solidFill>
                <a:latin typeface="Trebuchet MS" pitchFamily="34" charset="0"/>
                <a:ea typeface="Trebuchet MS" pitchFamily="34" charset="-122"/>
                <a:cs typeface="Trebuchet MS" pitchFamily="34" charset="-120"/>
              </a:rPr>
              <a:t>Controls Integrator Since 1985</a:t>
            </a:r>
            <a:endParaRPr lang="en-US" sz="1800" dirty="0"/>
          </a:p>
        </p:txBody>
      </p:sp>
      <p:sp>
        <p:nvSpPr>
          <p:cNvPr id="18" name="Shape 15"/>
          <p:cNvSpPr/>
          <p:nvPr/>
        </p:nvSpPr>
        <p:spPr>
          <a:xfrm>
            <a:off x="5486400" y="2651760"/>
            <a:ext cx="3255264" cy="16459"/>
          </a:xfrm>
          <a:prstGeom prst="rect">
            <a:avLst/>
          </a:prstGeom>
          <a:solidFill>
            <a:srgbClr val="D1D5DB"/>
          </a:solidFill>
          <a:ln w="12700">
            <a:solidFill>
              <a:srgbClr val="D1D5DB"/>
            </a:solidFill>
            <a:prstDash val="solid"/>
          </a:ln>
        </p:spPr>
      </p:sp>
      <p:sp>
        <p:nvSpPr>
          <p:cNvPr id="19" name="Text 16"/>
          <p:cNvSpPr/>
          <p:nvPr/>
        </p:nvSpPr>
        <p:spPr>
          <a:xfrm>
            <a:off x="5486400" y="3017520"/>
            <a:ext cx="3255264" cy="201168"/>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COMPLIANCE CONTEXT</a:t>
            </a:r>
            <a:endParaRPr lang="en-US" sz="750" dirty="0"/>
          </a:p>
        </p:txBody>
      </p:sp>
      <p:sp>
        <p:nvSpPr>
          <p:cNvPr id="20" name="Text 17"/>
          <p:cNvSpPr/>
          <p:nvPr/>
        </p:nvSpPr>
        <p:spPr>
          <a:xfrm>
            <a:off x="5486400" y="3255264"/>
            <a:ext cx="3255264" cy="512064"/>
          </a:xfrm>
          <a:prstGeom prst="rect">
            <a:avLst/>
          </a:prstGeom>
          <a:noFill/>
          <a:ln/>
        </p:spPr>
        <p:txBody>
          <a:bodyPr wrap="square" rtlCol="0" anchor="ctr"/>
          <a:lstStyle/>
          <a:p>
            <a:pPr indent="0" marL="0">
              <a:buNone/>
            </a:pPr>
            <a:r>
              <a:rPr lang="en-US" sz="1800" b="1" dirty="0">
                <a:solidFill>
                  <a:srgbClr val="0D1F3C"/>
                </a:solidFill>
                <a:latin typeface="Trebuchet MS" pitchFamily="34" charset="0"/>
                <a:ea typeface="Trebuchet MS" pitchFamily="34" charset="-122"/>
                <a:cs typeface="Trebuchet MS" pitchFamily="34" charset="-120"/>
              </a:rPr>
              <a:t>OSHA / Production-Grade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SCOPE OF WORK</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4</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832104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Your Facility. Your Scope.</a:t>
            </a:r>
            <a:endParaRPr lang="en-US" sz="2400" dirty="0"/>
          </a:p>
        </p:txBody>
      </p:sp>
      <p:sp>
        <p:nvSpPr>
          <p:cNvPr id="7" name="Text 4"/>
          <p:cNvSpPr/>
          <p:nvPr/>
        </p:nvSpPr>
        <p:spPr>
          <a:xfrm>
            <a:off x="457200" y="713232"/>
            <a:ext cx="8321040" cy="237744"/>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Weekly service  ·  Start July 1, 2026  ·  Month-to-Month  ·  30-Day Notice</a:t>
            </a:r>
            <a:endParaRPr lang="en-US" sz="1100" dirty="0"/>
          </a:p>
        </p:txBody>
      </p:sp>
      <p:sp>
        <p:nvSpPr>
          <p:cNvPr id="8" name="Shape 5"/>
          <p:cNvSpPr/>
          <p:nvPr/>
        </p:nvSpPr>
        <p:spPr>
          <a:xfrm>
            <a:off x="457200" y="987552"/>
            <a:ext cx="8321040" cy="16459"/>
          </a:xfrm>
          <a:prstGeom prst="rect">
            <a:avLst/>
          </a:prstGeom>
          <a:solidFill>
            <a:srgbClr val="D1D5DB"/>
          </a:solidFill>
          <a:ln w="12700">
            <a:solidFill>
              <a:srgbClr val="D1D5DB"/>
            </a:solidFill>
            <a:prstDash val="solid"/>
          </a:ln>
        </p:spPr>
      </p:sp>
      <p:sp>
        <p:nvSpPr>
          <p:cNvPr id="9" name="Shape 6"/>
          <p:cNvSpPr/>
          <p:nvPr/>
        </p:nvSpPr>
        <p:spPr>
          <a:xfrm>
            <a:off x="457200" y="1024128"/>
            <a:ext cx="8321040" cy="1883664"/>
          </a:xfrm>
          <a:prstGeom prst="rect">
            <a:avLst/>
          </a:prstGeom>
          <a:solidFill>
            <a:srgbClr val="F4F7FB"/>
          </a:solidFill>
          <a:ln w="12700">
            <a:solidFill>
              <a:srgbClr val="F4F7FB"/>
            </a:solidFill>
            <a:prstDash val="solid"/>
          </a:ln>
        </p:spPr>
      </p:sp>
      <p:sp>
        <p:nvSpPr>
          <p:cNvPr id="10" name="Text 7"/>
          <p:cNvSpPr/>
          <p:nvPr/>
        </p:nvSpPr>
        <p:spPr>
          <a:xfrm>
            <a:off x="585216" y="1078992"/>
            <a:ext cx="1371600" cy="182880"/>
          </a:xfrm>
          <a:prstGeom prst="rect">
            <a:avLst/>
          </a:prstGeom>
          <a:noFill/>
          <a:ln/>
        </p:spPr>
        <p:txBody>
          <a:bodyPr wrap="square" rtlCol="0" anchor="ctr"/>
          <a:lstStyle/>
          <a:p>
            <a:pPr indent="0" marL="0">
              <a:buNone/>
            </a:pPr>
            <a:r>
              <a:rPr lang="en-US" sz="900" b="1" spc="200" kern="0" dirty="0">
                <a:solidFill>
                  <a:srgbClr val="0D1F3C"/>
                </a:solidFill>
                <a:latin typeface="Calibri" pitchFamily="34" charset="0"/>
                <a:ea typeface="Calibri" pitchFamily="34" charset="-122"/>
                <a:cs typeface="Calibri" pitchFamily="34" charset="-120"/>
              </a:rPr>
              <a:t>WEEKLY</a:t>
            </a:r>
            <a:endParaRPr lang="en-US" sz="900" dirty="0"/>
          </a:p>
        </p:txBody>
      </p:sp>
      <p:sp>
        <p:nvSpPr>
          <p:cNvPr id="11" name="Shape 8"/>
          <p:cNvSpPr/>
          <p:nvPr/>
        </p:nvSpPr>
        <p:spPr>
          <a:xfrm>
            <a:off x="585216" y="1408176"/>
            <a:ext cx="45720" cy="219456"/>
          </a:xfrm>
          <a:prstGeom prst="rect">
            <a:avLst/>
          </a:prstGeom>
          <a:solidFill>
            <a:srgbClr val="0D1F3C"/>
          </a:solidFill>
          <a:ln w="12700">
            <a:solidFill>
              <a:srgbClr val="0D1F3C"/>
            </a:solidFill>
            <a:prstDash val="solid"/>
          </a:ln>
        </p:spPr>
      </p:sp>
      <p:sp>
        <p:nvSpPr>
          <p:cNvPr id="12" name="Text 9"/>
          <p:cNvSpPr/>
          <p:nvPr/>
        </p:nvSpPr>
        <p:spPr>
          <a:xfrm>
            <a:off x="749808" y="1426464"/>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Restrooms (3): sanitize &amp; disinfect all fixtures</a:t>
            </a:r>
            <a:endParaRPr lang="en-US" sz="1000" dirty="0"/>
          </a:p>
        </p:txBody>
      </p:sp>
      <p:sp>
        <p:nvSpPr>
          <p:cNvPr id="13" name="Text 10"/>
          <p:cNvSpPr/>
          <p:nvPr/>
        </p:nvSpPr>
        <p:spPr>
          <a:xfrm>
            <a:off x="3977640" y="1426464"/>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14" name="Shape 11"/>
          <p:cNvSpPr/>
          <p:nvPr/>
        </p:nvSpPr>
        <p:spPr>
          <a:xfrm>
            <a:off x="585216" y="1700784"/>
            <a:ext cx="45720" cy="219456"/>
          </a:xfrm>
          <a:prstGeom prst="rect">
            <a:avLst/>
          </a:prstGeom>
          <a:solidFill>
            <a:srgbClr val="0D1F3C"/>
          </a:solidFill>
          <a:ln w="12700">
            <a:solidFill>
              <a:srgbClr val="0D1F3C"/>
            </a:solidFill>
            <a:prstDash val="solid"/>
          </a:ln>
        </p:spPr>
      </p:sp>
      <p:sp>
        <p:nvSpPr>
          <p:cNvPr id="15" name="Text 12"/>
          <p:cNvSpPr/>
          <p:nvPr/>
        </p:nvSpPr>
        <p:spPr>
          <a:xfrm>
            <a:off x="749808" y="1719072"/>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Restrooms: mop &amp; disinfect floors, clean mirrors</a:t>
            </a:r>
            <a:endParaRPr lang="en-US" sz="1000" dirty="0"/>
          </a:p>
        </p:txBody>
      </p:sp>
      <p:sp>
        <p:nvSpPr>
          <p:cNvPr id="16" name="Text 13"/>
          <p:cNvSpPr/>
          <p:nvPr/>
        </p:nvSpPr>
        <p:spPr>
          <a:xfrm>
            <a:off x="3977640" y="1719072"/>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17" name="Shape 14"/>
          <p:cNvSpPr/>
          <p:nvPr/>
        </p:nvSpPr>
        <p:spPr>
          <a:xfrm>
            <a:off x="585216" y="1993392"/>
            <a:ext cx="45720" cy="219456"/>
          </a:xfrm>
          <a:prstGeom prst="rect">
            <a:avLst/>
          </a:prstGeom>
          <a:solidFill>
            <a:srgbClr val="0D1F3C"/>
          </a:solidFill>
          <a:ln w="12700">
            <a:solidFill>
              <a:srgbClr val="0D1F3C"/>
            </a:solidFill>
            <a:prstDash val="solid"/>
          </a:ln>
        </p:spPr>
      </p:sp>
      <p:sp>
        <p:nvSpPr>
          <p:cNvPr id="18" name="Text 15"/>
          <p:cNvSpPr/>
          <p:nvPr/>
        </p:nvSpPr>
        <p:spPr>
          <a:xfrm>
            <a:off x="749808" y="2011680"/>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General dusting — all areas</a:t>
            </a:r>
            <a:endParaRPr lang="en-US" sz="1000" dirty="0"/>
          </a:p>
        </p:txBody>
      </p:sp>
      <p:sp>
        <p:nvSpPr>
          <p:cNvPr id="19" name="Text 16"/>
          <p:cNvSpPr/>
          <p:nvPr/>
        </p:nvSpPr>
        <p:spPr>
          <a:xfrm>
            <a:off x="3977640" y="2011680"/>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20" name="Shape 17"/>
          <p:cNvSpPr/>
          <p:nvPr/>
        </p:nvSpPr>
        <p:spPr>
          <a:xfrm>
            <a:off x="585216" y="2286000"/>
            <a:ext cx="45720" cy="219456"/>
          </a:xfrm>
          <a:prstGeom prst="rect">
            <a:avLst/>
          </a:prstGeom>
          <a:solidFill>
            <a:srgbClr val="0D1F3C"/>
          </a:solidFill>
          <a:ln w="12700">
            <a:solidFill>
              <a:srgbClr val="0D1F3C"/>
            </a:solidFill>
            <a:prstDash val="solid"/>
          </a:ln>
        </p:spPr>
      </p:sp>
      <p:sp>
        <p:nvSpPr>
          <p:cNvPr id="21" name="Text 18"/>
          <p:cNvSpPr/>
          <p:nvPr/>
        </p:nvSpPr>
        <p:spPr>
          <a:xfrm>
            <a:off x="749808" y="2304288"/>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Front glass cleaning</a:t>
            </a:r>
            <a:endParaRPr lang="en-US" sz="1000" dirty="0"/>
          </a:p>
        </p:txBody>
      </p:sp>
      <p:sp>
        <p:nvSpPr>
          <p:cNvPr id="22" name="Text 19"/>
          <p:cNvSpPr/>
          <p:nvPr/>
        </p:nvSpPr>
        <p:spPr>
          <a:xfrm>
            <a:off x="3977640" y="2304288"/>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23" name="Shape 20"/>
          <p:cNvSpPr/>
          <p:nvPr/>
        </p:nvSpPr>
        <p:spPr>
          <a:xfrm>
            <a:off x="585216" y="2578608"/>
            <a:ext cx="45720" cy="219456"/>
          </a:xfrm>
          <a:prstGeom prst="rect">
            <a:avLst/>
          </a:prstGeom>
          <a:solidFill>
            <a:srgbClr val="0D1F3C"/>
          </a:solidFill>
          <a:ln w="12700">
            <a:solidFill>
              <a:srgbClr val="0D1F3C"/>
            </a:solidFill>
            <a:prstDash val="solid"/>
          </a:ln>
        </p:spPr>
      </p:sp>
      <p:sp>
        <p:nvSpPr>
          <p:cNvPr id="24" name="Text 21"/>
          <p:cNvSpPr/>
          <p:nvPr/>
        </p:nvSpPr>
        <p:spPr>
          <a:xfrm>
            <a:off x="749808" y="2596896"/>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Office mopping, sweeping &amp; vacuuming</a:t>
            </a:r>
            <a:endParaRPr lang="en-US" sz="1000" dirty="0"/>
          </a:p>
        </p:txBody>
      </p:sp>
      <p:sp>
        <p:nvSpPr>
          <p:cNvPr id="25" name="Text 22"/>
          <p:cNvSpPr/>
          <p:nvPr/>
        </p:nvSpPr>
        <p:spPr>
          <a:xfrm>
            <a:off x="3977640" y="2596896"/>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26" name="Shape 23"/>
          <p:cNvSpPr/>
          <p:nvPr/>
        </p:nvSpPr>
        <p:spPr>
          <a:xfrm>
            <a:off x="4745736" y="1408176"/>
            <a:ext cx="45720" cy="219456"/>
          </a:xfrm>
          <a:prstGeom prst="rect">
            <a:avLst/>
          </a:prstGeom>
          <a:solidFill>
            <a:srgbClr val="0D1F3C"/>
          </a:solidFill>
          <a:ln w="12700">
            <a:solidFill>
              <a:srgbClr val="0D1F3C"/>
            </a:solidFill>
            <a:prstDash val="solid"/>
          </a:ln>
        </p:spPr>
      </p:sp>
      <p:sp>
        <p:nvSpPr>
          <p:cNvPr id="27" name="Text 24"/>
          <p:cNvSpPr/>
          <p:nvPr/>
        </p:nvSpPr>
        <p:spPr>
          <a:xfrm>
            <a:off x="4910328" y="1426464"/>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Break room countertops, tables &amp; chairs</a:t>
            </a:r>
            <a:endParaRPr lang="en-US" sz="1000" dirty="0"/>
          </a:p>
        </p:txBody>
      </p:sp>
      <p:sp>
        <p:nvSpPr>
          <p:cNvPr id="28" name="Text 25"/>
          <p:cNvSpPr/>
          <p:nvPr/>
        </p:nvSpPr>
        <p:spPr>
          <a:xfrm>
            <a:off x="8138160" y="1426464"/>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29" name="Shape 26"/>
          <p:cNvSpPr/>
          <p:nvPr/>
        </p:nvSpPr>
        <p:spPr>
          <a:xfrm>
            <a:off x="4745736" y="1700784"/>
            <a:ext cx="45720" cy="219456"/>
          </a:xfrm>
          <a:prstGeom prst="rect">
            <a:avLst/>
          </a:prstGeom>
          <a:solidFill>
            <a:srgbClr val="0D1F3C"/>
          </a:solidFill>
          <a:ln w="12700">
            <a:solidFill>
              <a:srgbClr val="0D1F3C"/>
            </a:solidFill>
            <a:prstDash val="solid"/>
          </a:ln>
        </p:spPr>
      </p:sp>
      <p:sp>
        <p:nvSpPr>
          <p:cNvPr id="30" name="Text 27"/>
          <p:cNvSpPr/>
          <p:nvPr/>
        </p:nvSpPr>
        <p:spPr>
          <a:xfrm>
            <a:off x="4910328" y="1719072"/>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Microwave — inside &amp; outside</a:t>
            </a:r>
            <a:endParaRPr lang="en-US" sz="1000" dirty="0"/>
          </a:p>
        </p:txBody>
      </p:sp>
      <p:sp>
        <p:nvSpPr>
          <p:cNvPr id="31" name="Text 28"/>
          <p:cNvSpPr/>
          <p:nvPr/>
        </p:nvSpPr>
        <p:spPr>
          <a:xfrm>
            <a:off x="8138160" y="1719072"/>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32" name="Shape 29"/>
          <p:cNvSpPr/>
          <p:nvPr/>
        </p:nvSpPr>
        <p:spPr>
          <a:xfrm>
            <a:off x="4745736" y="1993392"/>
            <a:ext cx="45720" cy="219456"/>
          </a:xfrm>
          <a:prstGeom prst="rect">
            <a:avLst/>
          </a:prstGeom>
          <a:solidFill>
            <a:srgbClr val="0D1F3C"/>
          </a:solidFill>
          <a:ln w="12700">
            <a:solidFill>
              <a:srgbClr val="0D1F3C"/>
            </a:solidFill>
            <a:prstDash val="solid"/>
          </a:ln>
        </p:spPr>
      </p:sp>
      <p:sp>
        <p:nvSpPr>
          <p:cNvPr id="33" name="Text 30"/>
          <p:cNvSpPr/>
          <p:nvPr/>
        </p:nvSpPr>
        <p:spPr>
          <a:xfrm>
            <a:off x="4910328" y="2011680"/>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Refrigerator &amp; water machine exterior</a:t>
            </a:r>
            <a:endParaRPr lang="en-US" sz="1000" dirty="0"/>
          </a:p>
        </p:txBody>
      </p:sp>
      <p:sp>
        <p:nvSpPr>
          <p:cNvPr id="34" name="Text 31"/>
          <p:cNvSpPr/>
          <p:nvPr/>
        </p:nvSpPr>
        <p:spPr>
          <a:xfrm>
            <a:off x="8138160" y="2011680"/>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35" name="Shape 32"/>
          <p:cNvSpPr/>
          <p:nvPr/>
        </p:nvSpPr>
        <p:spPr>
          <a:xfrm>
            <a:off x="4745736" y="2286000"/>
            <a:ext cx="45720" cy="219456"/>
          </a:xfrm>
          <a:prstGeom prst="rect">
            <a:avLst/>
          </a:prstGeom>
          <a:solidFill>
            <a:srgbClr val="0D1F3C"/>
          </a:solidFill>
          <a:ln w="12700">
            <a:solidFill>
              <a:srgbClr val="0D1F3C"/>
            </a:solidFill>
            <a:prstDash val="solid"/>
          </a:ln>
        </p:spPr>
      </p:sp>
      <p:sp>
        <p:nvSpPr>
          <p:cNvPr id="36" name="Text 33"/>
          <p:cNvSpPr/>
          <p:nvPr/>
        </p:nvSpPr>
        <p:spPr>
          <a:xfrm>
            <a:off x="4910328" y="2304288"/>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Kitchen area full wipe-down</a:t>
            </a:r>
            <a:endParaRPr lang="en-US" sz="1000" dirty="0"/>
          </a:p>
        </p:txBody>
      </p:sp>
      <p:sp>
        <p:nvSpPr>
          <p:cNvPr id="37" name="Text 34"/>
          <p:cNvSpPr/>
          <p:nvPr/>
        </p:nvSpPr>
        <p:spPr>
          <a:xfrm>
            <a:off x="8138160" y="2304288"/>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38" name="Shape 35"/>
          <p:cNvSpPr/>
          <p:nvPr/>
        </p:nvSpPr>
        <p:spPr>
          <a:xfrm>
            <a:off x="4745736" y="2578608"/>
            <a:ext cx="45720" cy="219456"/>
          </a:xfrm>
          <a:prstGeom prst="rect">
            <a:avLst/>
          </a:prstGeom>
          <a:solidFill>
            <a:srgbClr val="0D1F3C"/>
          </a:solidFill>
          <a:ln w="12700">
            <a:solidFill>
              <a:srgbClr val="0D1F3C"/>
            </a:solidFill>
            <a:prstDash val="solid"/>
          </a:ln>
        </p:spPr>
      </p:sp>
      <p:sp>
        <p:nvSpPr>
          <p:cNvPr id="39" name="Text 36"/>
          <p:cNvSpPr/>
          <p:nvPr/>
        </p:nvSpPr>
        <p:spPr>
          <a:xfrm>
            <a:off x="4910328" y="2596896"/>
            <a:ext cx="3831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Warehouse dust mopping throughout</a:t>
            </a:r>
            <a:endParaRPr lang="en-US" sz="1000" dirty="0"/>
          </a:p>
        </p:txBody>
      </p:sp>
      <p:sp>
        <p:nvSpPr>
          <p:cNvPr id="40" name="Text 37"/>
          <p:cNvSpPr/>
          <p:nvPr/>
        </p:nvSpPr>
        <p:spPr>
          <a:xfrm>
            <a:off x="8138160" y="2596896"/>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Weekly</a:t>
            </a:r>
            <a:endParaRPr lang="en-US" sz="800" dirty="0"/>
          </a:p>
        </p:txBody>
      </p:sp>
      <p:sp>
        <p:nvSpPr>
          <p:cNvPr id="41" name="Shape 38"/>
          <p:cNvSpPr/>
          <p:nvPr/>
        </p:nvSpPr>
        <p:spPr>
          <a:xfrm>
            <a:off x="457200" y="2962656"/>
            <a:ext cx="8321040" cy="713232"/>
          </a:xfrm>
          <a:prstGeom prst="rect">
            <a:avLst/>
          </a:prstGeom>
          <a:solidFill>
            <a:srgbClr val="F8F9FA"/>
          </a:solidFill>
          <a:ln w="12700">
            <a:solidFill>
              <a:srgbClr val="F8F9FA"/>
            </a:solidFill>
            <a:prstDash val="solid"/>
          </a:ln>
        </p:spPr>
      </p:sp>
      <p:sp>
        <p:nvSpPr>
          <p:cNvPr id="42" name="Text 39"/>
          <p:cNvSpPr/>
          <p:nvPr/>
        </p:nvSpPr>
        <p:spPr>
          <a:xfrm>
            <a:off x="585216" y="3017520"/>
            <a:ext cx="1371600" cy="182880"/>
          </a:xfrm>
          <a:prstGeom prst="rect">
            <a:avLst/>
          </a:prstGeom>
          <a:noFill/>
          <a:ln/>
        </p:spPr>
        <p:txBody>
          <a:bodyPr wrap="square" rtlCol="0" anchor="ctr"/>
          <a:lstStyle/>
          <a:p>
            <a:pPr indent="0" marL="0">
              <a:buNone/>
            </a:pPr>
            <a:r>
              <a:rPr lang="en-US" sz="900" b="1" spc="200" kern="0" dirty="0">
                <a:solidFill>
                  <a:srgbClr val="0D1F3C"/>
                </a:solidFill>
                <a:latin typeface="Calibri" pitchFamily="34" charset="0"/>
                <a:ea typeface="Calibri" pitchFamily="34" charset="-122"/>
                <a:cs typeface="Calibri" pitchFamily="34" charset="-120"/>
              </a:rPr>
              <a:t>MONTHLY</a:t>
            </a:r>
            <a:endParaRPr lang="en-US" sz="900" dirty="0"/>
          </a:p>
        </p:txBody>
      </p:sp>
      <p:sp>
        <p:nvSpPr>
          <p:cNvPr id="43" name="Shape 40"/>
          <p:cNvSpPr/>
          <p:nvPr/>
        </p:nvSpPr>
        <p:spPr>
          <a:xfrm>
            <a:off x="585216" y="3346704"/>
            <a:ext cx="45720" cy="219456"/>
          </a:xfrm>
          <a:prstGeom prst="rect">
            <a:avLst/>
          </a:prstGeom>
          <a:solidFill>
            <a:srgbClr val="0D1F3C"/>
          </a:solidFill>
          <a:ln w="12700">
            <a:solidFill>
              <a:srgbClr val="0D1F3C"/>
            </a:solidFill>
            <a:prstDash val="solid"/>
          </a:ln>
        </p:spPr>
      </p:sp>
      <p:sp>
        <p:nvSpPr>
          <p:cNvPr id="44" name="Text 41"/>
          <p:cNvSpPr/>
          <p:nvPr/>
        </p:nvSpPr>
        <p:spPr>
          <a:xfrm>
            <a:off x="749808" y="3364992"/>
            <a:ext cx="7223760"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Refrigerator interior deep clean</a:t>
            </a:r>
            <a:endParaRPr lang="en-US" sz="1000" dirty="0"/>
          </a:p>
        </p:txBody>
      </p:sp>
      <p:sp>
        <p:nvSpPr>
          <p:cNvPr id="45" name="Text 42"/>
          <p:cNvSpPr/>
          <p:nvPr/>
        </p:nvSpPr>
        <p:spPr>
          <a:xfrm>
            <a:off x="7863840" y="3364992"/>
            <a:ext cx="658368"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Monthly</a:t>
            </a:r>
            <a:endParaRPr lang="en-US" sz="800" dirty="0"/>
          </a:p>
        </p:txBody>
      </p:sp>
      <p:sp>
        <p:nvSpPr>
          <p:cNvPr id="46" name="Shape 43"/>
          <p:cNvSpPr/>
          <p:nvPr/>
        </p:nvSpPr>
        <p:spPr>
          <a:xfrm>
            <a:off x="457200" y="3730752"/>
            <a:ext cx="8321040" cy="1005840"/>
          </a:xfrm>
          <a:prstGeom prst="rect">
            <a:avLst/>
          </a:prstGeom>
          <a:solidFill>
            <a:srgbClr val="F0F4FF"/>
          </a:solidFill>
          <a:ln w="12700">
            <a:solidFill>
              <a:srgbClr val="F0F4FF"/>
            </a:solidFill>
            <a:prstDash val="solid"/>
          </a:ln>
        </p:spPr>
      </p:sp>
      <p:sp>
        <p:nvSpPr>
          <p:cNvPr id="47" name="Text 44"/>
          <p:cNvSpPr/>
          <p:nvPr/>
        </p:nvSpPr>
        <p:spPr>
          <a:xfrm>
            <a:off x="585216" y="3785616"/>
            <a:ext cx="1645920" cy="182880"/>
          </a:xfrm>
          <a:prstGeom prst="rect">
            <a:avLst/>
          </a:prstGeom>
          <a:noFill/>
          <a:ln/>
        </p:spPr>
        <p:txBody>
          <a:bodyPr wrap="square" rtlCol="0" anchor="ctr"/>
          <a:lstStyle/>
          <a:p>
            <a:pPr indent="0" marL="0">
              <a:buNone/>
            </a:pPr>
            <a:r>
              <a:rPr lang="en-US" sz="900" b="1" spc="200" kern="0" dirty="0">
                <a:solidFill>
                  <a:srgbClr val="0D1F3C"/>
                </a:solidFill>
                <a:latin typeface="Calibri" pitchFamily="34" charset="0"/>
                <a:ea typeface="Calibri" pitchFamily="34" charset="-122"/>
                <a:cs typeface="Calibri" pitchFamily="34" charset="-120"/>
              </a:rPr>
              <a:t>QUARTERLY</a:t>
            </a:r>
            <a:endParaRPr lang="en-US" sz="900" dirty="0"/>
          </a:p>
        </p:txBody>
      </p:sp>
      <p:sp>
        <p:nvSpPr>
          <p:cNvPr id="48" name="Shape 45"/>
          <p:cNvSpPr/>
          <p:nvPr/>
        </p:nvSpPr>
        <p:spPr>
          <a:xfrm>
            <a:off x="585216" y="4114800"/>
            <a:ext cx="45720" cy="219456"/>
          </a:xfrm>
          <a:prstGeom prst="rect">
            <a:avLst/>
          </a:prstGeom>
          <a:solidFill>
            <a:srgbClr val="0D1F3C"/>
          </a:solidFill>
          <a:ln w="12700">
            <a:solidFill>
              <a:srgbClr val="0D1F3C"/>
            </a:solidFill>
            <a:prstDash val="solid"/>
          </a:ln>
        </p:spPr>
      </p:sp>
      <p:sp>
        <p:nvSpPr>
          <p:cNvPr id="49" name="Text 46"/>
          <p:cNvSpPr/>
          <p:nvPr/>
        </p:nvSpPr>
        <p:spPr>
          <a:xfrm>
            <a:off x="749808" y="4133088"/>
            <a:ext cx="7223760"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Baseboard cleaning — all areas</a:t>
            </a:r>
            <a:endParaRPr lang="en-US" sz="1000" dirty="0"/>
          </a:p>
        </p:txBody>
      </p:sp>
      <p:sp>
        <p:nvSpPr>
          <p:cNvPr id="50" name="Text 47"/>
          <p:cNvSpPr/>
          <p:nvPr/>
        </p:nvSpPr>
        <p:spPr>
          <a:xfrm>
            <a:off x="7863840" y="4133088"/>
            <a:ext cx="731520"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Quarterly</a:t>
            </a:r>
            <a:endParaRPr lang="en-US" sz="800" dirty="0"/>
          </a:p>
        </p:txBody>
      </p:sp>
      <p:sp>
        <p:nvSpPr>
          <p:cNvPr id="51" name="Shape 48"/>
          <p:cNvSpPr/>
          <p:nvPr/>
        </p:nvSpPr>
        <p:spPr>
          <a:xfrm>
            <a:off x="585216" y="4407408"/>
            <a:ext cx="45720" cy="219456"/>
          </a:xfrm>
          <a:prstGeom prst="rect">
            <a:avLst/>
          </a:prstGeom>
          <a:solidFill>
            <a:srgbClr val="0D1F3C"/>
          </a:solidFill>
          <a:ln w="12700">
            <a:solidFill>
              <a:srgbClr val="0D1F3C"/>
            </a:solidFill>
            <a:prstDash val="solid"/>
          </a:ln>
        </p:spPr>
      </p:sp>
      <p:sp>
        <p:nvSpPr>
          <p:cNvPr id="52" name="Text 49"/>
          <p:cNvSpPr/>
          <p:nvPr/>
        </p:nvSpPr>
        <p:spPr>
          <a:xfrm>
            <a:off x="749808" y="4425696"/>
            <a:ext cx="7223760"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Desk dusting — all offices</a:t>
            </a:r>
            <a:endParaRPr lang="en-US" sz="1000" dirty="0"/>
          </a:p>
        </p:txBody>
      </p:sp>
      <p:sp>
        <p:nvSpPr>
          <p:cNvPr id="53" name="Text 50"/>
          <p:cNvSpPr/>
          <p:nvPr/>
        </p:nvSpPr>
        <p:spPr>
          <a:xfrm>
            <a:off x="7863840" y="4425696"/>
            <a:ext cx="731520" cy="201168"/>
          </a:xfrm>
          <a:prstGeom prst="rect">
            <a:avLst/>
          </a:prstGeom>
          <a:noFill/>
          <a:ln/>
        </p:spPr>
        <p:txBody>
          <a:bodyPr wrap="square" rtlCol="0" anchor="ctr"/>
          <a:lstStyle/>
          <a:p>
            <a:pPr algn="r" indent="0" marL="0">
              <a:buNone/>
            </a:pPr>
            <a:r>
              <a:rPr lang="en-US" sz="800" i="1" dirty="0">
                <a:solidFill>
                  <a:srgbClr val="9CA3AF"/>
                </a:solidFill>
                <a:latin typeface="Calibri" pitchFamily="34" charset="0"/>
                <a:ea typeface="Calibri" pitchFamily="34" charset="-122"/>
                <a:cs typeface="Calibri" pitchFamily="34" charset="-120"/>
              </a:rPr>
              <a:t>Quarterly</a:t>
            </a:r>
            <a:endParaRPr lang="en-US" sz="800" dirty="0"/>
          </a:p>
        </p:txBody>
      </p:sp>
      <p:sp>
        <p:nvSpPr>
          <p:cNvPr id="54" name="Shape 51"/>
          <p:cNvSpPr/>
          <p:nvPr/>
        </p:nvSpPr>
        <p:spPr>
          <a:xfrm>
            <a:off x="457200" y="4828032"/>
            <a:ext cx="8321040" cy="16459"/>
          </a:xfrm>
          <a:prstGeom prst="rect">
            <a:avLst/>
          </a:prstGeom>
          <a:solidFill>
            <a:srgbClr val="D1D5DB"/>
          </a:solidFill>
          <a:ln w="12700">
            <a:solidFill>
              <a:srgbClr val="D1D5DB"/>
            </a:solidFill>
            <a:prstDash val="solid"/>
          </a:ln>
        </p:spPr>
      </p:sp>
      <p:sp>
        <p:nvSpPr>
          <p:cNvPr id="55" name="Text 52"/>
          <p:cNvSpPr/>
          <p:nvPr/>
        </p:nvSpPr>
        <p:spPr>
          <a:xfrm>
            <a:off x="457200" y="4882896"/>
            <a:ext cx="8321040" cy="201168"/>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All frequencies confirmed at onboarding walkthrough with CEO and QA Manager.</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TEAM</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5</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832104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Your Team. Not a Call Center.</a:t>
            </a:r>
            <a:endParaRPr lang="en-US" sz="2400" dirty="0"/>
          </a:p>
        </p:txBody>
      </p:sp>
      <p:sp>
        <p:nvSpPr>
          <p:cNvPr id="7" name="Text 4"/>
          <p:cNvSpPr/>
          <p:nvPr/>
        </p:nvSpPr>
        <p:spPr>
          <a:xfrm>
            <a:off x="457200" y="713232"/>
            <a:ext cx="8321040" cy="237744"/>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Three people accountable to your facility — by name, by role, by phone.</a:t>
            </a:r>
            <a:endParaRPr lang="en-US" sz="1200" dirty="0"/>
          </a:p>
        </p:txBody>
      </p:sp>
      <p:sp>
        <p:nvSpPr>
          <p:cNvPr id="8" name="Shape 5"/>
          <p:cNvSpPr/>
          <p:nvPr/>
        </p:nvSpPr>
        <p:spPr>
          <a:xfrm>
            <a:off x="457200" y="987552"/>
            <a:ext cx="8321040" cy="16459"/>
          </a:xfrm>
          <a:prstGeom prst="rect">
            <a:avLst/>
          </a:prstGeom>
          <a:solidFill>
            <a:srgbClr val="D1D5DB"/>
          </a:solidFill>
          <a:ln w="12700">
            <a:solidFill>
              <a:srgbClr val="D1D5DB"/>
            </a:solidFill>
            <a:prstDash val="solid"/>
          </a:ln>
        </p:spPr>
      </p:sp>
      <p:pic>
        <p:nvPicPr>
          <p:cNvPr id="9" name="Image 1" descr="./hereford.png">    </p:cNvPr>
          <p:cNvPicPr>
            <a:picLocks noChangeAspect="1"/>
          </p:cNvPicPr>
          <p:nvPr/>
        </p:nvPicPr>
        <p:blipFill>
          <a:blip r:embed="rId2"/>
          <a:stretch>
            <a:fillRect/>
          </a:stretch>
        </p:blipFill>
        <p:spPr>
          <a:xfrm>
            <a:off x="1271016" y="1078992"/>
            <a:ext cx="1005840" cy="1005840"/>
          </a:xfrm>
          <a:prstGeom prst="ellipse">
            <a:avLst/>
          </a:prstGeom>
        </p:spPr>
      </p:pic>
      <p:sp>
        <p:nvSpPr>
          <p:cNvPr id="10" name="Text 6"/>
          <p:cNvSpPr/>
          <p:nvPr/>
        </p:nvSpPr>
        <p:spPr>
          <a:xfrm>
            <a:off x="457200" y="2157984"/>
            <a:ext cx="2633472" cy="274320"/>
          </a:xfrm>
          <a:prstGeom prst="rect">
            <a:avLst/>
          </a:prstGeom>
          <a:noFill/>
          <a:ln/>
        </p:spPr>
        <p:txBody>
          <a:bodyPr wrap="square"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Hereford Johnson</a:t>
            </a:r>
            <a:endParaRPr lang="en-US" sz="1300" dirty="0"/>
          </a:p>
        </p:txBody>
      </p:sp>
      <p:sp>
        <p:nvSpPr>
          <p:cNvPr id="11" name="Text 7"/>
          <p:cNvSpPr/>
          <p:nvPr/>
        </p:nvSpPr>
        <p:spPr>
          <a:xfrm>
            <a:off x="457200" y="2450592"/>
            <a:ext cx="2633472"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US Air Force Veteran · SDVOSB · ISSA Member</a:t>
            </a:r>
            <a:endParaRPr lang="en-US" sz="900" dirty="0"/>
          </a:p>
        </p:txBody>
      </p:sp>
      <p:sp>
        <p:nvSpPr>
          <p:cNvPr id="12" name="Text 8"/>
          <p:cNvSpPr/>
          <p:nvPr/>
        </p:nvSpPr>
        <p:spPr>
          <a:xfrm>
            <a:off x="457200" y="2743200"/>
            <a:ext cx="2633472" cy="237744"/>
          </a:xfrm>
          <a:prstGeom prst="rect">
            <a:avLst/>
          </a:prstGeom>
          <a:noFill/>
          <a:ln/>
        </p:spPr>
        <p:txBody>
          <a:bodyPr wrap="square" rtlCol="0" anchor="ctr"/>
          <a:lstStyle/>
          <a:p>
            <a:pPr algn="ctr" indent="0" marL="0">
              <a:buNone/>
            </a:pPr>
            <a:r>
              <a:rPr lang="en-US" sz="1100" b="1" dirty="0">
                <a:solidFill>
                  <a:srgbClr val="1B3A6B"/>
                </a:solidFill>
                <a:latin typeface="Calibri" pitchFamily="34" charset="0"/>
                <a:ea typeface="Calibri" pitchFamily="34" charset="-122"/>
                <a:cs typeface="Calibri" pitchFamily="34" charset="-120"/>
              </a:rPr>
              <a:t>CEO &amp; Owner</a:t>
            </a:r>
            <a:endParaRPr lang="en-US" sz="1100" dirty="0"/>
          </a:p>
        </p:txBody>
      </p:sp>
      <p:sp>
        <p:nvSpPr>
          <p:cNvPr id="13" name="Shape 9"/>
          <p:cNvSpPr/>
          <p:nvPr/>
        </p:nvSpPr>
        <p:spPr>
          <a:xfrm>
            <a:off x="457200" y="3017520"/>
            <a:ext cx="2633472" cy="16459"/>
          </a:xfrm>
          <a:prstGeom prst="rect">
            <a:avLst/>
          </a:prstGeom>
          <a:solidFill>
            <a:srgbClr val="D1D5DB"/>
          </a:solidFill>
          <a:ln w="12700">
            <a:solidFill>
              <a:srgbClr val="D1D5DB"/>
            </a:solidFill>
            <a:prstDash val="solid"/>
          </a:ln>
        </p:spPr>
      </p:sp>
      <p:sp>
        <p:nvSpPr>
          <p:cNvPr id="14" name="Text 10"/>
          <p:cNvSpPr/>
          <p:nvPr/>
        </p:nvSpPr>
        <p:spPr>
          <a:xfrm>
            <a:off x="457200" y="3090672"/>
            <a:ext cx="2633472" cy="115214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Your primary point of contact. Reachable directly by phone — no account managers, no routing, no corporate buffer between you and the person ultimately accountable for every service.</a:t>
            </a:r>
            <a:endParaRPr lang="en-US" sz="1050" dirty="0"/>
          </a:p>
        </p:txBody>
      </p:sp>
      <p:sp>
        <p:nvSpPr>
          <p:cNvPr id="15" name="Shape 11"/>
          <p:cNvSpPr/>
          <p:nvPr/>
        </p:nvSpPr>
        <p:spPr>
          <a:xfrm>
            <a:off x="3127248" y="1005840"/>
            <a:ext cx="16459" cy="3621024"/>
          </a:xfrm>
          <a:prstGeom prst="rect">
            <a:avLst/>
          </a:prstGeom>
          <a:solidFill>
            <a:srgbClr val="D1D5DB"/>
          </a:solidFill>
          <a:ln w="12700">
            <a:solidFill>
              <a:srgbClr val="D1D5DB"/>
            </a:solidFill>
            <a:prstDash val="solid"/>
          </a:ln>
        </p:spPr>
      </p:sp>
      <p:pic>
        <p:nvPicPr>
          <p:cNvPr id="16" name="Image 2" descr="./victoriana.png">    </p:cNvPr>
          <p:cNvPicPr>
            <a:picLocks noChangeAspect="1"/>
          </p:cNvPicPr>
          <p:nvPr/>
        </p:nvPicPr>
        <p:blipFill>
          <a:blip r:embed="rId3"/>
          <a:stretch>
            <a:fillRect/>
          </a:stretch>
        </p:blipFill>
        <p:spPr>
          <a:xfrm>
            <a:off x="4069080" y="1078992"/>
            <a:ext cx="1005840" cy="1005840"/>
          </a:xfrm>
          <a:prstGeom prst="ellipse">
            <a:avLst/>
          </a:prstGeom>
        </p:spPr>
      </p:pic>
      <p:sp>
        <p:nvSpPr>
          <p:cNvPr id="17" name="Text 12"/>
          <p:cNvSpPr/>
          <p:nvPr/>
        </p:nvSpPr>
        <p:spPr>
          <a:xfrm>
            <a:off x="3255264" y="2157984"/>
            <a:ext cx="2633472" cy="274320"/>
          </a:xfrm>
          <a:prstGeom prst="rect">
            <a:avLst/>
          </a:prstGeom>
          <a:noFill/>
          <a:ln/>
        </p:spPr>
        <p:txBody>
          <a:bodyPr wrap="square"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Victoriana Johnson</a:t>
            </a:r>
            <a:endParaRPr lang="en-US" sz="1300" dirty="0"/>
          </a:p>
        </p:txBody>
      </p:sp>
      <p:sp>
        <p:nvSpPr>
          <p:cNvPr id="18" name="Text 13"/>
          <p:cNvSpPr/>
          <p:nvPr/>
        </p:nvSpPr>
        <p:spPr>
          <a:xfrm>
            <a:off x="3255264" y="2450592"/>
            <a:ext cx="2633472"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Certified QA Inspector · OrangeQC Platform</a:t>
            </a:r>
            <a:endParaRPr lang="en-US" sz="900" dirty="0"/>
          </a:p>
        </p:txBody>
      </p:sp>
      <p:sp>
        <p:nvSpPr>
          <p:cNvPr id="19" name="Text 14"/>
          <p:cNvSpPr/>
          <p:nvPr/>
        </p:nvSpPr>
        <p:spPr>
          <a:xfrm>
            <a:off x="3255264" y="2743200"/>
            <a:ext cx="2633472" cy="237744"/>
          </a:xfrm>
          <a:prstGeom prst="rect">
            <a:avLst/>
          </a:prstGeom>
          <a:noFill/>
          <a:ln/>
        </p:spPr>
        <p:txBody>
          <a:bodyPr wrap="square" rtlCol="0" anchor="ctr"/>
          <a:lstStyle/>
          <a:p>
            <a:pPr algn="ctr" indent="0" marL="0">
              <a:buNone/>
            </a:pPr>
            <a:r>
              <a:rPr lang="en-US" sz="1100" b="1" dirty="0">
                <a:solidFill>
                  <a:srgbClr val="1B3A6B"/>
                </a:solidFill>
                <a:latin typeface="Calibri" pitchFamily="34" charset="0"/>
                <a:ea typeface="Calibri" pitchFamily="34" charset="-122"/>
                <a:cs typeface="Calibri" pitchFamily="34" charset="-120"/>
              </a:rPr>
              <a:t>QA Manager</a:t>
            </a:r>
            <a:endParaRPr lang="en-US" sz="1100" dirty="0"/>
          </a:p>
        </p:txBody>
      </p:sp>
      <p:sp>
        <p:nvSpPr>
          <p:cNvPr id="20" name="Shape 15"/>
          <p:cNvSpPr/>
          <p:nvPr/>
        </p:nvSpPr>
        <p:spPr>
          <a:xfrm>
            <a:off x="3255264" y="3017520"/>
            <a:ext cx="2633472" cy="16459"/>
          </a:xfrm>
          <a:prstGeom prst="rect">
            <a:avLst/>
          </a:prstGeom>
          <a:solidFill>
            <a:srgbClr val="D1D5DB"/>
          </a:solidFill>
          <a:ln w="12700">
            <a:solidFill>
              <a:srgbClr val="D1D5DB"/>
            </a:solidFill>
            <a:prstDash val="solid"/>
          </a:ln>
        </p:spPr>
      </p:sp>
      <p:sp>
        <p:nvSpPr>
          <p:cNvPr id="21" name="Text 16"/>
          <p:cNvSpPr/>
          <p:nvPr/>
        </p:nvSpPr>
        <p:spPr>
          <a:xfrm>
            <a:off x="3255264" y="3090672"/>
            <a:ext cx="2633472" cy="115214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Conducts weekly on-site inspections, logs every score, and personally owns resolution follow-through on every open service ticket. If a score drops, she is the first to know and the first to respond.</a:t>
            </a:r>
            <a:endParaRPr lang="en-US" sz="1050" dirty="0"/>
          </a:p>
        </p:txBody>
      </p:sp>
      <p:sp>
        <p:nvSpPr>
          <p:cNvPr id="22" name="Shape 17"/>
          <p:cNvSpPr/>
          <p:nvPr/>
        </p:nvSpPr>
        <p:spPr>
          <a:xfrm>
            <a:off x="5925312" y="1005840"/>
            <a:ext cx="16459" cy="3621024"/>
          </a:xfrm>
          <a:prstGeom prst="rect">
            <a:avLst/>
          </a:prstGeom>
          <a:solidFill>
            <a:srgbClr val="D1D5DB"/>
          </a:solidFill>
          <a:ln w="12700">
            <a:solidFill>
              <a:srgbClr val="D1D5DB"/>
            </a:solidFill>
            <a:prstDash val="solid"/>
          </a:ln>
        </p:spPr>
      </p:sp>
      <p:pic>
        <p:nvPicPr>
          <p:cNvPr id="23" name="Image 3" descr="./johanna.png">    </p:cNvPr>
          <p:cNvPicPr>
            <a:picLocks noChangeAspect="1"/>
          </p:cNvPicPr>
          <p:nvPr/>
        </p:nvPicPr>
        <p:blipFill>
          <a:blip r:embed="rId4"/>
          <a:stretch>
            <a:fillRect/>
          </a:stretch>
        </p:blipFill>
        <p:spPr>
          <a:xfrm>
            <a:off x="6867144" y="1078992"/>
            <a:ext cx="1005840" cy="1005840"/>
          </a:xfrm>
          <a:prstGeom prst="ellipse">
            <a:avLst/>
          </a:prstGeom>
        </p:spPr>
      </p:pic>
      <p:sp>
        <p:nvSpPr>
          <p:cNvPr id="24" name="Text 18"/>
          <p:cNvSpPr/>
          <p:nvPr/>
        </p:nvSpPr>
        <p:spPr>
          <a:xfrm>
            <a:off x="6053328" y="2157984"/>
            <a:ext cx="2633472" cy="274320"/>
          </a:xfrm>
          <a:prstGeom prst="rect">
            <a:avLst/>
          </a:prstGeom>
          <a:noFill/>
          <a:ln/>
        </p:spPr>
        <p:txBody>
          <a:bodyPr wrap="square"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Johanna Hernandez</a:t>
            </a:r>
            <a:endParaRPr lang="en-US" sz="1300" dirty="0"/>
          </a:p>
        </p:txBody>
      </p:sp>
      <p:sp>
        <p:nvSpPr>
          <p:cNvPr id="25" name="Text 19"/>
          <p:cNvSpPr/>
          <p:nvPr/>
        </p:nvSpPr>
        <p:spPr>
          <a:xfrm>
            <a:off x="6053328" y="2450592"/>
            <a:ext cx="2633472"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Talent Acquisition · Training &amp; Certification</a:t>
            </a:r>
            <a:endParaRPr lang="en-US" sz="900" dirty="0"/>
          </a:p>
        </p:txBody>
      </p:sp>
      <p:sp>
        <p:nvSpPr>
          <p:cNvPr id="26" name="Text 20"/>
          <p:cNvSpPr/>
          <p:nvPr/>
        </p:nvSpPr>
        <p:spPr>
          <a:xfrm>
            <a:off x="6053328" y="2743200"/>
            <a:ext cx="2633472" cy="237744"/>
          </a:xfrm>
          <a:prstGeom prst="rect">
            <a:avLst/>
          </a:prstGeom>
          <a:noFill/>
          <a:ln/>
        </p:spPr>
        <p:txBody>
          <a:bodyPr wrap="square" rtlCol="0" anchor="ctr"/>
          <a:lstStyle/>
          <a:p>
            <a:pPr algn="ctr" indent="0" marL="0">
              <a:buNone/>
            </a:pPr>
            <a:r>
              <a:rPr lang="en-US" sz="1100" b="1" dirty="0">
                <a:solidFill>
                  <a:srgbClr val="1B3A6B"/>
                </a:solidFill>
                <a:latin typeface="Calibri" pitchFamily="34" charset="0"/>
                <a:ea typeface="Calibri" pitchFamily="34" charset="-122"/>
                <a:cs typeface="Calibri" pitchFamily="34" charset="-120"/>
              </a:rPr>
              <a:t>Area Talent Manager</a:t>
            </a:r>
            <a:endParaRPr lang="en-US" sz="1100" dirty="0"/>
          </a:p>
        </p:txBody>
      </p:sp>
      <p:sp>
        <p:nvSpPr>
          <p:cNvPr id="27" name="Shape 21"/>
          <p:cNvSpPr/>
          <p:nvPr/>
        </p:nvSpPr>
        <p:spPr>
          <a:xfrm>
            <a:off x="6053328" y="3017520"/>
            <a:ext cx="2633472" cy="16459"/>
          </a:xfrm>
          <a:prstGeom prst="rect">
            <a:avLst/>
          </a:prstGeom>
          <a:solidFill>
            <a:srgbClr val="D1D5DB"/>
          </a:solidFill>
          <a:ln w="12700">
            <a:solidFill>
              <a:srgbClr val="D1D5DB"/>
            </a:solidFill>
            <a:prstDash val="solid"/>
          </a:ln>
        </p:spPr>
      </p:sp>
      <p:sp>
        <p:nvSpPr>
          <p:cNvPr id="28" name="Text 22"/>
          <p:cNvSpPr/>
          <p:nvPr/>
        </p:nvSpPr>
        <p:spPr>
          <a:xfrm>
            <a:off x="6053328" y="3090672"/>
            <a:ext cx="2633472" cy="115214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Handles recruiting, vetting, background checks, and ongoing training for all custodial staff. Every person assigned to your facility is screened, trained to your environment, and held to documented standards.</a:t>
            </a:r>
            <a:endParaRPr lang="en-US" sz="1050" dirty="0"/>
          </a:p>
        </p:txBody>
      </p:sp>
      <p:sp>
        <p:nvSpPr>
          <p:cNvPr id="29" name="Shape 23"/>
          <p:cNvSpPr/>
          <p:nvPr/>
        </p:nvSpPr>
        <p:spPr>
          <a:xfrm>
            <a:off x="457200" y="4315968"/>
            <a:ext cx="8321040" cy="16459"/>
          </a:xfrm>
          <a:prstGeom prst="rect">
            <a:avLst/>
          </a:prstGeom>
          <a:solidFill>
            <a:srgbClr val="D1D5DB"/>
          </a:solidFill>
          <a:ln w="12700">
            <a:solidFill>
              <a:srgbClr val="D1D5DB"/>
            </a:solidFill>
            <a:prstDash val="solid"/>
          </a:ln>
        </p:spPr>
      </p:sp>
      <p:sp>
        <p:nvSpPr>
          <p:cNvPr id="30" name="Text 24"/>
          <p:cNvSpPr/>
          <p:nvPr/>
        </p:nvSpPr>
        <p:spPr>
          <a:xfrm>
            <a:off x="457200" y="4370832"/>
            <a:ext cx="8321040" cy="219456"/>
          </a:xfrm>
          <a:prstGeom prst="rect">
            <a:avLst/>
          </a:prstGeom>
          <a:noFill/>
          <a:ln/>
        </p:spPr>
        <p:txBody>
          <a:bodyPr wrap="square"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"I've held the mop. I've been the crew. That's why we're built around accountability, not excuses." — Hereford Johnson, CEO</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QUALITY ASSURANCE</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6</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832104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 Get Full Visibility Into Every Clean.</a:t>
            </a:r>
            <a:endParaRPr lang="en-US" sz="2400" dirty="0"/>
          </a:p>
        </p:txBody>
      </p:sp>
      <p:sp>
        <p:nvSpPr>
          <p:cNvPr id="7" name="Shape 4"/>
          <p:cNvSpPr/>
          <p:nvPr/>
        </p:nvSpPr>
        <p:spPr>
          <a:xfrm>
            <a:off x="457200" y="768096"/>
            <a:ext cx="8321040" cy="16459"/>
          </a:xfrm>
          <a:prstGeom prst="rect">
            <a:avLst/>
          </a:prstGeom>
          <a:solidFill>
            <a:srgbClr val="D1D5DB"/>
          </a:solidFill>
          <a:ln w="12700">
            <a:solidFill>
              <a:srgbClr val="D1D5DB"/>
            </a:solidFill>
            <a:prstDash val="solid"/>
          </a:ln>
        </p:spPr>
      </p:sp>
      <p:sp>
        <p:nvSpPr>
          <p:cNvPr id="8" name="Text 5"/>
          <p:cNvSpPr/>
          <p:nvPr/>
        </p:nvSpPr>
        <p:spPr>
          <a:xfrm>
            <a:off x="457200" y="877824"/>
            <a:ext cx="3401568" cy="804672"/>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Every MDF service is backed by a mobile inspection and ticketing platform that gives you real-time visibility into your facility. This is not an internal tool — it is client-facing accountability. You receive access to your own dashboard.</a:t>
            </a:r>
            <a:endParaRPr lang="en-US" sz="1100" dirty="0"/>
          </a:p>
        </p:txBody>
      </p:sp>
      <p:sp>
        <p:nvSpPr>
          <p:cNvPr id="9" name="Shape 6"/>
          <p:cNvSpPr/>
          <p:nvPr/>
        </p:nvSpPr>
        <p:spPr>
          <a:xfrm>
            <a:off x="457200" y="1737360"/>
            <a:ext cx="3401568" cy="16459"/>
          </a:xfrm>
          <a:prstGeom prst="rect">
            <a:avLst/>
          </a:prstGeom>
          <a:solidFill>
            <a:srgbClr val="D1D5DB"/>
          </a:solidFill>
          <a:ln w="12700">
            <a:solidFill>
              <a:srgbClr val="D1D5DB"/>
            </a:solidFill>
            <a:prstDash val="solid"/>
          </a:ln>
        </p:spPr>
      </p:sp>
      <p:sp>
        <p:nvSpPr>
          <p:cNvPr id="10" name="Text 7"/>
          <p:cNvSpPr/>
          <p:nvPr/>
        </p:nvSpPr>
        <p:spPr>
          <a:xfrm>
            <a:off x="457200" y="1810512"/>
            <a:ext cx="3401568" cy="237744"/>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Inspection Scoring</a:t>
            </a:r>
            <a:endParaRPr lang="en-US" sz="1200" dirty="0"/>
          </a:p>
        </p:txBody>
      </p:sp>
      <p:sp>
        <p:nvSpPr>
          <p:cNvPr id="11" name="Text 8"/>
          <p:cNvSpPr/>
          <p:nvPr/>
        </p:nvSpPr>
        <p:spPr>
          <a:xfrm>
            <a:off x="457200" y="2084832"/>
            <a:ext cx="3401568" cy="475488"/>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area is graded at each visit. Scores trend over time — you can see at a glance whether standards are holding or slipping, week over week.</a:t>
            </a:r>
            <a:endParaRPr lang="en-US" sz="1050" dirty="0"/>
          </a:p>
        </p:txBody>
      </p:sp>
      <p:sp>
        <p:nvSpPr>
          <p:cNvPr id="12" name="Shape 9"/>
          <p:cNvSpPr/>
          <p:nvPr/>
        </p:nvSpPr>
        <p:spPr>
          <a:xfrm>
            <a:off x="457200" y="2615184"/>
            <a:ext cx="3401568" cy="16459"/>
          </a:xfrm>
          <a:prstGeom prst="rect">
            <a:avLst/>
          </a:prstGeom>
          <a:solidFill>
            <a:srgbClr val="D1D5DB"/>
          </a:solidFill>
          <a:ln w="12700">
            <a:solidFill>
              <a:srgbClr val="D1D5DB"/>
            </a:solidFill>
            <a:prstDash val="solid"/>
          </a:ln>
        </p:spPr>
      </p:sp>
      <p:sp>
        <p:nvSpPr>
          <p:cNvPr id="13" name="Text 10"/>
          <p:cNvSpPr/>
          <p:nvPr/>
        </p:nvSpPr>
        <p:spPr>
          <a:xfrm>
            <a:off x="457200" y="2670048"/>
            <a:ext cx="3401568" cy="237744"/>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Service Ticket System</a:t>
            </a:r>
            <a:endParaRPr lang="en-US" sz="1200" dirty="0"/>
          </a:p>
        </p:txBody>
      </p:sp>
      <p:sp>
        <p:nvSpPr>
          <p:cNvPr id="14" name="Text 11"/>
          <p:cNvSpPr/>
          <p:nvPr/>
        </p:nvSpPr>
        <p:spPr>
          <a:xfrm>
            <a:off x="457200" y="2944368"/>
            <a:ext cx="3401568" cy="475488"/>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Any flagged issue auto-creates a ticket, assigned to a team member and time-stamped. Resolution is tracked from open to close — nothing disappears.</a:t>
            </a:r>
            <a:endParaRPr lang="en-US" sz="1050" dirty="0"/>
          </a:p>
        </p:txBody>
      </p:sp>
      <p:sp>
        <p:nvSpPr>
          <p:cNvPr id="15" name="Shape 12"/>
          <p:cNvSpPr/>
          <p:nvPr/>
        </p:nvSpPr>
        <p:spPr>
          <a:xfrm>
            <a:off x="457200" y="3474720"/>
            <a:ext cx="3401568" cy="16459"/>
          </a:xfrm>
          <a:prstGeom prst="rect">
            <a:avLst/>
          </a:prstGeom>
          <a:solidFill>
            <a:srgbClr val="D1D5DB"/>
          </a:solidFill>
          <a:ln w="12700">
            <a:solidFill>
              <a:srgbClr val="D1D5DB"/>
            </a:solidFill>
            <a:prstDash val="solid"/>
          </a:ln>
        </p:spPr>
      </p:sp>
      <p:sp>
        <p:nvSpPr>
          <p:cNvPr id="16" name="Text 13"/>
          <p:cNvSpPr/>
          <p:nvPr/>
        </p:nvSpPr>
        <p:spPr>
          <a:xfrm>
            <a:off x="457200" y="3529584"/>
            <a:ext cx="3401568" cy="237744"/>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Full Audit Trail</a:t>
            </a:r>
            <a:endParaRPr lang="en-US" sz="1200" dirty="0"/>
          </a:p>
        </p:txBody>
      </p:sp>
      <p:sp>
        <p:nvSpPr>
          <p:cNvPr id="17" name="Text 14"/>
          <p:cNvSpPr/>
          <p:nvPr/>
        </p:nvSpPr>
        <p:spPr>
          <a:xfrm>
            <a:off x="457200" y="3803904"/>
            <a:ext cx="3401568" cy="475488"/>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service, every score, every resolved ticket lives in your dashboard. Useful for compliance reviews, facility audits, and ongoing accountability records.</a:t>
            </a:r>
            <a:endParaRPr lang="en-US" sz="1050" dirty="0"/>
          </a:p>
        </p:txBody>
      </p:sp>
      <p:sp>
        <p:nvSpPr>
          <p:cNvPr id="18" name="Shape 15"/>
          <p:cNvSpPr/>
          <p:nvPr/>
        </p:nvSpPr>
        <p:spPr>
          <a:xfrm>
            <a:off x="457200" y="4443984"/>
            <a:ext cx="3401568" cy="16459"/>
          </a:xfrm>
          <a:prstGeom prst="rect">
            <a:avLst/>
          </a:prstGeom>
          <a:solidFill>
            <a:srgbClr val="D1D5DB"/>
          </a:solidFill>
          <a:ln w="12700">
            <a:solidFill>
              <a:srgbClr val="D1D5DB"/>
            </a:solidFill>
            <a:prstDash val="solid"/>
          </a:ln>
        </p:spPr>
      </p:sp>
      <p:sp>
        <p:nvSpPr>
          <p:cNvPr id="19" name="Text 16"/>
          <p:cNvSpPr/>
          <p:nvPr/>
        </p:nvSpPr>
        <p:spPr>
          <a:xfrm>
            <a:off x="457200" y="4498848"/>
            <a:ext cx="3401568" cy="182880"/>
          </a:xfrm>
          <a:prstGeom prst="rect">
            <a:avLst/>
          </a:prstGeom>
          <a:noFill/>
          <a:ln/>
        </p:spPr>
        <p:txBody>
          <a:bodyPr wrap="square" rtlCol="0" anchor="ctr"/>
          <a:lstStyle/>
          <a:p>
            <a:pPr indent="0" marL="0">
              <a:buNone/>
            </a:pPr>
            <a:r>
              <a:rPr lang="en-US" sz="1050" i="1" dirty="0">
                <a:solidFill>
                  <a:srgbClr val="2E7D52"/>
                </a:solidFill>
                <a:latin typeface="Calibri" pitchFamily="34" charset="0"/>
                <a:ea typeface="Calibri" pitchFamily="34" charset="-122"/>
                <a:cs typeface="Calibri" pitchFamily="34" charset="-120"/>
              </a:rPr>
              <a:t>Included with every MDF contract — at no additional charge.</a:t>
            </a:r>
            <a:endParaRPr lang="en-US" sz="1050" dirty="0"/>
          </a:p>
        </p:txBody>
      </p:sp>
      <p:sp>
        <p:nvSpPr>
          <p:cNvPr id="20" name="Shape 17"/>
          <p:cNvSpPr/>
          <p:nvPr/>
        </p:nvSpPr>
        <p:spPr>
          <a:xfrm>
            <a:off x="4041648" y="768096"/>
            <a:ext cx="16459" cy="3877056"/>
          </a:xfrm>
          <a:prstGeom prst="rect">
            <a:avLst/>
          </a:prstGeom>
          <a:solidFill>
            <a:srgbClr val="D1D5DB"/>
          </a:solidFill>
          <a:ln w="12700">
            <a:solidFill>
              <a:srgbClr val="D1D5DB"/>
            </a:solidFill>
            <a:prstDash val="solid"/>
          </a:ln>
        </p:spPr>
      </p:sp>
      <p:sp>
        <p:nvSpPr>
          <p:cNvPr id="21" name="Text 18"/>
          <p:cNvSpPr/>
          <p:nvPr/>
        </p:nvSpPr>
        <p:spPr>
          <a:xfrm>
            <a:off x="4133088" y="859536"/>
            <a:ext cx="4645152"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TARGET INSPECTION SCORE</a:t>
            </a:r>
            <a:endParaRPr lang="en-US" sz="750" dirty="0"/>
          </a:p>
        </p:txBody>
      </p:sp>
      <p:sp>
        <p:nvSpPr>
          <p:cNvPr id="22" name="Text 19"/>
          <p:cNvSpPr/>
          <p:nvPr/>
        </p:nvSpPr>
        <p:spPr>
          <a:xfrm>
            <a:off x="4133088" y="1060704"/>
            <a:ext cx="4645152" cy="749808"/>
          </a:xfrm>
          <a:prstGeom prst="rect">
            <a:avLst/>
          </a:prstGeom>
          <a:noFill/>
          <a:ln/>
        </p:spPr>
        <p:txBody>
          <a:bodyPr wrap="square" rtlCol="0" anchor="ctr"/>
          <a:lstStyle/>
          <a:p>
            <a:pPr indent="0" marL="0">
              <a:buNone/>
            </a:pPr>
            <a:r>
              <a:rPr lang="en-US" sz="4800" b="1" dirty="0">
                <a:solidFill>
                  <a:srgbClr val="0D1F3C"/>
                </a:solidFill>
                <a:latin typeface="Trebuchet MS" pitchFamily="34" charset="0"/>
                <a:ea typeface="Trebuchet MS" pitchFamily="34" charset="-122"/>
                <a:cs typeface="Trebuchet MS" pitchFamily="34" charset="-120"/>
              </a:rPr>
              <a:t>90%+</a:t>
            </a:r>
            <a:endParaRPr lang="en-US" sz="4800" dirty="0"/>
          </a:p>
        </p:txBody>
      </p:sp>
      <p:sp>
        <p:nvSpPr>
          <p:cNvPr id="23" name="Text 20"/>
          <p:cNvSpPr/>
          <p:nvPr/>
        </p:nvSpPr>
        <p:spPr>
          <a:xfrm>
            <a:off x="4133088" y="1828800"/>
            <a:ext cx="4645152"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Tracked and reported every week</a:t>
            </a:r>
            <a:endParaRPr lang="en-US" sz="1000" dirty="0"/>
          </a:p>
        </p:txBody>
      </p:sp>
      <p:sp>
        <p:nvSpPr>
          <p:cNvPr id="24" name="Shape 21"/>
          <p:cNvSpPr/>
          <p:nvPr/>
        </p:nvSpPr>
        <p:spPr>
          <a:xfrm>
            <a:off x="4133088" y="2084832"/>
            <a:ext cx="4645152" cy="16459"/>
          </a:xfrm>
          <a:prstGeom prst="rect">
            <a:avLst/>
          </a:prstGeom>
          <a:solidFill>
            <a:srgbClr val="D1D5DB"/>
          </a:solidFill>
          <a:ln w="12700">
            <a:solidFill>
              <a:srgbClr val="D1D5DB"/>
            </a:solidFill>
            <a:prstDash val="solid"/>
          </a:ln>
        </p:spPr>
      </p:sp>
      <p:sp>
        <p:nvSpPr>
          <p:cNvPr id="25" name="Text 22"/>
          <p:cNvSpPr/>
          <p:nvPr/>
        </p:nvSpPr>
        <p:spPr>
          <a:xfrm>
            <a:off x="4133088" y="2121408"/>
            <a:ext cx="4645152"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AVERAGE RESPONSE TIME</a:t>
            </a:r>
            <a:endParaRPr lang="en-US" sz="750" dirty="0"/>
          </a:p>
        </p:txBody>
      </p:sp>
      <p:sp>
        <p:nvSpPr>
          <p:cNvPr id="26" name="Text 23"/>
          <p:cNvSpPr/>
          <p:nvPr/>
        </p:nvSpPr>
        <p:spPr>
          <a:xfrm>
            <a:off x="4133088" y="2322576"/>
            <a:ext cx="4645152" cy="749808"/>
          </a:xfrm>
          <a:prstGeom prst="rect">
            <a:avLst/>
          </a:prstGeom>
          <a:noFill/>
          <a:ln/>
        </p:spPr>
        <p:txBody>
          <a:bodyPr wrap="square" rtlCol="0" anchor="ctr"/>
          <a:lstStyle/>
          <a:p>
            <a:pPr indent="0" marL="0">
              <a:buNone/>
            </a:pPr>
            <a:r>
              <a:rPr lang="en-US" sz="4800" b="1" dirty="0">
                <a:solidFill>
                  <a:srgbClr val="0D1F3C"/>
                </a:solidFill>
                <a:latin typeface="Trebuchet MS" pitchFamily="34" charset="0"/>
                <a:ea typeface="Trebuchet MS" pitchFamily="34" charset="-122"/>
                <a:cs typeface="Trebuchet MS" pitchFamily="34" charset="-120"/>
              </a:rPr>
              <a:t>&lt;2hr</a:t>
            </a:r>
            <a:endParaRPr lang="en-US" sz="4800" dirty="0"/>
          </a:p>
        </p:txBody>
      </p:sp>
      <p:sp>
        <p:nvSpPr>
          <p:cNvPr id="27" name="Text 24"/>
          <p:cNvSpPr/>
          <p:nvPr/>
        </p:nvSpPr>
        <p:spPr>
          <a:xfrm>
            <a:off x="4133088" y="3090672"/>
            <a:ext cx="4645152"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Ticket open to acknowledgment</a:t>
            </a:r>
            <a:endParaRPr lang="en-US" sz="1000" dirty="0"/>
          </a:p>
        </p:txBody>
      </p:sp>
      <p:sp>
        <p:nvSpPr>
          <p:cNvPr id="28" name="Shape 25"/>
          <p:cNvSpPr/>
          <p:nvPr/>
        </p:nvSpPr>
        <p:spPr>
          <a:xfrm>
            <a:off x="4133088" y="3346704"/>
            <a:ext cx="4645152" cy="16459"/>
          </a:xfrm>
          <a:prstGeom prst="rect">
            <a:avLst/>
          </a:prstGeom>
          <a:solidFill>
            <a:srgbClr val="D1D5DB"/>
          </a:solidFill>
          <a:ln w="12700">
            <a:solidFill>
              <a:srgbClr val="D1D5DB"/>
            </a:solidFill>
            <a:prstDash val="solid"/>
          </a:ln>
        </p:spPr>
      </p:sp>
      <p:sp>
        <p:nvSpPr>
          <p:cNvPr id="29" name="Text 26"/>
          <p:cNvSpPr/>
          <p:nvPr/>
        </p:nvSpPr>
        <p:spPr>
          <a:xfrm>
            <a:off x="4133088" y="3383280"/>
            <a:ext cx="4645152"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AVERAGE RESOLUTION TIME</a:t>
            </a:r>
            <a:endParaRPr lang="en-US" sz="750" dirty="0"/>
          </a:p>
        </p:txBody>
      </p:sp>
      <p:sp>
        <p:nvSpPr>
          <p:cNvPr id="30" name="Text 27"/>
          <p:cNvSpPr/>
          <p:nvPr/>
        </p:nvSpPr>
        <p:spPr>
          <a:xfrm>
            <a:off x="4133088" y="3584448"/>
            <a:ext cx="4645152" cy="749808"/>
          </a:xfrm>
          <a:prstGeom prst="rect">
            <a:avLst/>
          </a:prstGeom>
          <a:noFill/>
          <a:ln/>
        </p:spPr>
        <p:txBody>
          <a:bodyPr wrap="square" rtlCol="0" anchor="ctr"/>
          <a:lstStyle/>
          <a:p>
            <a:pPr indent="0" marL="0">
              <a:buNone/>
            </a:pPr>
            <a:r>
              <a:rPr lang="en-US" sz="4800" b="1" dirty="0">
                <a:solidFill>
                  <a:srgbClr val="0D1F3C"/>
                </a:solidFill>
                <a:latin typeface="Trebuchet MS" pitchFamily="34" charset="0"/>
                <a:ea typeface="Trebuchet MS" pitchFamily="34" charset="-122"/>
                <a:cs typeface="Trebuchet MS" pitchFamily="34" charset="-120"/>
              </a:rPr>
              <a:t>&lt;24hr</a:t>
            </a:r>
            <a:endParaRPr lang="en-US" sz="4800" dirty="0"/>
          </a:p>
        </p:txBody>
      </p:sp>
      <p:sp>
        <p:nvSpPr>
          <p:cNvPr id="31" name="Text 28"/>
          <p:cNvSpPr/>
          <p:nvPr/>
        </p:nvSpPr>
        <p:spPr>
          <a:xfrm>
            <a:off x="4133088" y="4352544"/>
            <a:ext cx="4645152"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Issue flagged to issue closed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RAMP-UP PLAN</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7</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832104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Your Ramp-Up. Before Day One.</a:t>
            </a:r>
            <a:endParaRPr lang="en-US" sz="2400" dirty="0"/>
          </a:p>
        </p:txBody>
      </p:sp>
      <p:sp>
        <p:nvSpPr>
          <p:cNvPr id="7" name="Shape 4"/>
          <p:cNvSpPr/>
          <p:nvPr/>
        </p:nvSpPr>
        <p:spPr>
          <a:xfrm>
            <a:off x="457200" y="768096"/>
            <a:ext cx="8321040" cy="16459"/>
          </a:xfrm>
          <a:prstGeom prst="rect">
            <a:avLst/>
          </a:prstGeom>
          <a:solidFill>
            <a:srgbClr val="D1D5DB"/>
          </a:solidFill>
          <a:ln w="12700">
            <a:solidFill>
              <a:srgbClr val="D1D5DB"/>
            </a:solidFill>
            <a:prstDash val="solid"/>
          </a:ln>
        </p:spPr>
      </p:sp>
      <p:sp>
        <p:nvSpPr>
          <p:cNvPr id="8" name="Shape 5"/>
          <p:cNvSpPr/>
          <p:nvPr/>
        </p:nvSpPr>
        <p:spPr>
          <a:xfrm>
            <a:off x="457200" y="841248"/>
            <a:ext cx="2834640" cy="420624"/>
          </a:xfrm>
          <a:prstGeom prst="rect">
            <a:avLst/>
          </a:prstGeom>
          <a:solidFill>
            <a:srgbClr val="0D1F3C"/>
          </a:solidFill>
          <a:ln w="12700">
            <a:solidFill>
              <a:srgbClr val="0D1F3C"/>
            </a:solidFill>
            <a:prstDash val="solid"/>
          </a:ln>
        </p:spPr>
      </p:sp>
      <p:sp>
        <p:nvSpPr>
          <p:cNvPr id="9" name="Text 6"/>
          <p:cNvSpPr/>
          <p:nvPr/>
        </p:nvSpPr>
        <p:spPr>
          <a:xfrm>
            <a:off x="566928" y="960120"/>
            <a:ext cx="2834640" cy="201168"/>
          </a:xfrm>
          <a:prstGeom prst="rect">
            <a:avLst/>
          </a:prstGeom>
          <a:noFill/>
          <a:ln/>
        </p:spPr>
        <p:txBody>
          <a:bodyPr wrap="square" rtlCol="0" anchor="ctr"/>
          <a:lstStyle/>
          <a:p>
            <a:pPr indent="0" marL="0">
              <a:buNone/>
            </a:pPr>
            <a:r>
              <a:rPr lang="en-US" sz="800" b="1" spc="200" kern="0" dirty="0">
                <a:solidFill>
                  <a:srgbClr val="C9A84C"/>
                </a:solidFill>
                <a:latin typeface="Calibri" pitchFamily="34" charset="0"/>
                <a:ea typeface="Calibri" pitchFamily="34" charset="-122"/>
                <a:cs typeface="Calibri" pitchFamily="34" charset="-120"/>
              </a:rPr>
              <a:t>ACTIVITY</a:t>
            </a:r>
            <a:endParaRPr lang="en-US" sz="800" dirty="0"/>
          </a:p>
        </p:txBody>
      </p:sp>
      <p:sp>
        <p:nvSpPr>
          <p:cNvPr id="10" name="Shape 7"/>
          <p:cNvSpPr/>
          <p:nvPr/>
        </p:nvSpPr>
        <p:spPr>
          <a:xfrm>
            <a:off x="3291840" y="841248"/>
            <a:ext cx="914400" cy="420624"/>
          </a:xfrm>
          <a:prstGeom prst="rect">
            <a:avLst/>
          </a:prstGeom>
          <a:solidFill>
            <a:srgbClr val="0D1F3C"/>
          </a:solidFill>
          <a:ln w="12700">
            <a:solidFill>
              <a:srgbClr val="0D1F3C"/>
            </a:solidFill>
            <a:prstDash val="solid"/>
          </a:ln>
        </p:spPr>
      </p:sp>
      <p:sp>
        <p:nvSpPr>
          <p:cNvPr id="11" name="Text 8"/>
          <p:cNvSpPr/>
          <p:nvPr/>
        </p:nvSpPr>
        <p:spPr>
          <a:xfrm>
            <a:off x="3291840" y="960120"/>
            <a:ext cx="914400"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Wk -2</a:t>
            </a:r>
            <a:endParaRPr lang="en-US" sz="900" dirty="0"/>
          </a:p>
        </p:txBody>
      </p:sp>
      <p:sp>
        <p:nvSpPr>
          <p:cNvPr id="12" name="Shape 9"/>
          <p:cNvSpPr/>
          <p:nvPr/>
        </p:nvSpPr>
        <p:spPr>
          <a:xfrm>
            <a:off x="4206240" y="841248"/>
            <a:ext cx="914400" cy="420624"/>
          </a:xfrm>
          <a:prstGeom prst="rect">
            <a:avLst/>
          </a:prstGeom>
          <a:solidFill>
            <a:srgbClr val="0D1F3C"/>
          </a:solidFill>
          <a:ln w="12700">
            <a:solidFill>
              <a:srgbClr val="0D1F3C"/>
            </a:solidFill>
            <a:prstDash val="solid"/>
          </a:ln>
        </p:spPr>
      </p:sp>
      <p:sp>
        <p:nvSpPr>
          <p:cNvPr id="13" name="Text 10"/>
          <p:cNvSpPr/>
          <p:nvPr/>
        </p:nvSpPr>
        <p:spPr>
          <a:xfrm>
            <a:off x="4206240" y="960120"/>
            <a:ext cx="914400"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Wk -1</a:t>
            </a:r>
            <a:endParaRPr lang="en-US" sz="900" dirty="0"/>
          </a:p>
        </p:txBody>
      </p:sp>
      <p:sp>
        <p:nvSpPr>
          <p:cNvPr id="14" name="Shape 11"/>
          <p:cNvSpPr/>
          <p:nvPr/>
        </p:nvSpPr>
        <p:spPr>
          <a:xfrm>
            <a:off x="5120640" y="841248"/>
            <a:ext cx="914400" cy="420624"/>
          </a:xfrm>
          <a:prstGeom prst="rect">
            <a:avLst/>
          </a:prstGeom>
          <a:solidFill>
            <a:srgbClr val="0D1F3C"/>
          </a:solidFill>
          <a:ln w="12700">
            <a:solidFill>
              <a:srgbClr val="0D1F3C"/>
            </a:solidFill>
            <a:prstDash val="solid"/>
          </a:ln>
        </p:spPr>
      </p:sp>
      <p:sp>
        <p:nvSpPr>
          <p:cNvPr id="15" name="Text 12"/>
          <p:cNvSpPr/>
          <p:nvPr/>
        </p:nvSpPr>
        <p:spPr>
          <a:xfrm>
            <a:off x="5120640" y="960120"/>
            <a:ext cx="914400"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Week 1</a:t>
            </a:r>
            <a:endParaRPr lang="en-US" sz="900" dirty="0"/>
          </a:p>
        </p:txBody>
      </p:sp>
      <p:sp>
        <p:nvSpPr>
          <p:cNvPr id="16" name="Shape 13"/>
          <p:cNvSpPr/>
          <p:nvPr/>
        </p:nvSpPr>
        <p:spPr>
          <a:xfrm>
            <a:off x="6035040" y="841248"/>
            <a:ext cx="914400" cy="420624"/>
          </a:xfrm>
          <a:prstGeom prst="rect">
            <a:avLst/>
          </a:prstGeom>
          <a:solidFill>
            <a:srgbClr val="0D1F3C"/>
          </a:solidFill>
          <a:ln w="12700">
            <a:solidFill>
              <a:srgbClr val="0D1F3C"/>
            </a:solidFill>
            <a:prstDash val="solid"/>
          </a:ln>
        </p:spPr>
      </p:sp>
      <p:sp>
        <p:nvSpPr>
          <p:cNvPr id="17" name="Text 14"/>
          <p:cNvSpPr/>
          <p:nvPr/>
        </p:nvSpPr>
        <p:spPr>
          <a:xfrm>
            <a:off x="6035040" y="960120"/>
            <a:ext cx="914400"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Week 2</a:t>
            </a:r>
            <a:endParaRPr lang="en-US" sz="900" dirty="0"/>
          </a:p>
        </p:txBody>
      </p:sp>
      <p:sp>
        <p:nvSpPr>
          <p:cNvPr id="18" name="Shape 15"/>
          <p:cNvSpPr/>
          <p:nvPr/>
        </p:nvSpPr>
        <p:spPr>
          <a:xfrm>
            <a:off x="6949440" y="841248"/>
            <a:ext cx="914400" cy="420624"/>
          </a:xfrm>
          <a:prstGeom prst="rect">
            <a:avLst/>
          </a:prstGeom>
          <a:solidFill>
            <a:srgbClr val="0D1F3C"/>
          </a:solidFill>
          <a:ln w="12700">
            <a:solidFill>
              <a:srgbClr val="0D1F3C"/>
            </a:solidFill>
            <a:prstDash val="solid"/>
          </a:ln>
        </p:spPr>
      </p:sp>
      <p:sp>
        <p:nvSpPr>
          <p:cNvPr id="19" name="Text 16"/>
          <p:cNvSpPr/>
          <p:nvPr/>
        </p:nvSpPr>
        <p:spPr>
          <a:xfrm>
            <a:off x="6949440" y="960120"/>
            <a:ext cx="914400"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Mo. 2</a:t>
            </a:r>
            <a:endParaRPr lang="en-US" sz="900" dirty="0"/>
          </a:p>
        </p:txBody>
      </p:sp>
      <p:sp>
        <p:nvSpPr>
          <p:cNvPr id="20" name="Shape 17"/>
          <p:cNvSpPr/>
          <p:nvPr/>
        </p:nvSpPr>
        <p:spPr>
          <a:xfrm>
            <a:off x="7863840" y="841248"/>
            <a:ext cx="914400" cy="420624"/>
          </a:xfrm>
          <a:prstGeom prst="rect">
            <a:avLst/>
          </a:prstGeom>
          <a:solidFill>
            <a:srgbClr val="0D1F3C"/>
          </a:solidFill>
          <a:ln w="12700">
            <a:solidFill>
              <a:srgbClr val="0D1F3C"/>
            </a:solidFill>
            <a:prstDash val="solid"/>
          </a:ln>
        </p:spPr>
      </p:sp>
      <p:sp>
        <p:nvSpPr>
          <p:cNvPr id="21" name="Text 18"/>
          <p:cNvSpPr/>
          <p:nvPr/>
        </p:nvSpPr>
        <p:spPr>
          <a:xfrm>
            <a:off x="7863840" y="960120"/>
            <a:ext cx="914400"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Mo. 3</a:t>
            </a:r>
            <a:endParaRPr lang="en-US" sz="900" dirty="0"/>
          </a:p>
        </p:txBody>
      </p:sp>
      <p:sp>
        <p:nvSpPr>
          <p:cNvPr id="22" name="Shape 19"/>
          <p:cNvSpPr/>
          <p:nvPr/>
        </p:nvSpPr>
        <p:spPr>
          <a:xfrm>
            <a:off x="457200" y="1261872"/>
            <a:ext cx="2834640" cy="420624"/>
          </a:xfrm>
          <a:prstGeom prst="rect">
            <a:avLst/>
          </a:prstGeom>
          <a:solidFill>
            <a:srgbClr val="FFFFFF"/>
          </a:solidFill>
          <a:ln w="12700">
            <a:solidFill>
              <a:srgbClr val="D1D5DB"/>
            </a:solidFill>
            <a:prstDash val="solid"/>
          </a:ln>
        </p:spPr>
      </p:sp>
      <p:sp>
        <p:nvSpPr>
          <p:cNvPr id="23" name="Text 20"/>
          <p:cNvSpPr/>
          <p:nvPr/>
        </p:nvSpPr>
        <p:spPr>
          <a:xfrm>
            <a:off x="566928" y="1380744"/>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CEO + QA Manager Site Walk</a:t>
            </a:r>
            <a:endParaRPr lang="en-US" sz="1000" dirty="0"/>
          </a:p>
        </p:txBody>
      </p:sp>
      <p:sp>
        <p:nvSpPr>
          <p:cNvPr id="24" name="Shape 21"/>
          <p:cNvSpPr/>
          <p:nvPr/>
        </p:nvSpPr>
        <p:spPr>
          <a:xfrm>
            <a:off x="3291840" y="1261872"/>
            <a:ext cx="914400" cy="420624"/>
          </a:xfrm>
          <a:prstGeom prst="rect">
            <a:avLst/>
          </a:prstGeom>
          <a:solidFill>
            <a:srgbClr val="FFFFFF"/>
          </a:solidFill>
          <a:ln w="12700">
            <a:solidFill>
              <a:srgbClr val="D1D5DB"/>
            </a:solidFill>
            <a:prstDash val="solid"/>
          </a:ln>
        </p:spPr>
      </p:sp>
      <p:sp>
        <p:nvSpPr>
          <p:cNvPr id="25" name="Shape 22"/>
          <p:cNvSpPr/>
          <p:nvPr/>
        </p:nvSpPr>
        <p:spPr>
          <a:xfrm>
            <a:off x="4206240" y="1261872"/>
            <a:ext cx="914400" cy="420624"/>
          </a:xfrm>
          <a:prstGeom prst="rect">
            <a:avLst/>
          </a:prstGeom>
          <a:solidFill>
            <a:srgbClr val="FFFFFF"/>
          </a:solidFill>
          <a:ln w="12700">
            <a:solidFill>
              <a:srgbClr val="D1D5DB"/>
            </a:solidFill>
            <a:prstDash val="solid"/>
          </a:ln>
        </p:spPr>
      </p:sp>
      <p:sp>
        <p:nvSpPr>
          <p:cNvPr id="26" name="Shape 23"/>
          <p:cNvSpPr/>
          <p:nvPr/>
        </p:nvSpPr>
        <p:spPr>
          <a:xfrm>
            <a:off x="5120640" y="1261872"/>
            <a:ext cx="914400" cy="420624"/>
          </a:xfrm>
          <a:prstGeom prst="rect">
            <a:avLst/>
          </a:prstGeom>
          <a:solidFill>
            <a:srgbClr val="FFFFFF"/>
          </a:solidFill>
          <a:ln w="12700">
            <a:solidFill>
              <a:srgbClr val="D1D5DB"/>
            </a:solidFill>
            <a:prstDash val="solid"/>
          </a:ln>
        </p:spPr>
      </p:sp>
      <p:sp>
        <p:nvSpPr>
          <p:cNvPr id="27" name="Shape 24"/>
          <p:cNvSpPr/>
          <p:nvPr/>
        </p:nvSpPr>
        <p:spPr>
          <a:xfrm>
            <a:off x="6035040" y="1261872"/>
            <a:ext cx="914400" cy="420624"/>
          </a:xfrm>
          <a:prstGeom prst="rect">
            <a:avLst/>
          </a:prstGeom>
          <a:solidFill>
            <a:srgbClr val="FFFFFF"/>
          </a:solidFill>
          <a:ln w="12700">
            <a:solidFill>
              <a:srgbClr val="D1D5DB"/>
            </a:solidFill>
            <a:prstDash val="solid"/>
          </a:ln>
        </p:spPr>
      </p:sp>
      <p:sp>
        <p:nvSpPr>
          <p:cNvPr id="28" name="Shape 25"/>
          <p:cNvSpPr/>
          <p:nvPr/>
        </p:nvSpPr>
        <p:spPr>
          <a:xfrm>
            <a:off x="6949440" y="1261872"/>
            <a:ext cx="914400" cy="420624"/>
          </a:xfrm>
          <a:prstGeom prst="rect">
            <a:avLst/>
          </a:prstGeom>
          <a:solidFill>
            <a:srgbClr val="FFFFFF"/>
          </a:solidFill>
          <a:ln w="12700">
            <a:solidFill>
              <a:srgbClr val="D1D5DB"/>
            </a:solidFill>
            <a:prstDash val="solid"/>
          </a:ln>
        </p:spPr>
      </p:sp>
      <p:sp>
        <p:nvSpPr>
          <p:cNvPr id="29" name="Shape 26"/>
          <p:cNvSpPr/>
          <p:nvPr/>
        </p:nvSpPr>
        <p:spPr>
          <a:xfrm>
            <a:off x="7863840" y="1261872"/>
            <a:ext cx="914400" cy="420624"/>
          </a:xfrm>
          <a:prstGeom prst="rect">
            <a:avLst/>
          </a:prstGeom>
          <a:solidFill>
            <a:srgbClr val="FFFFFF"/>
          </a:solidFill>
          <a:ln w="12700">
            <a:solidFill>
              <a:srgbClr val="D1D5DB"/>
            </a:solidFill>
            <a:prstDash val="solid"/>
          </a:ln>
        </p:spPr>
      </p:sp>
      <p:sp>
        <p:nvSpPr>
          <p:cNvPr id="30" name="Shape 27"/>
          <p:cNvSpPr/>
          <p:nvPr/>
        </p:nvSpPr>
        <p:spPr>
          <a:xfrm>
            <a:off x="3346704" y="1353312"/>
            <a:ext cx="1719072" cy="231343"/>
          </a:xfrm>
          <a:prstGeom prst="rect">
            <a:avLst/>
          </a:prstGeom>
          <a:solidFill>
            <a:srgbClr val="C9A84C"/>
          </a:solidFill>
          <a:ln w="12700">
            <a:solidFill>
              <a:srgbClr val="C9A84C"/>
            </a:solidFill>
            <a:prstDash val="solid"/>
          </a:ln>
        </p:spPr>
      </p:sp>
      <p:sp>
        <p:nvSpPr>
          <p:cNvPr id="31" name="Shape 28"/>
          <p:cNvSpPr/>
          <p:nvPr/>
        </p:nvSpPr>
        <p:spPr>
          <a:xfrm>
            <a:off x="457200" y="1682496"/>
            <a:ext cx="2834640" cy="420624"/>
          </a:xfrm>
          <a:prstGeom prst="rect">
            <a:avLst/>
          </a:prstGeom>
          <a:solidFill>
            <a:srgbClr val="F4F7FB"/>
          </a:solidFill>
          <a:ln w="12700">
            <a:solidFill>
              <a:srgbClr val="D1D5DB"/>
            </a:solidFill>
            <a:prstDash val="solid"/>
          </a:ln>
        </p:spPr>
      </p:sp>
      <p:sp>
        <p:nvSpPr>
          <p:cNvPr id="32" name="Text 29"/>
          <p:cNvSpPr/>
          <p:nvPr/>
        </p:nvSpPr>
        <p:spPr>
          <a:xfrm>
            <a:off x="566928" y="1801368"/>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Key Handoff &amp; Supply Staging</a:t>
            </a:r>
            <a:endParaRPr lang="en-US" sz="1000" dirty="0"/>
          </a:p>
        </p:txBody>
      </p:sp>
      <p:sp>
        <p:nvSpPr>
          <p:cNvPr id="33" name="Shape 30"/>
          <p:cNvSpPr/>
          <p:nvPr/>
        </p:nvSpPr>
        <p:spPr>
          <a:xfrm>
            <a:off x="3291840" y="1682496"/>
            <a:ext cx="914400" cy="420624"/>
          </a:xfrm>
          <a:prstGeom prst="rect">
            <a:avLst/>
          </a:prstGeom>
          <a:solidFill>
            <a:srgbClr val="F4F7FB"/>
          </a:solidFill>
          <a:ln w="12700">
            <a:solidFill>
              <a:srgbClr val="D1D5DB"/>
            </a:solidFill>
            <a:prstDash val="solid"/>
          </a:ln>
        </p:spPr>
      </p:sp>
      <p:sp>
        <p:nvSpPr>
          <p:cNvPr id="34" name="Shape 31"/>
          <p:cNvSpPr/>
          <p:nvPr/>
        </p:nvSpPr>
        <p:spPr>
          <a:xfrm>
            <a:off x="4206240" y="1682496"/>
            <a:ext cx="914400" cy="420624"/>
          </a:xfrm>
          <a:prstGeom prst="rect">
            <a:avLst/>
          </a:prstGeom>
          <a:solidFill>
            <a:srgbClr val="F4F7FB"/>
          </a:solidFill>
          <a:ln w="12700">
            <a:solidFill>
              <a:srgbClr val="D1D5DB"/>
            </a:solidFill>
            <a:prstDash val="solid"/>
          </a:ln>
        </p:spPr>
      </p:sp>
      <p:sp>
        <p:nvSpPr>
          <p:cNvPr id="35" name="Shape 32"/>
          <p:cNvSpPr/>
          <p:nvPr/>
        </p:nvSpPr>
        <p:spPr>
          <a:xfrm>
            <a:off x="5120640" y="1682496"/>
            <a:ext cx="914400" cy="420624"/>
          </a:xfrm>
          <a:prstGeom prst="rect">
            <a:avLst/>
          </a:prstGeom>
          <a:solidFill>
            <a:srgbClr val="F4F7FB"/>
          </a:solidFill>
          <a:ln w="12700">
            <a:solidFill>
              <a:srgbClr val="D1D5DB"/>
            </a:solidFill>
            <a:prstDash val="solid"/>
          </a:ln>
        </p:spPr>
      </p:sp>
      <p:sp>
        <p:nvSpPr>
          <p:cNvPr id="36" name="Shape 33"/>
          <p:cNvSpPr/>
          <p:nvPr/>
        </p:nvSpPr>
        <p:spPr>
          <a:xfrm>
            <a:off x="6035040" y="1682496"/>
            <a:ext cx="914400" cy="420624"/>
          </a:xfrm>
          <a:prstGeom prst="rect">
            <a:avLst/>
          </a:prstGeom>
          <a:solidFill>
            <a:srgbClr val="F4F7FB"/>
          </a:solidFill>
          <a:ln w="12700">
            <a:solidFill>
              <a:srgbClr val="D1D5DB"/>
            </a:solidFill>
            <a:prstDash val="solid"/>
          </a:ln>
        </p:spPr>
      </p:sp>
      <p:sp>
        <p:nvSpPr>
          <p:cNvPr id="37" name="Shape 34"/>
          <p:cNvSpPr/>
          <p:nvPr/>
        </p:nvSpPr>
        <p:spPr>
          <a:xfrm>
            <a:off x="6949440" y="1682496"/>
            <a:ext cx="914400" cy="420624"/>
          </a:xfrm>
          <a:prstGeom prst="rect">
            <a:avLst/>
          </a:prstGeom>
          <a:solidFill>
            <a:srgbClr val="F4F7FB"/>
          </a:solidFill>
          <a:ln w="12700">
            <a:solidFill>
              <a:srgbClr val="D1D5DB"/>
            </a:solidFill>
            <a:prstDash val="solid"/>
          </a:ln>
        </p:spPr>
      </p:sp>
      <p:sp>
        <p:nvSpPr>
          <p:cNvPr id="38" name="Shape 35"/>
          <p:cNvSpPr/>
          <p:nvPr/>
        </p:nvSpPr>
        <p:spPr>
          <a:xfrm>
            <a:off x="7863840" y="1682496"/>
            <a:ext cx="914400" cy="420624"/>
          </a:xfrm>
          <a:prstGeom prst="rect">
            <a:avLst/>
          </a:prstGeom>
          <a:solidFill>
            <a:srgbClr val="F4F7FB"/>
          </a:solidFill>
          <a:ln w="12700">
            <a:solidFill>
              <a:srgbClr val="D1D5DB"/>
            </a:solidFill>
            <a:prstDash val="solid"/>
          </a:ln>
        </p:spPr>
      </p:sp>
      <p:sp>
        <p:nvSpPr>
          <p:cNvPr id="39" name="Shape 36"/>
          <p:cNvSpPr/>
          <p:nvPr/>
        </p:nvSpPr>
        <p:spPr>
          <a:xfrm>
            <a:off x="3346704" y="1773936"/>
            <a:ext cx="1719072" cy="231343"/>
          </a:xfrm>
          <a:prstGeom prst="rect">
            <a:avLst/>
          </a:prstGeom>
          <a:solidFill>
            <a:srgbClr val="C9A84C"/>
          </a:solidFill>
          <a:ln w="12700">
            <a:solidFill>
              <a:srgbClr val="C9A84C"/>
            </a:solidFill>
            <a:prstDash val="solid"/>
          </a:ln>
        </p:spPr>
      </p:sp>
      <p:sp>
        <p:nvSpPr>
          <p:cNvPr id="40" name="Shape 37"/>
          <p:cNvSpPr/>
          <p:nvPr/>
        </p:nvSpPr>
        <p:spPr>
          <a:xfrm>
            <a:off x="457200" y="2103120"/>
            <a:ext cx="2834640" cy="420624"/>
          </a:xfrm>
          <a:prstGeom prst="rect">
            <a:avLst/>
          </a:prstGeom>
          <a:solidFill>
            <a:srgbClr val="FFFFFF"/>
          </a:solidFill>
          <a:ln w="12700">
            <a:solidFill>
              <a:srgbClr val="D1D5DB"/>
            </a:solidFill>
            <a:prstDash val="solid"/>
          </a:ln>
        </p:spPr>
      </p:sp>
      <p:sp>
        <p:nvSpPr>
          <p:cNvPr id="41" name="Text 38"/>
          <p:cNvSpPr/>
          <p:nvPr/>
        </p:nvSpPr>
        <p:spPr>
          <a:xfrm>
            <a:off x="566928" y="2221992"/>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Team Assignment &amp; Orientation</a:t>
            </a:r>
            <a:endParaRPr lang="en-US" sz="1000" dirty="0"/>
          </a:p>
        </p:txBody>
      </p:sp>
      <p:sp>
        <p:nvSpPr>
          <p:cNvPr id="42" name="Shape 39"/>
          <p:cNvSpPr/>
          <p:nvPr/>
        </p:nvSpPr>
        <p:spPr>
          <a:xfrm>
            <a:off x="3291840" y="2103120"/>
            <a:ext cx="914400" cy="420624"/>
          </a:xfrm>
          <a:prstGeom prst="rect">
            <a:avLst/>
          </a:prstGeom>
          <a:solidFill>
            <a:srgbClr val="FFFFFF"/>
          </a:solidFill>
          <a:ln w="12700">
            <a:solidFill>
              <a:srgbClr val="D1D5DB"/>
            </a:solidFill>
            <a:prstDash val="solid"/>
          </a:ln>
        </p:spPr>
      </p:sp>
      <p:sp>
        <p:nvSpPr>
          <p:cNvPr id="43" name="Shape 40"/>
          <p:cNvSpPr/>
          <p:nvPr/>
        </p:nvSpPr>
        <p:spPr>
          <a:xfrm>
            <a:off x="4206240" y="2103120"/>
            <a:ext cx="914400" cy="420624"/>
          </a:xfrm>
          <a:prstGeom prst="rect">
            <a:avLst/>
          </a:prstGeom>
          <a:solidFill>
            <a:srgbClr val="FFFFFF"/>
          </a:solidFill>
          <a:ln w="12700">
            <a:solidFill>
              <a:srgbClr val="D1D5DB"/>
            </a:solidFill>
            <a:prstDash val="solid"/>
          </a:ln>
        </p:spPr>
      </p:sp>
      <p:sp>
        <p:nvSpPr>
          <p:cNvPr id="44" name="Shape 41"/>
          <p:cNvSpPr/>
          <p:nvPr/>
        </p:nvSpPr>
        <p:spPr>
          <a:xfrm>
            <a:off x="5120640" y="2103120"/>
            <a:ext cx="914400" cy="420624"/>
          </a:xfrm>
          <a:prstGeom prst="rect">
            <a:avLst/>
          </a:prstGeom>
          <a:solidFill>
            <a:srgbClr val="FFFFFF"/>
          </a:solidFill>
          <a:ln w="12700">
            <a:solidFill>
              <a:srgbClr val="D1D5DB"/>
            </a:solidFill>
            <a:prstDash val="solid"/>
          </a:ln>
        </p:spPr>
      </p:sp>
      <p:sp>
        <p:nvSpPr>
          <p:cNvPr id="45" name="Shape 42"/>
          <p:cNvSpPr/>
          <p:nvPr/>
        </p:nvSpPr>
        <p:spPr>
          <a:xfrm>
            <a:off x="6035040" y="2103120"/>
            <a:ext cx="914400" cy="420624"/>
          </a:xfrm>
          <a:prstGeom prst="rect">
            <a:avLst/>
          </a:prstGeom>
          <a:solidFill>
            <a:srgbClr val="FFFFFF"/>
          </a:solidFill>
          <a:ln w="12700">
            <a:solidFill>
              <a:srgbClr val="D1D5DB"/>
            </a:solidFill>
            <a:prstDash val="solid"/>
          </a:ln>
        </p:spPr>
      </p:sp>
      <p:sp>
        <p:nvSpPr>
          <p:cNvPr id="46" name="Shape 43"/>
          <p:cNvSpPr/>
          <p:nvPr/>
        </p:nvSpPr>
        <p:spPr>
          <a:xfrm>
            <a:off x="6949440" y="2103120"/>
            <a:ext cx="914400" cy="420624"/>
          </a:xfrm>
          <a:prstGeom prst="rect">
            <a:avLst/>
          </a:prstGeom>
          <a:solidFill>
            <a:srgbClr val="FFFFFF"/>
          </a:solidFill>
          <a:ln w="12700">
            <a:solidFill>
              <a:srgbClr val="D1D5DB"/>
            </a:solidFill>
            <a:prstDash val="solid"/>
          </a:ln>
        </p:spPr>
      </p:sp>
      <p:sp>
        <p:nvSpPr>
          <p:cNvPr id="47" name="Shape 44"/>
          <p:cNvSpPr/>
          <p:nvPr/>
        </p:nvSpPr>
        <p:spPr>
          <a:xfrm>
            <a:off x="7863840" y="2103120"/>
            <a:ext cx="914400" cy="420624"/>
          </a:xfrm>
          <a:prstGeom prst="rect">
            <a:avLst/>
          </a:prstGeom>
          <a:solidFill>
            <a:srgbClr val="FFFFFF"/>
          </a:solidFill>
          <a:ln w="12700">
            <a:solidFill>
              <a:srgbClr val="D1D5DB"/>
            </a:solidFill>
            <a:prstDash val="solid"/>
          </a:ln>
        </p:spPr>
      </p:sp>
      <p:sp>
        <p:nvSpPr>
          <p:cNvPr id="48" name="Shape 45"/>
          <p:cNvSpPr/>
          <p:nvPr/>
        </p:nvSpPr>
        <p:spPr>
          <a:xfrm>
            <a:off x="4261104" y="2194560"/>
            <a:ext cx="804672" cy="231343"/>
          </a:xfrm>
          <a:prstGeom prst="rect">
            <a:avLst/>
          </a:prstGeom>
          <a:solidFill>
            <a:srgbClr val="C9A84C"/>
          </a:solidFill>
          <a:ln w="12700">
            <a:solidFill>
              <a:srgbClr val="C9A84C"/>
            </a:solidFill>
            <a:prstDash val="solid"/>
          </a:ln>
        </p:spPr>
      </p:sp>
      <p:sp>
        <p:nvSpPr>
          <p:cNvPr id="49" name="Shape 46"/>
          <p:cNvSpPr/>
          <p:nvPr/>
        </p:nvSpPr>
        <p:spPr>
          <a:xfrm>
            <a:off x="457200" y="2523744"/>
            <a:ext cx="2834640" cy="420624"/>
          </a:xfrm>
          <a:prstGeom prst="rect">
            <a:avLst/>
          </a:prstGeom>
          <a:solidFill>
            <a:srgbClr val="F4F7FB"/>
          </a:solidFill>
          <a:ln w="12700">
            <a:solidFill>
              <a:srgbClr val="D1D5DB"/>
            </a:solidFill>
            <a:prstDash val="solid"/>
          </a:ln>
        </p:spPr>
      </p:sp>
      <p:sp>
        <p:nvSpPr>
          <p:cNvPr id="50" name="Text 47"/>
          <p:cNvSpPr/>
          <p:nvPr/>
        </p:nvSpPr>
        <p:spPr>
          <a:xfrm>
            <a:off x="566928" y="2642616"/>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Service Launch</a:t>
            </a:r>
            <a:endParaRPr lang="en-US" sz="1000" dirty="0"/>
          </a:p>
        </p:txBody>
      </p:sp>
      <p:sp>
        <p:nvSpPr>
          <p:cNvPr id="51" name="Shape 48"/>
          <p:cNvSpPr/>
          <p:nvPr/>
        </p:nvSpPr>
        <p:spPr>
          <a:xfrm>
            <a:off x="3291840" y="2523744"/>
            <a:ext cx="914400" cy="420624"/>
          </a:xfrm>
          <a:prstGeom prst="rect">
            <a:avLst/>
          </a:prstGeom>
          <a:solidFill>
            <a:srgbClr val="F4F7FB"/>
          </a:solidFill>
          <a:ln w="12700">
            <a:solidFill>
              <a:srgbClr val="D1D5DB"/>
            </a:solidFill>
            <a:prstDash val="solid"/>
          </a:ln>
        </p:spPr>
      </p:sp>
      <p:sp>
        <p:nvSpPr>
          <p:cNvPr id="52" name="Shape 49"/>
          <p:cNvSpPr/>
          <p:nvPr/>
        </p:nvSpPr>
        <p:spPr>
          <a:xfrm>
            <a:off x="4206240" y="2523744"/>
            <a:ext cx="914400" cy="420624"/>
          </a:xfrm>
          <a:prstGeom prst="rect">
            <a:avLst/>
          </a:prstGeom>
          <a:solidFill>
            <a:srgbClr val="F4F7FB"/>
          </a:solidFill>
          <a:ln w="12700">
            <a:solidFill>
              <a:srgbClr val="D1D5DB"/>
            </a:solidFill>
            <a:prstDash val="solid"/>
          </a:ln>
        </p:spPr>
      </p:sp>
      <p:sp>
        <p:nvSpPr>
          <p:cNvPr id="53" name="Shape 50"/>
          <p:cNvSpPr/>
          <p:nvPr/>
        </p:nvSpPr>
        <p:spPr>
          <a:xfrm>
            <a:off x="5120640" y="2523744"/>
            <a:ext cx="914400" cy="420624"/>
          </a:xfrm>
          <a:prstGeom prst="rect">
            <a:avLst/>
          </a:prstGeom>
          <a:solidFill>
            <a:srgbClr val="F4F7FB"/>
          </a:solidFill>
          <a:ln w="12700">
            <a:solidFill>
              <a:srgbClr val="D1D5DB"/>
            </a:solidFill>
            <a:prstDash val="solid"/>
          </a:ln>
        </p:spPr>
      </p:sp>
      <p:sp>
        <p:nvSpPr>
          <p:cNvPr id="54" name="Shape 51"/>
          <p:cNvSpPr/>
          <p:nvPr/>
        </p:nvSpPr>
        <p:spPr>
          <a:xfrm>
            <a:off x="6035040" y="2523744"/>
            <a:ext cx="914400" cy="420624"/>
          </a:xfrm>
          <a:prstGeom prst="rect">
            <a:avLst/>
          </a:prstGeom>
          <a:solidFill>
            <a:srgbClr val="F4F7FB"/>
          </a:solidFill>
          <a:ln w="12700">
            <a:solidFill>
              <a:srgbClr val="D1D5DB"/>
            </a:solidFill>
            <a:prstDash val="solid"/>
          </a:ln>
        </p:spPr>
      </p:sp>
      <p:sp>
        <p:nvSpPr>
          <p:cNvPr id="55" name="Shape 52"/>
          <p:cNvSpPr/>
          <p:nvPr/>
        </p:nvSpPr>
        <p:spPr>
          <a:xfrm>
            <a:off x="6949440" y="2523744"/>
            <a:ext cx="914400" cy="420624"/>
          </a:xfrm>
          <a:prstGeom prst="rect">
            <a:avLst/>
          </a:prstGeom>
          <a:solidFill>
            <a:srgbClr val="F4F7FB"/>
          </a:solidFill>
          <a:ln w="12700">
            <a:solidFill>
              <a:srgbClr val="D1D5DB"/>
            </a:solidFill>
            <a:prstDash val="solid"/>
          </a:ln>
        </p:spPr>
      </p:sp>
      <p:sp>
        <p:nvSpPr>
          <p:cNvPr id="56" name="Shape 53"/>
          <p:cNvSpPr/>
          <p:nvPr/>
        </p:nvSpPr>
        <p:spPr>
          <a:xfrm>
            <a:off x="7863840" y="2523744"/>
            <a:ext cx="914400" cy="420624"/>
          </a:xfrm>
          <a:prstGeom prst="rect">
            <a:avLst/>
          </a:prstGeom>
          <a:solidFill>
            <a:srgbClr val="F4F7FB"/>
          </a:solidFill>
          <a:ln w="12700">
            <a:solidFill>
              <a:srgbClr val="D1D5DB"/>
            </a:solidFill>
            <a:prstDash val="solid"/>
          </a:ln>
        </p:spPr>
      </p:sp>
      <p:sp>
        <p:nvSpPr>
          <p:cNvPr id="57" name="Shape 54"/>
          <p:cNvSpPr/>
          <p:nvPr/>
        </p:nvSpPr>
        <p:spPr>
          <a:xfrm>
            <a:off x="5175504" y="2615184"/>
            <a:ext cx="804672" cy="231343"/>
          </a:xfrm>
          <a:prstGeom prst="rect">
            <a:avLst/>
          </a:prstGeom>
          <a:solidFill>
            <a:srgbClr val="0D1F3C"/>
          </a:solidFill>
          <a:ln w="12700">
            <a:solidFill>
              <a:srgbClr val="0D1F3C"/>
            </a:solidFill>
            <a:prstDash val="solid"/>
          </a:ln>
        </p:spPr>
      </p:sp>
      <p:sp>
        <p:nvSpPr>
          <p:cNvPr id="58" name="Shape 55"/>
          <p:cNvSpPr/>
          <p:nvPr/>
        </p:nvSpPr>
        <p:spPr>
          <a:xfrm>
            <a:off x="457200" y="2944368"/>
            <a:ext cx="2834640" cy="420624"/>
          </a:xfrm>
          <a:prstGeom prst="rect">
            <a:avLst/>
          </a:prstGeom>
          <a:solidFill>
            <a:srgbClr val="FFFFFF"/>
          </a:solidFill>
          <a:ln w="12700">
            <a:solidFill>
              <a:srgbClr val="D1D5DB"/>
            </a:solidFill>
            <a:prstDash val="solid"/>
          </a:ln>
        </p:spPr>
      </p:sp>
      <p:sp>
        <p:nvSpPr>
          <p:cNvPr id="59" name="Text 56"/>
          <p:cNvSpPr/>
          <p:nvPr/>
        </p:nvSpPr>
        <p:spPr>
          <a:xfrm>
            <a:off x="566928" y="3063240"/>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Daily Supervisor Check-Ins</a:t>
            </a:r>
            <a:endParaRPr lang="en-US" sz="1000" dirty="0"/>
          </a:p>
        </p:txBody>
      </p:sp>
      <p:sp>
        <p:nvSpPr>
          <p:cNvPr id="60" name="Shape 57"/>
          <p:cNvSpPr/>
          <p:nvPr/>
        </p:nvSpPr>
        <p:spPr>
          <a:xfrm>
            <a:off x="3291840" y="2944368"/>
            <a:ext cx="914400" cy="420624"/>
          </a:xfrm>
          <a:prstGeom prst="rect">
            <a:avLst/>
          </a:prstGeom>
          <a:solidFill>
            <a:srgbClr val="FFFFFF"/>
          </a:solidFill>
          <a:ln w="12700">
            <a:solidFill>
              <a:srgbClr val="D1D5DB"/>
            </a:solidFill>
            <a:prstDash val="solid"/>
          </a:ln>
        </p:spPr>
      </p:sp>
      <p:sp>
        <p:nvSpPr>
          <p:cNvPr id="61" name="Shape 58"/>
          <p:cNvSpPr/>
          <p:nvPr/>
        </p:nvSpPr>
        <p:spPr>
          <a:xfrm>
            <a:off x="4206240" y="2944368"/>
            <a:ext cx="914400" cy="420624"/>
          </a:xfrm>
          <a:prstGeom prst="rect">
            <a:avLst/>
          </a:prstGeom>
          <a:solidFill>
            <a:srgbClr val="FFFFFF"/>
          </a:solidFill>
          <a:ln w="12700">
            <a:solidFill>
              <a:srgbClr val="D1D5DB"/>
            </a:solidFill>
            <a:prstDash val="solid"/>
          </a:ln>
        </p:spPr>
      </p:sp>
      <p:sp>
        <p:nvSpPr>
          <p:cNvPr id="62" name="Shape 59"/>
          <p:cNvSpPr/>
          <p:nvPr/>
        </p:nvSpPr>
        <p:spPr>
          <a:xfrm>
            <a:off x="5120640" y="2944368"/>
            <a:ext cx="914400" cy="420624"/>
          </a:xfrm>
          <a:prstGeom prst="rect">
            <a:avLst/>
          </a:prstGeom>
          <a:solidFill>
            <a:srgbClr val="FFFFFF"/>
          </a:solidFill>
          <a:ln w="12700">
            <a:solidFill>
              <a:srgbClr val="D1D5DB"/>
            </a:solidFill>
            <a:prstDash val="solid"/>
          </a:ln>
        </p:spPr>
      </p:sp>
      <p:sp>
        <p:nvSpPr>
          <p:cNvPr id="63" name="Shape 60"/>
          <p:cNvSpPr/>
          <p:nvPr/>
        </p:nvSpPr>
        <p:spPr>
          <a:xfrm>
            <a:off x="6035040" y="2944368"/>
            <a:ext cx="914400" cy="420624"/>
          </a:xfrm>
          <a:prstGeom prst="rect">
            <a:avLst/>
          </a:prstGeom>
          <a:solidFill>
            <a:srgbClr val="FFFFFF"/>
          </a:solidFill>
          <a:ln w="12700">
            <a:solidFill>
              <a:srgbClr val="D1D5DB"/>
            </a:solidFill>
            <a:prstDash val="solid"/>
          </a:ln>
        </p:spPr>
      </p:sp>
      <p:sp>
        <p:nvSpPr>
          <p:cNvPr id="64" name="Shape 61"/>
          <p:cNvSpPr/>
          <p:nvPr/>
        </p:nvSpPr>
        <p:spPr>
          <a:xfrm>
            <a:off x="6949440" y="2944368"/>
            <a:ext cx="914400" cy="420624"/>
          </a:xfrm>
          <a:prstGeom prst="rect">
            <a:avLst/>
          </a:prstGeom>
          <a:solidFill>
            <a:srgbClr val="FFFFFF"/>
          </a:solidFill>
          <a:ln w="12700">
            <a:solidFill>
              <a:srgbClr val="D1D5DB"/>
            </a:solidFill>
            <a:prstDash val="solid"/>
          </a:ln>
        </p:spPr>
      </p:sp>
      <p:sp>
        <p:nvSpPr>
          <p:cNvPr id="65" name="Shape 62"/>
          <p:cNvSpPr/>
          <p:nvPr/>
        </p:nvSpPr>
        <p:spPr>
          <a:xfrm>
            <a:off x="7863840" y="2944368"/>
            <a:ext cx="914400" cy="420624"/>
          </a:xfrm>
          <a:prstGeom prst="rect">
            <a:avLst/>
          </a:prstGeom>
          <a:solidFill>
            <a:srgbClr val="FFFFFF"/>
          </a:solidFill>
          <a:ln w="12700">
            <a:solidFill>
              <a:srgbClr val="D1D5DB"/>
            </a:solidFill>
            <a:prstDash val="solid"/>
          </a:ln>
        </p:spPr>
      </p:sp>
      <p:sp>
        <p:nvSpPr>
          <p:cNvPr id="66" name="Shape 63"/>
          <p:cNvSpPr/>
          <p:nvPr/>
        </p:nvSpPr>
        <p:spPr>
          <a:xfrm>
            <a:off x="5175504" y="3035808"/>
            <a:ext cx="1719072" cy="231343"/>
          </a:xfrm>
          <a:prstGeom prst="rect">
            <a:avLst/>
          </a:prstGeom>
          <a:solidFill>
            <a:srgbClr val="0D1F3C"/>
          </a:solidFill>
          <a:ln w="12700">
            <a:solidFill>
              <a:srgbClr val="0D1F3C"/>
            </a:solidFill>
            <a:prstDash val="solid"/>
          </a:ln>
        </p:spPr>
      </p:sp>
      <p:sp>
        <p:nvSpPr>
          <p:cNvPr id="67" name="Shape 64"/>
          <p:cNvSpPr/>
          <p:nvPr/>
        </p:nvSpPr>
        <p:spPr>
          <a:xfrm>
            <a:off x="457200" y="3364992"/>
            <a:ext cx="2834640" cy="420624"/>
          </a:xfrm>
          <a:prstGeom prst="rect">
            <a:avLst/>
          </a:prstGeom>
          <a:solidFill>
            <a:srgbClr val="F4F7FB"/>
          </a:solidFill>
          <a:ln w="12700">
            <a:solidFill>
              <a:srgbClr val="D1D5DB"/>
            </a:solidFill>
            <a:prstDash val="solid"/>
          </a:ln>
        </p:spPr>
      </p:sp>
      <p:sp>
        <p:nvSpPr>
          <p:cNvPr id="68" name="Text 65"/>
          <p:cNvSpPr/>
          <p:nvPr/>
        </p:nvSpPr>
        <p:spPr>
          <a:xfrm>
            <a:off x="566928" y="3483864"/>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OrangeQC Baseline Report</a:t>
            </a:r>
            <a:endParaRPr lang="en-US" sz="1000" dirty="0"/>
          </a:p>
        </p:txBody>
      </p:sp>
      <p:sp>
        <p:nvSpPr>
          <p:cNvPr id="69" name="Shape 66"/>
          <p:cNvSpPr/>
          <p:nvPr/>
        </p:nvSpPr>
        <p:spPr>
          <a:xfrm>
            <a:off x="3291840" y="3364992"/>
            <a:ext cx="914400" cy="420624"/>
          </a:xfrm>
          <a:prstGeom prst="rect">
            <a:avLst/>
          </a:prstGeom>
          <a:solidFill>
            <a:srgbClr val="F4F7FB"/>
          </a:solidFill>
          <a:ln w="12700">
            <a:solidFill>
              <a:srgbClr val="D1D5DB"/>
            </a:solidFill>
            <a:prstDash val="solid"/>
          </a:ln>
        </p:spPr>
      </p:sp>
      <p:sp>
        <p:nvSpPr>
          <p:cNvPr id="70" name="Shape 67"/>
          <p:cNvSpPr/>
          <p:nvPr/>
        </p:nvSpPr>
        <p:spPr>
          <a:xfrm>
            <a:off x="4206240" y="3364992"/>
            <a:ext cx="914400" cy="420624"/>
          </a:xfrm>
          <a:prstGeom prst="rect">
            <a:avLst/>
          </a:prstGeom>
          <a:solidFill>
            <a:srgbClr val="F4F7FB"/>
          </a:solidFill>
          <a:ln w="12700">
            <a:solidFill>
              <a:srgbClr val="D1D5DB"/>
            </a:solidFill>
            <a:prstDash val="solid"/>
          </a:ln>
        </p:spPr>
      </p:sp>
      <p:sp>
        <p:nvSpPr>
          <p:cNvPr id="71" name="Shape 68"/>
          <p:cNvSpPr/>
          <p:nvPr/>
        </p:nvSpPr>
        <p:spPr>
          <a:xfrm>
            <a:off x="5120640" y="3364992"/>
            <a:ext cx="914400" cy="420624"/>
          </a:xfrm>
          <a:prstGeom prst="rect">
            <a:avLst/>
          </a:prstGeom>
          <a:solidFill>
            <a:srgbClr val="F4F7FB"/>
          </a:solidFill>
          <a:ln w="12700">
            <a:solidFill>
              <a:srgbClr val="D1D5DB"/>
            </a:solidFill>
            <a:prstDash val="solid"/>
          </a:ln>
        </p:spPr>
      </p:sp>
      <p:sp>
        <p:nvSpPr>
          <p:cNvPr id="72" name="Shape 69"/>
          <p:cNvSpPr/>
          <p:nvPr/>
        </p:nvSpPr>
        <p:spPr>
          <a:xfrm>
            <a:off x="6035040" y="3364992"/>
            <a:ext cx="914400" cy="420624"/>
          </a:xfrm>
          <a:prstGeom prst="rect">
            <a:avLst/>
          </a:prstGeom>
          <a:solidFill>
            <a:srgbClr val="F4F7FB"/>
          </a:solidFill>
          <a:ln w="12700">
            <a:solidFill>
              <a:srgbClr val="D1D5DB"/>
            </a:solidFill>
            <a:prstDash val="solid"/>
          </a:ln>
        </p:spPr>
      </p:sp>
      <p:sp>
        <p:nvSpPr>
          <p:cNvPr id="73" name="Shape 70"/>
          <p:cNvSpPr/>
          <p:nvPr/>
        </p:nvSpPr>
        <p:spPr>
          <a:xfrm>
            <a:off x="6949440" y="3364992"/>
            <a:ext cx="914400" cy="420624"/>
          </a:xfrm>
          <a:prstGeom prst="rect">
            <a:avLst/>
          </a:prstGeom>
          <a:solidFill>
            <a:srgbClr val="F4F7FB"/>
          </a:solidFill>
          <a:ln w="12700">
            <a:solidFill>
              <a:srgbClr val="D1D5DB"/>
            </a:solidFill>
            <a:prstDash val="solid"/>
          </a:ln>
        </p:spPr>
      </p:sp>
      <p:sp>
        <p:nvSpPr>
          <p:cNvPr id="74" name="Shape 71"/>
          <p:cNvSpPr/>
          <p:nvPr/>
        </p:nvSpPr>
        <p:spPr>
          <a:xfrm>
            <a:off x="7863840" y="3364992"/>
            <a:ext cx="914400" cy="420624"/>
          </a:xfrm>
          <a:prstGeom prst="rect">
            <a:avLst/>
          </a:prstGeom>
          <a:solidFill>
            <a:srgbClr val="F4F7FB"/>
          </a:solidFill>
          <a:ln w="12700">
            <a:solidFill>
              <a:srgbClr val="D1D5DB"/>
            </a:solidFill>
            <a:prstDash val="solid"/>
          </a:ln>
        </p:spPr>
      </p:sp>
      <p:sp>
        <p:nvSpPr>
          <p:cNvPr id="75" name="Shape 72"/>
          <p:cNvSpPr/>
          <p:nvPr/>
        </p:nvSpPr>
        <p:spPr>
          <a:xfrm>
            <a:off x="5175504" y="3456432"/>
            <a:ext cx="1719072" cy="231343"/>
          </a:xfrm>
          <a:prstGeom prst="rect">
            <a:avLst/>
          </a:prstGeom>
          <a:solidFill>
            <a:srgbClr val="0D1F3C"/>
          </a:solidFill>
          <a:ln w="12700">
            <a:solidFill>
              <a:srgbClr val="0D1F3C"/>
            </a:solidFill>
            <a:prstDash val="solid"/>
          </a:ln>
        </p:spPr>
      </p:sp>
      <p:sp>
        <p:nvSpPr>
          <p:cNvPr id="76" name="Shape 73"/>
          <p:cNvSpPr/>
          <p:nvPr/>
        </p:nvSpPr>
        <p:spPr>
          <a:xfrm>
            <a:off x="457200" y="3785616"/>
            <a:ext cx="2834640" cy="420624"/>
          </a:xfrm>
          <a:prstGeom prst="rect">
            <a:avLst/>
          </a:prstGeom>
          <a:solidFill>
            <a:srgbClr val="FFFFFF"/>
          </a:solidFill>
          <a:ln w="12700">
            <a:solidFill>
              <a:srgbClr val="D1D5DB"/>
            </a:solidFill>
            <a:prstDash val="solid"/>
          </a:ln>
        </p:spPr>
      </p:sp>
      <p:sp>
        <p:nvSpPr>
          <p:cNvPr id="77" name="Text 74"/>
          <p:cNvSpPr/>
          <p:nvPr/>
        </p:nvSpPr>
        <p:spPr>
          <a:xfrm>
            <a:off x="566928" y="3904488"/>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30-Day Review Call</a:t>
            </a:r>
            <a:endParaRPr lang="en-US" sz="1000" dirty="0"/>
          </a:p>
        </p:txBody>
      </p:sp>
      <p:sp>
        <p:nvSpPr>
          <p:cNvPr id="78" name="Shape 75"/>
          <p:cNvSpPr/>
          <p:nvPr/>
        </p:nvSpPr>
        <p:spPr>
          <a:xfrm>
            <a:off x="3291840" y="3785616"/>
            <a:ext cx="914400" cy="420624"/>
          </a:xfrm>
          <a:prstGeom prst="rect">
            <a:avLst/>
          </a:prstGeom>
          <a:solidFill>
            <a:srgbClr val="FFFFFF"/>
          </a:solidFill>
          <a:ln w="12700">
            <a:solidFill>
              <a:srgbClr val="D1D5DB"/>
            </a:solidFill>
            <a:prstDash val="solid"/>
          </a:ln>
        </p:spPr>
      </p:sp>
      <p:sp>
        <p:nvSpPr>
          <p:cNvPr id="79" name="Shape 76"/>
          <p:cNvSpPr/>
          <p:nvPr/>
        </p:nvSpPr>
        <p:spPr>
          <a:xfrm>
            <a:off x="4206240" y="3785616"/>
            <a:ext cx="914400" cy="420624"/>
          </a:xfrm>
          <a:prstGeom prst="rect">
            <a:avLst/>
          </a:prstGeom>
          <a:solidFill>
            <a:srgbClr val="FFFFFF"/>
          </a:solidFill>
          <a:ln w="12700">
            <a:solidFill>
              <a:srgbClr val="D1D5DB"/>
            </a:solidFill>
            <a:prstDash val="solid"/>
          </a:ln>
        </p:spPr>
      </p:sp>
      <p:sp>
        <p:nvSpPr>
          <p:cNvPr id="80" name="Shape 77"/>
          <p:cNvSpPr/>
          <p:nvPr/>
        </p:nvSpPr>
        <p:spPr>
          <a:xfrm>
            <a:off x="5120640" y="3785616"/>
            <a:ext cx="914400" cy="420624"/>
          </a:xfrm>
          <a:prstGeom prst="rect">
            <a:avLst/>
          </a:prstGeom>
          <a:solidFill>
            <a:srgbClr val="FFFFFF"/>
          </a:solidFill>
          <a:ln w="12700">
            <a:solidFill>
              <a:srgbClr val="D1D5DB"/>
            </a:solidFill>
            <a:prstDash val="solid"/>
          </a:ln>
        </p:spPr>
      </p:sp>
      <p:sp>
        <p:nvSpPr>
          <p:cNvPr id="81" name="Shape 78"/>
          <p:cNvSpPr/>
          <p:nvPr/>
        </p:nvSpPr>
        <p:spPr>
          <a:xfrm>
            <a:off x="6035040" y="3785616"/>
            <a:ext cx="914400" cy="420624"/>
          </a:xfrm>
          <a:prstGeom prst="rect">
            <a:avLst/>
          </a:prstGeom>
          <a:solidFill>
            <a:srgbClr val="FFFFFF"/>
          </a:solidFill>
          <a:ln w="12700">
            <a:solidFill>
              <a:srgbClr val="D1D5DB"/>
            </a:solidFill>
            <a:prstDash val="solid"/>
          </a:ln>
        </p:spPr>
      </p:sp>
      <p:sp>
        <p:nvSpPr>
          <p:cNvPr id="82" name="Shape 79"/>
          <p:cNvSpPr/>
          <p:nvPr/>
        </p:nvSpPr>
        <p:spPr>
          <a:xfrm>
            <a:off x="6949440" y="3785616"/>
            <a:ext cx="914400" cy="420624"/>
          </a:xfrm>
          <a:prstGeom prst="rect">
            <a:avLst/>
          </a:prstGeom>
          <a:solidFill>
            <a:srgbClr val="FFFFFF"/>
          </a:solidFill>
          <a:ln w="12700">
            <a:solidFill>
              <a:srgbClr val="D1D5DB"/>
            </a:solidFill>
            <a:prstDash val="solid"/>
          </a:ln>
        </p:spPr>
      </p:sp>
      <p:sp>
        <p:nvSpPr>
          <p:cNvPr id="83" name="Shape 80"/>
          <p:cNvSpPr/>
          <p:nvPr/>
        </p:nvSpPr>
        <p:spPr>
          <a:xfrm>
            <a:off x="7863840" y="3785616"/>
            <a:ext cx="914400" cy="420624"/>
          </a:xfrm>
          <a:prstGeom prst="rect">
            <a:avLst/>
          </a:prstGeom>
          <a:solidFill>
            <a:srgbClr val="FFFFFF"/>
          </a:solidFill>
          <a:ln w="12700">
            <a:solidFill>
              <a:srgbClr val="D1D5DB"/>
            </a:solidFill>
            <a:prstDash val="solid"/>
          </a:ln>
        </p:spPr>
      </p:sp>
      <p:sp>
        <p:nvSpPr>
          <p:cNvPr id="84" name="Shape 81"/>
          <p:cNvSpPr/>
          <p:nvPr/>
        </p:nvSpPr>
        <p:spPr>
          <a:xfrm>
            <a:off x="7004304" y="3877056"/>
            <a:ext cx="804672" cy="231343"/>
          </a:xfrm>
          <a:prstGeom prst="rect">
            <a:avLst/>
          </a:prstGeom>
          <a:solidFill>
            <a:srgbClr val="2E6B3E"/>
          </a:solidFill>
          <a:ln w="12700">
            <a:solidFill>
              <a:srgbClr val="2E6B3E"/>
            </a:solidFill>
            <a:prstDash val="solid"/>
          </a:ln>
        </p:spPr>
      </p:sp>
      <p:sp>
        <p:nvSpPr>
          <p:cNvPr id="85" name="Shape 82"/>
          <p:cNvSpPr/>
          <p:nvPr/>
        </p:nvSpPr>
        <p:spPr>
          <a:xfrm>
            <a:off x="457200" y="4206240"/>
            <a:ext cx="2834640" cy="420624"/>
          </a:xfrm>
          <a:prstGeom prst="rect">
            <a:avLst/>
          </a:prstGeom>
          <a:solidFill>
            <a:srgbClr val="F4F7FB"/>
          </a:solidFill>
          <a:ln w="12700">
            <a:solidFill>
              <a:srgbClr val="D1D5DB"/>
            </a:solidFill>
            <a:prstDash val="solid"/>
          </a:ln>
        </p:spPr>
      </p:sp>
      <p:sp>
        <p:nvSpPr>
          <p:cNvPr id="86" name="Text 83"/>
          <p:cNvSpPr/>
          <p:nvPr/>
        </p:nvSpPr>
        <p:spPr>
          <a:xfrm>
            <a:off x="566928" y="4325112"/>
            <a:ext cx="2688336" cy="201168"/>
          </a:xfrm>
          <a:prstGeom prst="rect">
            <a:avLst/>
          </a:prstGeom>
          <a:noFill/>
          <a:ln/>
        </p:spPr>
        <p:txBody>
          <a:bodyPr wrap="square" rtlCol="0" anchor="ctr"/>
          <a:lstStyle/>
          <a:p>
            <a:pPr indent="0" marL="0">
              <a:buNone/>
            </a:pPr>
            <a:r>
              <a:rPr lang="en-US" sz="1000" dirty="0">
                <a:solidFill>
                  <a:srgbClr val="374151"/>
                </a:solidFill>
                <a:latin typeface="Calibri" pitchFamily="34" charset="0"/>
                <a:ea typeface="Calibri" pitchFamily="34" charset="-122"/>
                <a:cs typeface="Calibri" pitchFamily="34" charset="-120"/>
              </a:rPr>
              <a:t>90-Day QBR &amp; Scope Review</a:t>
            </a:r>
            <a:endParaRPr lang="en-US" sz="1000" dirty="0"/>
          </a:p>
        </p:txBody>
      </p:sp>
      <p:sp>
        <p:nvSpPr>
          <p:cNvPr id="87" name="Shape 84"/>
          <p:cNvSpPr/>
          <p:nvPr/>
        </p:nvSpPr>
        <p:spPr>
          <a:xfrm>
            <a:off x="3291840" y="4206240"/>
            <a:ext cx="914400" cy="420624"/>
          </a:xfrm>
          <a:prstGeom prst="rect">
            <a:avLst/>
          </a:prstGeom>
          <a:solidFill>
            <a:srgbClr val="F4F7FB"/>
          </a:solidFill>
          <a:ln w="12700">
            <a:solidFill>
              <a:srgbClr val="D1D5DB"/>
            </a:solidFill>
            <a:prstDash val="solid"/>
          </a:ln>
        </p:spPr>
      </p:sp>
      <p:sp>
        <p:nvSpPr>
          <p:cNvPr id="88" name="Shape 85"/>
          <p:cNvSpPr/>
          <p:nvPr/>
        </p:nvSpPr>
        <p:spPr>
          <a:xfrm>
            <a:off x="4206240" y="4206240"/>
            <a:ext cx="914400" cy="420624"/>
          </a:xfrm>
          <a:prstGeom prst="rect">
            <a:avLst/>
          </a:prstGeom>
          <a:solidFill>
            <a:srgbClr val="F4F7FB"/>
          </a:solidFill>
          <a:ln w="12700">
            <a:solidFill>
              <a:srgbClr val="D1D5DB"/>
            </a:solidFill>
            <a:prstDash val="solid"/>
          </a:ln>
        </p:spPr>
      </p:sp>
      <p:sp>
        <p:nvSpPr>
          <p:cNvPr id="89" name="Shape 86"/>
          <p:cNvSpPr/>
          <p:nvPr/>
        </p:nvSpPr>
        <p:spPr>
          <a:xfrm>
            <a:off x="5120640" y="4206240"/>
            <a:ext cx="914400" cy="420624"/>
          </a:xfrm>
          <a:prstGeom prst="rect">
            <a:avLst/>
          </a:prstGeom>
          <a:solidFill>
            <a:srgbClr val="F4F7FB"/>
          </a:solidFill>
          <a:ln w="12700">
            <a:solidFill>
              <a:srgbClr val="D1D5DB"/>
            </a:solidFill>
            <a:prstDash val="solid"/>
          </a:ln>
        </p:spPr>
      </p:sp>
      <p:sp>
        <p:nvSpPr>
          <p:cNvPr id="90" name="Shape 87"/>
          <p:cNvSpPr/>
          <p:nvPr/>
        </p:nvSpPr>
        <p:spPr>
          <a:xfrm>
            <a:off x="6035040" y="4206240"/>
            <a:ext cx="914400" cy="420624"/>
          </a:xfrm>
          <a:prstGeom prst="rect">
            <a:avLst/>
          </a:prstGeom>
          <a:solidFill>
            <a:srgbClr val="F4F7FB"/>
          </a:solidFill>
          <a:ln w="12700">
            <a:solidFill>
              <a:srgbClr val="D1D5DB"/>
            </a:solidFill>
            <a:prstDash val="solid"/>
          </a:ln>
        </p:spPr>
      </p:sp>
      <p:sp>
        <p:nvSpPr>
          <p:cNvPr id="91" name="Shape 88"/>
          <p:cNvSpPr/>
          <p:nvPr/>
        </p:nvSpPr>
        <p:spPr>
          <a:xfrm>
            <a:off x="6949440" y="4206240"/>
            <a:ext cx="914400" cy="420624"/>
          </a:xfrm>
          <a:prstGeom prst="rect">
            <a:avLst/>
          </a:prstGeom>
          <a:solidFill>
            <a:srgbClr val="F4F7FB"/>
          </a:solidFill>
          <a:ln w="12700">
            <a:solidFill>
              <a:srgbClr val="D1D5DB"/>
            </a:solidFill>
            <a:prstDash val="solid"/>
          </a:ln>
        </p:spPr>
      </p:sp>
      <p:sp>
        <p:nvSpPr>
          <p:cNvPr id="92" name="Shape 89"/>
          <p:cNvSpPr/>
          <p:nvPr/>
        </p:nvSpPr>
        <p:spPr>
          <a:xfrm>
            <a:off x="7863840" y="4206240"/>
            <a:ext cx="914400" cy="420624"/>
          </a:xfrm>
          <a:prstGeom prst="rect">
            <a:avLst/>
          </a:prstGeom>
          <a:solidFill>
            <a:srgbClr val="F4F7FB"/>
          </a:solidFill>
          <a:ln w="12700">
            <a:solidFill>
              <a:srgbClr val="D1D5DB"/>
            </a:solidFill>
            <a:prstDash val="solid"/>
          </a:ln>
        </p:spPr>
      </p:sp>
      <p:sp>
        <p:nvSpPr>
          <p:cNvPr id="93" name="Shape 90"/>
          <p:cNvSpPr/>
          <p:nvPr/>
        </p:nvSpPr>
        <p:spPr>
          <a:xfrm>
            <a:off x="7918704" y="4297680"/>
            <a:ext cx="804672" cy="231343"/>
          </a:xfrm>
          <a:prstGeom prst="rect">
            <a:avLst/>
          </a:prstGeom>
          <a:solidFill>
            <a:srgbClr val="2E6B3E"/>
          </a:solidFill>
          <a:ln w="12700">
            <a:solidFill>
              <a:srgbClr val="2E6B3E"/>
            </a:solidFill>
            <a:prstDash val="solid"/>
          </a:ln>
        </p:spPr>
      </p:sp>
      <p:sp>
        <p:nvSpPr>
          <p:cNvPr id="94" name="Shape 91"/>
          <p:cNvSpPr/>
          <p:nvPr/>
        </p:nvSpPr>
        <p:spPr>
          <a:xfrm>
            <a:off x="457200" y="4718304"/>
            <a:ext cx="219456" cy="146304"/>
          </a:xfrm>
          <a:prstGeom prst="rect">
            <a:avLst/>
          </a:prstGeom>
          <a:solidFill>
            <a:srgbClr val="C9A84C"/>
          </a:solidFill>
          <a:ln w="12700">
            <a:solidFill>
              <a:srgbClr val="C9A84C"/>
            </a:solidFill>
            <a:prstDash val="solid"/>
          </a:ln>
        </p:spPr>
      </p:sp>
      <p:sp>
        <p:nvSpPr>
          <p:cNvPr id="95" name="Text 92"/>
          <p:cNvSpPr/>
          <p:nvPr/>
        </p:nvSpPr>
        <p:spPr>
          <a:xfrm>
            <a:off x="749808" y="4709160"/>
            <a:ext cx="2286000" cy="164592"/>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Pre-Start</a:t>
            </a:r>
            <a:endParaRPr lang="en-US" sz="900" dirty="0"/>
          </a:p>
        </p:txBody>
      </p:sp>
      <p:sp>
        <p:nvSpPr>
          <p:cNvPr id="96" name="Shape 93"/>
          <p:cNvSpPr/>
          <p:nvPr/>
        </p:nvSpPr>
        <p:spPr>
          <a:xfrm>
            <a:off x="3200400" y="4718304"/>
            <a:ext cx="219456" cy="146304"/>
          </a:xfrm>
          <a:prstGeom prst="rect">
            <a:avLst/>
          </a:prstGeom>
          <a:solidFill>
            <a:srgbClr val="0D1F3C"/>
          </a:solidFill>
          <a:ln w="12700">
            <a:solidFill>
              <a:srgbClr val="0D1F3C"/>
            </a:solidFill>
            <a:prstDash val="solid"/>
          </a:ln>
        </p:spPr>
      </p:sp>
      <p:sp>
        <p:nvSpPr>
          <p:cNvPr id="97" name="Text 94"/>
          <p:cNvSpPr/>
          <p:nvPr/>
        </p:nvSpPr>
        <p:spPr>
          <a:xfrm>
            <a:off x="3493008" y="4709160"/>
            <a:ext cx="2286000" cy="164592"/>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Active Service</a:t>
            </a:r>
            <a:endParaRPr lang="en-US" sz="900" dirty="0"/>
          </a:p>
        </p:txBody>
      </p:sp>
      <p:sp>
        <p:nvSpPr>
          <p:cNvPr id="98" name="Shape 95"/>
          <p:cNvSpPr/>
          <p:nvPr/>
        </p:nvSpPr>
        <p:spPr>
          <a:xfrm>
            <a:off x="5943600" y="4718304"/>
            <a:ext cx="219456" cy="146304"/>
          </a:xfrm>
          <a:prstGeom prst="rect">
            <a:avLst/>
          </a:prstGeom>
          <a:solidFill>
            <a:srgbClr val="2E6B3E"/>
          </a:solidFill>
          <a:ln w="12700">
            <a:solidFill>
              <a:srgbClr val="2E6B3E"/>
            </a:solidFill>
            <a:prstDash val="solid"/>
          </a:ln>
        </p:spPr>
      </p:sp>
      <p:sp>
        <p:nvSpPr>
          <p:cNvPr id="99" name="Text 96"/>
          <p:cNvSpPr/>
          <p:nvPr/>
        </p:nvSpPr>
        <p:spPr>
          <a:xfrm>
            <a:off x="6236208" y="4709160"/>
            <a:ext cx="2286000" cy="164592"/>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Milestone Review</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CLIENT TESTIMONIALS</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8</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56032"/>
            <a:ext cx="8321040" cy="457200"/>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What Our Clients Say.</a:t>
            </a:r>
            <a:endParaRPr lang="en-US" sz="2400" dirty="0"/>
          </a:p>
        </p:txBody>
      </p:sp>
      <p:sp>
        <p:nvSpPr>
          <p:cNvPr id="7" name="Text 4"/>
          <p:cNvSpPr/>
          <p:nvPr/>
        </p:nvSpPr>
        <p:spPr>
          <a:xfrm>
            <a:off x="457200" y="713232"/>
            <a:ext cx="8321040" cy="237744"/>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Facilities that can't afford to get it wrong — and don't.</a:t>
            </a:r>
            <a:endParaRPr lang="en-US" sz="1200" dirty="0"/>
          </a:p>
        </p:txBody>
      </p:sp>
      <p:sp>
        <p:nvSpPr>
          <p:cNvPr id="8" name="Shape 5"/>
          <p:cNvSpPr/>
          <p:nvPr/>
        </p:nvSpPr>
        <p:spPr>
          <a:xfrm>
            <a:off x="457200" y="987552"/>
            <a:ext cx="8321040" cy="16459"/>
          </a:xfrm>
          <a:prstGeom prst="rect">
            <a:avLst/>
          </a:prstGeom>
          <a:solidFill>
            <a:srgbClr val="D1D5DB"/>
          </a:solidFill>
          <a:ln w="12700">
            <a:solidFill>
              <a:srgbClr val="D1D5DB"/>
            </a:solidFill>
            <a:prstDash val="solid"/>
          </a:ln>
        </p:spPr>
      </p:sp>
      <p:sp>
        <p:nvSpPr>
          <p:cNvPr id="9" name="Shape 6"/>
          <p:cNvSpPr/>
          <p:nvPr/>
        </p:nvSpPr>
        <p:spPr>
          <a:xfrm>
            <a:off x="7059168" y="1005840"/>
            <a:ext cx="16459" cy="3621024"/>
          </a:xfrm>
          <a:prstGeom prst="rect">
            <a:avLst/>
          </a:prstGeom>
          <a:solidFill>
            <a:srgbClr val="D1D5DB"/>
          </a:solidFill>
          <a:ln w="12700">
            <a:solidFill>
              <a:srgbClr val="D1D5DB"/>
            </a:solidFill>
            <a:prstDash val="solid"/>
          </a:ln>
        </p:spPr>
      </p:sp>
      <p:sp>
        <p:nvSpPr>
          <p:cNvPr id="10" name="Text 7"/>
          <p:cNvSpPr/>
          <p:nvPr/>
        </p:nvSpPr>
        <p:spPr>
          <a:xfrm>
            <a:off x="457200" y="1042416"/>
            <a:ext cx="6473952" cy="1042416"/>
          </a:xfrm>
          <a:prstGeom prst="rect">
            <a:avLst/>
          </a:prstGeom>
          <a:noFill/>
          <a:ln/>
        </p:spPr>
        <p:txBody>
          <a:bodyPr wrap="square" rtlCol="0" anchor="ctr"/>
          <a:lstStyle/>
          <a:p>
            <a:pPr indent="0" marL="0">
              <a:buNone/>
            </a:pPr>
            <a:r>
              <a:rPr lang="en-US" sz="1300" i="1" dirty="0">
                <a:solidFill>
                  <a:srgbClr val="0D1F3C"/>
                </a:solidFill>
                <a:latin typeface="Georgia" pitchFamily="34" charset="0"/>
                <a:ea typeface="Georgia" pitchFamily="34" charset="-122"/>
                <a:cs typeface="Georgia" pitchFamily="34" charset="-120"/>
              </a:rPr>
              <a:t>"What impressed us most was their understanding of our compliance requirements. They didn't just clean — they followed our protocols, documented everything, and worked around our production schedule without missing a beat."</a:t>
            </a:r>
            <a:endParaRPr lang="en-US" sz="1300" dirty="0"/>
          </a:p>
        </p:txBody>
      </p:sp>
      <p:sp>
        <p:nvSpPr>
          <p:cNvPr id="11" name="Text 8"/>
          <p:cNvSpPr/>
          <p:nvPr/>
        </p:nvSpPr>
        <p:spPr>
          <a:xfrm>
            <a:off x="457200" y="2103120"/>
            <a:ext cx="6473952" cy="219456"/>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Manufacturing Plant Operations Manager</a:t>
            </a:r>
            <a:endParaRPr lang="en-US" sz="950" dirty="0"/>
          </a:p>
        </p:txBody>
      </p:sp>
      <p:sp>
        <p:nvSpPr>
          <p:cNvPr id="12" name="Shape 9"/>
          <p:cNvSpPr/>
          <p:nvPr/>
        </p:nvSpPr>
        <p:spPr>
          <a:xfrm>
            <a:off x="457200" y="2377440"/>
            <a:ext cx="6473952" cy="16459"/>
          </a:xfrm>
          <a:prstGeom prst="rect">
            <a:avLst/>
          </a:prstGeom>
          <a:solidFill>
            <a:srgbClr val="D1D5DB"/>
          </a:solidFill>
          <a:ln w="12700">
            <a:solidFill>
              <a:srgbClr val="D1D5DB"/>
            </a:solidFill>
            <a:prstDash val="solid"/>
          </a:ln>
        </p:spPr>
      </p:sp>
      <p:sp>
        <p:nvSpPr>
          <p:cNvPr id="13" name="Text 10"/>
          <p:cNvSpPr/>
          <p:nvPr/>
        </p:nvSpPr>
        <p:spPr>
          <a:xfrm>
            <a:off x="457200" y="2468880"/>
            <a:ext cx="3145536" cy="658368"/>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"The team at MDF understands that in our environment, cleaning is part of our safety program — not just an afterthought."</a:t>
            </a:r>
            <a:endParaRPr lang="en-US" sz="1050" dirty="0"/>
          </a:p>
        </p:txBody>
      </p:sp>
      <p:sp>
        <p:nvSpPr>
          <p:cNvPr id="14" name="Text 11"/>
          <p:cNvSpPr/>
          <p:nvPr/>
        </p:nvSpPr>
        <p:spPr>
          <a:xfrm>
            <a:off x="457200" y="3145536"/>
            <a:ext cx="3145536" cy="18288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 Sheriff's Office Facility Manager</a:t>
            </a:r>
            <a:endParaRPr lang="en-US" sz="900" dirty="0"/>
          </a:p>
        </p:txBody>
      </p:sp>
      <p:sp>
        <p:nvSpPr>
          <p:cNvPr id="15" name="Text 12"/>
          <p:cNvSpPr/>
          <p:nvPr/>
        </p:nvSpPr>
        <p:spPr>
          <a:xfrm>
            <a:off x="3785616" y="2468880"/>
            <a:ext cx="3145536" cy="658368"/>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"We've worked with several cleaning companies over the years, but Mad Dog is different. When there's an issue, they fix it immediately."</a:t>
            </a:r>
            <a:endParaRPr lang="en-US" sz="1050" dirty="0"/>
          </a:p>
        </p:txBody>
      </p:sp>
      <p:sp>
        <p:nvSpPr>
          <p:cNvPr id="16" name="Text 13"/>
          <p:cNvSpPr/>
          <p:nvPr/>
        </p:nvSpPr>
        <p:spPr>
          <a:xfrm>
            <a:off x="3785616" y="3145536"/>
            <a:ext cx="3145536" cy="18288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 Government Administrator</a:t>
            </a:r>
            <a:endParaRPr lang="en-US" sz="900" dirty="0"/>
          </a:p>
        </p:txBody>
      </p:sp>
      <p:sp>
        <p:nvSpPr>
          <p:cNvPr id="17" name="Shape 14"/>
          <p:cNvSpPr/>
          <p:nvPr/>
        </p:nvSpPr>
        <p:spPr>
          <a:xfrm>
            <a:off x="457200" y="3401568"/>
            <a:ext cx="6473952" cy="16459"/>
          </a:xfrm>
          <a:prstGeom prst="rect">
            <a:avLst/>
          </a:prstGeom>
          <a:solidFill>
            <a:srgbClr val="D1D5DB"/>
          </a:solidFill>
          <a:ln w="12700">
            <a:solidFill>
              <a:srgbClr val="D1D5DB"/>
            </a:solidFill>
            <a:prstDash val="solid"/>
          </a:ln>
        </p:spPr>
      </p:sp>
      <p:sp>
        <p:nvSpPr>
          <p:cNvPr id="18" name="Text 15"/>
          <p:cNvSpPr/>
          <p:nvPr/>
        </p:nvSpPr>
        <p:spPr>
          <a:xfrm>
            <a:off x="457200" y="3474720"/>
            <a:ext cx="6473952" cy="749808"/>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"The background checks and professionalism of their crew gave us confidence from day one. In a government facility, security and accountability aren't negotiable. Mad Dog gets that."</a:t>
            </a:r>
            <a:endParaRPr lang="en-US" sz="1050" dirty="0"/>
          </a:p>
        </p:txBody>
      </p:sp>
      <p:sp>
        <p:nvSpPr>
          <p:cNvPr id="19" name="Text 16"/>
          <p:cNvSpPr/>
          <p:nvPr/>
        </p:nvSpPr>
        <p:spPr>
          <a:xfrm>
            <a:off x="457200" y="4242816"/>
            <a:ext cx="6473952" cy="182880"/>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 Municipal Building Supervisor</a:t>
            </a:r>
            <a:endParaRPr lang="en-US" sz="900" dirty="0"/>
          </a:p>
        </p:txBody>
      </p:sp>
      <p:pic>
        <p:nvPicPr>
          <p:cNvPr id="20" name="Image 1" descr="./logo_faa.png">    </p:cNvPr>
          <p:cNvPicPr>
            <a:picLocks noChangeAspect="1"/>
          </p:cNvPicPr>
          <p:nvPr/>
        </p:nvPicPr>
        <p:blipFill>
          <a:blip r:embed="rId2"/>
          <a:srcRect l="0" r="0" t="0" b="0"/>
          <a:stretch/>
        </p:blipFill>
        <p:spPr>
          <a:xfrm>
            <a:off x="7168896" y="1115568"/>
            <a:ext cx="1499616" cy="731520"/>
          </a:xfrm>
          <a:prstGeom prst="rect">
            <a:avLst/>
          </a:prstGeom>
        </p:spPr>
      </p:pic>
      <p:sp>
        <p:nvSpPr>
          <p:cNvPr id="21" name="Text 17"/>
          <p:cNvSpPr/>
          <p:nvPr/>
        </p:nvSpPr>
        <p:spPr>
          <a:xfrm>
            <a:off x="7132320" y="1901952"/>
            <a:ext cx="1572768" cy="182880"/>
          </a:xfrm>
          <a:prstGeom prst="rect">
            <a:avLst/>
          </a:prstGeom>
          <a:noFill/>
          <a:ln/>
        </p:spPr>
        <p:txBody>
          <a:bodyPr wrap="square"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Certified Past Performance</a:t>
            </a:r>
            <a:endParaRPr lang="en-US" sz="700" dirty="0"/>
          </a:p>
        </p:txBody>
      </p:sp>
      <p:pic>
        <p:nvPicPr>
          <p:cNvPr id="22" name="Image 2" descr="./logo_army.png">    </p:cNvPr>
          <p:cNvPicPr>
            <a:picLocks noChangeAspect="1"/>
          </p:cNvPicPr>
          <p:nvPr/>
        </p:nvPicPr>
        <p:blipFill>
          <a:blip r:embed="rId3"/>
          <a:srcRect l="0" r="0" t="0" b="0"/>
          <a:stretch/>
        </p:blipFill>
        <p:spPr>
          <a:xfrm>
            <a:off x="7168896" y="2395728"/>
            <a:ext cx="1499616" cy="731520"/>
          </a:xfrm>
          <a:prstGeom prst="rect">
            <a:avLst/>
          </a:prstGeom>
        </p:spPr>
      </p:pic>
      <p:sp>
        <p:nvSpPr>
          <p:cNvPr id="23" name="Text 18"/>
          <p:cNvSpPr/>
          <p:nvPr/>
        </p:nvSpPr>
        <p:spPr>
          <a:xfrm>
            <a:off x="7132320" y="3182112"/>
            <a:ext cx="1572768" cy="182880"/>
          </a:xfrm>
          <a:prstGeom prst="rect">
            <a:avLst/>
          </a:prstGeom>
          <a:noFill/>
          <a:ln/>
        </p:spPr>
        <p:txBody>
          <a:bodyPr wrap="square"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Past Performance</a:t>
            </a:r>
            <a:endParaRPr lang="en-US" sz="700" dirty="0"/>
          </a:p>
        </p:txBody>
      </p:sp>
      <p:pic>
        <p:nvPicPr>
          <p:cNvPr id="24" name="Image 3" descr="./logo_issa.png">    </p:cNvPr>
          <p:cNvPicPr>
            <a:picLocks noChangeAspect="1"/>
          </p:cNvPicPr>
          <p:nvPr/>
        </p:nvPicPr>
        <p:blipFill>
          <a:blip r:embed="rId4"/>
          <a:srcRect l="0" r="0" t="0" b="0"/>
          <a:stretch/>
        </p:blipFill>
        <p:spPr>
          <a:xfrm>
            <a:off x="7168896" y="3675888"/>
            <a:ext cx="1499616" cy="731520"/>
          </a:xfrm>
          <a:prstGeom prst="rect">
            <a:avLst/>
          </a:prstGeom>
        </p:spPr>
      </p:pic>
      <p:sp>
        <p:nvSpPr>
          <p:cNvPr id="25" name="Text 19"/>
          <p:cNvSpPr/>
          <p:nvPr/>
        </p:nvSpPr>
        <p:spPr>
          <a:xfrm>
            <a:off x="7132320" y="4462272"/>
            <a:ext cx="1572768" cy="182880"/>
          </a:xfrm>
          <a:prstGeom prst="rect">
            <a:avLst/>
          </a:prstGeom>
          <a:noFill/>
          <a:ln/>
        </p:spPr>
        <p:txBody>
          <a:bodyPr wrap="square"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Industry Member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68580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 &amp; NEXT STEPS</a:t>
            </a:r>
            <a:endParaRPr lang="en-US" sz="700" dirty="0"/>
          </a:p>
        </p:txBody>
      </p:sp>
      <p:sp>
        <p:nvSpPr>
          <p:cNvPr id="4" name="Text 2"/>
          <p:cNvSpPr/>
          <p:nvPr/>
        </p:nvSpPr>
        <p:spPr>
          <a:xfrm>
            <a:off x="8595360" y="73152"/>
            <a:ext cx="45720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9</a:t>
            </a:r>
            <a:endParaRPr lang="en-US" sz="800" dirty="0"/>
          </a:p>
        </p:txBody>
      </p:sp>
      <p:pic>
        <p:nvPicPr>
          <p:cNvPr id="5" name="Image 0" descr="./mdf_logo_white_bg.png">    </p:cNvPr>
          <p:cNvPicPr>
            <a:picLocks noChangeAspect="1"/>
          </p:cNvPicPr>
          <p:nvPr/>
        </p:nvPicPr>
        <p:blipFill>
          <a:blip r:embed="rId1"/>
          <a:stretch>
            <a:fillRect/>
          </a:stretch>
        </p:blipFill>
        <p:spPr>
          <a:xfrm>
            <a:off x="7936992" y="4626864"/>
            <a:ext cx="1078992" cy="411480"/>
          </a:xfrm>
          <a:prstGeom prst="rect">
            <a:avLst/>
          </a:prstGeom>
        </p:spPr>
      </p:pic>
      <p:sp>
        <p:nvSpPr>
          <p:cNvPr id="6" name="Text 3"/>
          <p:cNvSpPr/>
          <p:nvPr/>
        </p:nvSpPr>
        <p:spPr>
          <a:xfrm>
            <a:off x="457200" y="237744"/>
            <a:ext cx="4498848" cy="182880"/>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a:t>
            </a:r>
            <a:endParaRPr lang="en-US" sz="700" dirty="0"/>
          </a:p>
        </p:txBody>
      </p:sp>
      <p:sp>
        <p:nvSpPr>
          <p:cNvPr id="7" name="Text 4"/>
          <p:cNvSpPr/>
          <p:nvPr/>
        </p:nvSpPr>
        <p:spPr>
          <a:xfrm>
            <a:off x="457200" y="420624"/>
            <a:ext cx="4498848" cy="914400"/>
          </a:xfrm>
          <a:prstGeom prst="rect">
            <a:avLst/>
          </a:prstGeom>
          <a:noFill/>
          <a:ln/>
        </p:spPr>
        <p:txBody>
          <a:bodyPr wrap="square" rtlCol="0" anchor="ctr"/>
          <a:lstStyle/>
          <a:p>
            <a:pPr indent="0" marL="0">
              <a:buNone/>
            </a:pPr>
            <a:r>
              <a:rPr lang="en-US" sz="5800" b="1" dirty="0">
                <a:solidFill>
                  <a:srgbClr val="0D1F3C"/>
                </a:solidFill>
                <a:latin typeface="Trebuchet MS" pitchFamily="34" charset="0"/>
                <a:ea typeface="Trebuchet MS" pitchFamily="34" charset="-122"/>
                <a:cs typeface="Trebuchet MS" pitchFamily="34" charset="-120"/>
              </a:rPr>
              <a:t>$1,000</a:t>
            </a:r>
            <a:endParaRPr lang="en-US" sz="5800" dirty="0"/>
          </a:p>
        </p:txBody>
      </p:sp>
      <p:sp>
        <p:nvSpPr>
          <p:cNvPr id="8" name="Text 5"/>
          <p:cNvSpPr/>
          <p:nvPr/>
        </p:nvSpPr>
        <p:spPr>
          <a:xfrm>
            <a:off x="457200" y="1335024"/>
            <a:ext cx="4498848" cy="219456"/>
          </a:xfrm>
          <a:prstGeom prst="rect">
            <a:avLst/>
          </a:prstGeom>
          <a:noFill/>
          <a:ln/>
        </p:spPr>
        <p:txBody>
          <a:bodyPr wrap="square" rtlCol="0" anchor="ctr"/>
          <a:lstStyle/>
          <a:p>
            <a:pPr indent="0" marL="0">
              <a:buNone/>
            </a:pPr>
            <a:r>
              <a:rPr lang="en-US" sz="950" dirty="0">
                <a:solidFill>
                  <a:srgbClr val="6B7280"/>
                </a:solidFill>
                <a:latin typeface="Calibri" pitchFamily="34" charset="0"/>
                <a:ea typeface="Calibri" pitchFamily="34" charset="-122"/>
                <a:cs typeface="Calibri" pitchFamily="34" charset="-120"/>
              </a:rPr>
              <a:t>per month  ·  $12,000 annually  ·  Month-to-Month  ·  30-Day Notice</a:t>
            </a:r>
            <a:endParaRPr lang="en-US" sz="950" dirty="0"/>
          </a:p>
        </p:txBody>
      </p:sp>
      <p:sp>
        <p:nvSpPr>
          <p:cNvPr id="9" name="Shape 6"/>
          <p:cNvSpPr/>
          <p:nvPr/>
        </p:nvSpPr>
        <p:spPr>
          <a:xfrm>
            <a:off x="457200" y="1609344"/>
            <a:ext cx="4498848" cy="16459"/>
          </a:xfrm>
          <a:prstGeom prst="rect">
            <a:avLst/>
          </a:prstGeom>
          <a:solidFill>
            <a:srgbClr val="D1D5DB"/>
          </a:solidFill>
          <a:ln w="12700">
            <a:solidFill>
              <a:srgbClr val="D1D5DB"/>
            </a:solidFill>
            <a:prstDash val="solid"/>
          </a:ln>
        </p:spPr>
      </p:sp>
      <p:sp>
        <p:nvSpPr>
          <p:cNvPr id="10" name="Shape 7"/>
          <p:cNvSpPr/>
          <p:nvPr/>
        </p:nvSpPr>
        <p:spPr>
          <a:xfrm>
            <a:off x="438912" y="1682496"/>
            <a:ext cx="4535424" cy="347472"/>
          </a:xfrm>
          <a:prstGeom prst="rect">
            <a:avLst/>
          </a:prstGeom>
          <a:solidFill>
            <a:srgbClr val="FFFFFF"/>
          </a:solidFill>
          <a:ln w="12700">
            <a:solidFill>
              <a:srgbClr val="FFFFFF"/>
            </a:solidFill>
            <a:prstDash val="solid"/>
          </a:ln>
        </p:spPr>
      </p:sp>
      <p:sp>
        <p:nvSpPr>
          <p:cNvPr id="11" name="Text 8"/>
          <p:cNvSpPr/>
          <p:nvPr/>
        </p:nvSpPr>
        <p:spPr>
          <a:xfrm>
            <a:off x="548640" y="1755648"/>
            <a:ext cx="3218688"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Labor — W-2 Employees</a:t>
            </a:r>
            <a:endParaRPr lang="en-US" sz="1000" dirty="0"/>
          </a:p>
        </p:txBody>
      </p:sp>
      <p:sp>
        <p:nvSpPr>
          <p:cNvPr id="12" name="Text 9"/>
          <p:cNvSpPr/>
          <p:nvPr/>
        </p:nvSpPr>
        <p:spPr>
          <a:xfrm>
            <a:off x="3721608" y="1755648"/>
            <a:ext cx="1143000" cy="219456"/>
          </a:xfrm>
          <a:prstGeom prst="rect">
            <a:avLst/>
          </a:prstGeom>
          <a:noFill/>
          <a:ln/>
        </p:spPr>
        <p:txBody>
          <a:bodyPr wrap="square" rtlCol="0" anchor="ctr"/>
          <a:lstStyle/>
          <a:p>
            <a:pPr algn="r" indent="0" marL="0">
              <a:buNone/>
            </a:pPr>
            <a:r>
              <a:rPr lang="en-US" sz="1000" b="1" dirty="0">
                <a:solidFill>
                  <a:srgbClr val="374151"/>
                </a:solidFill>
                <a:latin typeface="Calibri" pitchFamily="34" charset="0"/>
                <a:ea typeface="Calibri" pitchFamily="34" charset="-122"/>
                <a:cs typeface="Calibri" pitchFamily="34" charset="-120"/>
              </a:rPr>
              <a:t>$630</a:t>
            </a:r>
            <a:endParaRPr lang="en-US" sz="1000" dirty="0"/>
          </a:p>
        </p:txBody>
      </p:sp>
      <p:sp>
        <p:nvSpPr>
          <p:cNvPr id="13" name="Shape 10"/>
          <p:cNvSpPr/>
          <p:nvPr/>
        </p:nvSpPr>
        <p:spPr>
          <a:xfrm>
            <a:off x="438912" y="2029968"/>
            <a:ext cx="4535424" cy="347472"/>
          </a:xfrm>
          <a:prstGeom prst="rect">
            <a:avLst/>
          </a:prstGeom>
          <a:solidFill>
            <a:srgbClr val="F4F7FB"/>
          </a:solidFill>
          <a:ln w="12700">
            <a:solidFill>
              <a:srgbClr val="F4F7FB"/>
            </a:solidFill>
            <a:prstDash val="solid"/>
          </a:ln>
        </p:spPr>
      </p:sp>
      <p:sp>
        <p:nvSpPr>
          <p:cNvPr id="14" name="Text 11"/>
          <p:cNvSpPr/>
          <p:nvPr/>
        </p:nvSpPr>
        <p:spPr>
          <a:xfrm>
            <a:off x="548640" y="2103120"/>
            <a:ext cx="3218688"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Supplies &amp; Consumables (4%)</a:t>
            </a:r>
            <a:endParaRPr lang="en-US" sz="1000" dirty="0"/>
          </a:p>
        </p:txBody>
      </p:sp>
      <p:sp>
        <p:nvSpPr>
          <p:cNvPr id="15" name="Text 12"/>
          <p:cNvSpPr/>
          <p:nvPr/>
        </p:nvSpPr>
        <p:spPr>
          <a:xfrm>
            <a:off x="3721608" y="2103120"/>
            <a:ext cx="1143000" cy="219456"/>
          </a:xfrm>
          <a:prstGeom prst="rect">
            <a:avLst/>
          </a:prstGeom>
          <a:noFill/>
          <a:ln/>
        </p:spPr>
        <p:txBody>
          <a:bodyPr wrap="square" rtlCol="0" anchor="ctr"/>
          <a:lstStyle/>
          <a:p>
            <a:pPr algn="r" indent="0" marL="0">
              <a:buNone/>
            </a:pPr>
            <a:r>
              <a:rPr lang="en-US" sz="1000" b="1" dirty="0">
                <a:solidFill>
                  <a:srgbClr val="374151"/>
                </a:solidFill>
                <a:latin typeface="Calibri" pitchFamily="34" charset="0"/>
                <a:ea typeface="Calibri" pitchFamily="34" charset="-122"/>
                <a:cs typeface="Calibri" pitchFamily="34" charset="-120"/>
              </a:rPr>
              <a:t>$40</a:t>
            </a:r>
            <a:endParaRPr lang="en-US" sz="1000" dirty="0"/>
          </a:p>
        </p:txBody>
      </p:sp>
      <p:sp>
        <p:nvSpPr>
          <p:cNvPr id="16" name="Shape 13"/>
          <p:cNvSpPr/>
          <p:nvPr/>
        </p:nvSpPr>
        <p:spPr>
          <a:xfrm>
            <a:off x="438912" y="2377440"/>
            <a:ext cx="4535424" cy="347472"/>
          </a:xfrm>
          <a:prstGeom prst="rect">
            <a:avLst/>
          </a:prstGeom>
          <a:solidFill>
            <a:srgbClr val="FFFFFF"/>
          </a:solidFill>
          <a:ln w="12700">
            <a:solidFill>
              <a:srgbClr val="FFFFFF"/>
            </a:solidFill>
            <a:prstDash val="solid"/>
          </a:ln>
        </p:spPr>
      </p:sp>
      <p:sp>
        <p:nvSpPr>
          <p:cNvPr id="17" name="Text 14"/>
          <p:cNvSpPr/>
          <p:nvPr/>
        </p:nvSpPr>
        <p:spPr>
          <a:xfrm>
            <a:off x="548640" y="2450592"/>
            <a:ext cx="3218688"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Equipment &amp; Maintenance (3%)</a:t>
            </a:r>
            <a:endParaRPr lang="en-US" sz="1000" dirty="0"/>
          </a:p>
        </p:txBody>
      </p:sp>
      <p:sp>
        <p:nvSpPr>
          <p:cNvPr id="18" name="Text 15"/>
          <p:cNvSpPr/>
          <p:nvPr/>
        </p:nvSpPr>
        <p:spPr>
          <a:xfrm>
            <a:off x="3721608" y="2450592"/>
            <a:ext cx="1143000" cy="219456"/>
          </a:xfrm>
          <a:prstGeom prst="rect">
            <a:avLst/>
          </a:prstGeom>
          <a:noFill/>
          <a:ln/>
        </p:spPr>
        <p:txBody>
          <a:bodyPr wrap="square" rtlCol="0" anchor="ctr"/>
          <a:lstStyle/>
          <a:p>
            <a:pPr algn="r" indent="0" marL="0">
              <a:buNone/>
            </a:pPr>
            <a:r>
              <a:rPr lang="en-US" sz="1000" b="1" dirty="0">
                <a:solidFill>
                  <a:srgbClr val="374151"/>
                </a:solidFill>
                <a:latin typeface="Calibri" pitchFamily="34" charset="0"/>
                <a:ea typeface="Calibri" pitchFamily="34" charset="-122"/>
                <a:cs typeface="Calibri" pitchFamily="34" charset="-120"/>
              </a:rPr>
              <a:t>$30</a:t>
            </a:r>
            <a:endParaRPr lang="en-US" sz="1000" dirty="0"/>
          </a:p>
        </p:txBody>
      </p:sp>
      <p:sp>
        <p:nvSpPr>
          <p:cNvPr id="19" name="Shape 16"/>
          <p:cNvSpPr/>
          <p:nvPr/>
        </p:nvSpPr>
        <p:spPr>
          <a:xfrm>
            <a:off x="438912" y="2724912"/>
            <a:ext cx="4535424" cy="347472"/>
          </a:xfrm>
          <a:prstGeom prst="rect">
            <a:avLst/>
          </a:prstGeom>
          <a:solidFill>
            <a:srgbClr val="F4F7FB"/>
          </a:solidFill>
          <a:ln w="12700">
            <a:solidFill>
              <a:srgbClr val="F4F7FB"/>
            </a:solidFill>
            <a:prstDash val="solid"/>
          </a:ln>
        </p:spPr>
      </p:sp>
      <p:sp>
        <p:nvSpPr>
          <p:cNvPr id="20" name="Text 17"/>
          <p:cNvSpPr/>
          <p:nvPr/>
        </p:nvSpPr>
        <p:spPr>
          <a:xfrm>
            <a:off x="548640" y="2798064"/>
            <a:ext cx="3218688"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QA Inspection Reports</a:t>
            </a:r>
            <a:endParaRPr lang="en-US" sz="1000" dirty="0"/>
          </a:p>
        </p:txBody>
      </p:sp>
      <p:sp>
        <p:nvSpPr>
          <p:cNvPr id="21" name="Text 18"/>
          <p:cNvSpPr/>
          <p:nvPr/>
        </p:nvSpPr>
        <p:spPr>
          <a:xfrm>
            <a:off x="3721608" y="2798064"/>
            <a:ext cx="1143000" cy="219456"/>
          </a:xfrm>
          <a:prstGeom prst="rect">
            <a:avLst/>
          </a:prstGeom>
          <a:noFill/>
          <a:ln/>
        </p:spPr>
        <p:txBody>
          <a:bodyPr wrap="square" rtlCol="0" anchor="ctr"/>
          <a:lstStyle/>
          <a:p>
            <a:pPr algn="r" indent="0" marL="0">
              <a:buNone/>
            </a:pPr>
            <a:r>
              <a:rPr lang="en-US" sz="1000" b="1" dirty="0">
                <a:solidFill>
                  <a:srgbClr val="2E7D52"/>
                </a:solidFill>
                <a:latin typeface="Calibri" pitchFamily="34" charset="0"/>
                <a:ea typeface="Calibri" pitchFamily="34" charset="-122"/>
                <a:cs typeface="Calibri" pitchFamily="34" charset="-120"/>
              </a:rPr>
              <a:t>Included</a:t>
            </a:r>
            <a:endParaRPr lang="en-US" sz="1000" dirty="0"/>
          </a:p>
        </p:txBody>
      </p:sp>
      <p:sp>
        <p:nvSpPr>
          <p:cNvPr id="22" name="Shape 19"/>
          <p:cNvSpPr/>
          <p:nvPr/>
        </p:nvSpPr>
        <p:spPr>
          <a:xfrm>
            <a:off x="438912" y="3072384"/>
            <a:ext cx="4535424" cy="347472"/>
          </a:xfrm>
          <a:prstGeom prst="rect">
            <a:avLst/>
          </a:prstGeom>
          <a:solidFill>
            <a:srgbClr val="FFFFFF"/>
          </a:solidFill>
          <a:ln w="12700">
            <a:solidFill>
              <a:srgbClr val="FFFFFF"/>
            </a:solidFill>
            <a:prstDash val="solid"/>
          </a:ln>
        </p:spPr>
      </p:sp>
      <p:sp>
        <p:nvSpPr>
          <p:cNvPr id="23" name="Text 20"/>
          <p:cNvSpPr/>
          <p:nvPr/>
        </p:nvSpPr>
        <p:spPr>
          <a:xfrm>
            <a:off x="548640" y="3145536"/>
            <a:ext cx="3218688"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Dedicated QA Manager</a:t>
            </a:r>
            <a:endParaRPr lang="en-US" sz="1000" dirty="0"/>
          </a:p>
        </p:txBody>
      </p:sp>
      <p:sp>
        <p:nvSpPr>
          <p:cNvPr id="24" name="Text 21"/>
          <p:cNvSpPr/>
          <p:nvPr/>
        </p:nvSpPr>
        <p:spPr>
          <a:xfrm>
            <a:off x="3721608" y="3145536"/>
            <a:ext cx="1143000" cy="219456"/>
          </a:xfrm>
          <a:prstGeom prst="rect">
            <a:avLst/>
          </a:prstGeom>
          <a:noFill/>
          <a:ln/>
        </p:spPr>
        <p:txBody>
          <a:bodyPr wrap="square" rtlCol="0" anchor="ctr"/>
          <a:lstStyle/>
          <a:p>
            <a:pPr algn="r" indent="0" marL="0">
              <a:buNone/>
            </a:pPr>
            <a:r>
              <a:rPr lang="en-US" sz="1000" b="1" dirty="0">
                <a:solidFill>
                  <a:srgbClr val="2E7D52"/>
                </a:solidFill>
                <a:latin typeface="Calibri" pitchFamily="34" charset="0"/>
                <a:ea typeface="Calibri" pitchFamily="34" charset="-122"/>
                <a:cs typeface="Calibri" pitchFamily="34" charset="-120"/>
              </a:rPr>
              <a:t>Included</a:t>
            </a:r>
            <a:endParaRPr lang="en-US" sz="1000" dirty="0"/>
          </a:p>
        </p:txBody>
      </p:sp>
      <p:sp>
        <p:nvSpPr>
          <p:cNvPr id="25" name="Shape 22"/>
          <p:cNvSpPr/>
          <p:nvPr/>
        </p:nvSpPr>
        <p:spPr>
          <a:xfrm>
            <a:off x="438912" y="3419856"/>
            <a:ext cx="4535424" cy="347472"/>
          </a:xfrm>
          <a:prstGeom prst="rect">
            <a:avLst/>
          </a:prstGeom>
          <a:solidFill>
            <a:srgbClr val="F4F7FB"/>
          </a:solidFill>
          <a:ln w="12700">
            <a:solidFill>
              <a:srgbClr val="F4F7FB"/>
            </a:solidFill>
            <a:prstDash val="solid"/>
          </a:ln>
        </p:spPr>
      </p:sp>
      <p:sp>
        <p:nvSpPr>
          <p:cNvPr id="26" name="Text 23"/>
          <p:cNvSpPr/>
          <p:nvPr/>
        </p:nvSpPr>
        <p:spPr>
          <a:xfrm>
            <a:off x="548640" y="3493008"/>
            <a:ext cx="3218688"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Ownership Direct Line</a:t>
            </a:r>
            <a:endParaRPr lang="en-US" sz="1000" dirty="0"/>
          </a:p>
        </p:txBody>
      </p:sp>
      <p:sp>
        <p:nvSpPr>
          <p:cNvPr id="27" name="Text 24"/>
          <p:cNvSpPr/>
          <p:nvPr/>
        </p:nvSpPr>
        <p:spPr>
          <a:xfrm>
            <a:off x="3721608" y="3493008"/>
            <a:ext cx="1143000" cy="219456"/>
          </a:xfrm>
          <a:prstGeom prst="rect">
            <a:avLst/>
          </a:prstGeom>
          <a:noFill/>
          <a:ln/>
        </p:spPr>
        <p:txBody>
          <a:bodyPr wrap="square" rtlCol="0" anchor="ctr"/>
          <a:lstStyle/>
          <a:p>
            <a:pPr algn="r" indent="0" marL="0">
              <a:buNone/>
            </a:pPr>
            <a:r>
              <a:rPr lang="en-US" sz="1000" b="1" dirty="0">
                <a:solidFill>
                  <a:srgbClr val="2E7D52"/>
                </a:solidFill>
                <a:latin typeface="Calibri" pitchFamily="34" charset="0"/>
                <a:ea typeface="Calibri" pitchFamily="34" charset="-122"/>
                <a:cs typeface="Calibri" pitchFamily="34" charset="-120"/>
              </a:rPr>
              <a:t>Included</a:t>
            </a:r>
            <a:endParaRPr lang="en-US" sz="1000" dirty="0"/>
          </a:p>
        </p:txBody>
      </p:sp>
      <p:sp>
        <p:nvSpPr>
          <p:cNvPr id="28" name="Shape 25"/>
          <p:cNvSpPr/>
          <p:nvPr/>
        </p:nvSpPr>
        <p:spPr>
          <a:xfrm>
            <a:off x="438912" y="3822192"/>
            <a:ext cx="4535424" cy="402336"/>
          </a:xfrm>
          <a:prstGeom prst="rect">
            <a:avLst/>
          </a:prstGeom>
          <a:solidFill>
            <a:srgbClr val="0D1F3C"/>
          </a:solidFill>
          <a:ln w="12700">
            <a:solidFill>
              <a:srgbClr val="0D1F3C"/>
            </a:solidFill>
            <a:prstDash val="solid"/>
          </a:ln>
        </p:spPr>
      </p:sp>
      <p:sp>
        <p:nvSpPr>
          <p:cNvPr id="29" name="Text 26"/>
          <p:cNvSpPr/>
          <p:nvPr/>
        </p:nvSpPr>
        <p:spPr>
          <a:xfrm>
            <a:off x="548640" y="3913632"/>
            <a:ext cx="2852928" cy="237744"/>
          </a:xfrm>
          <a:prstGeom prst="rect">
            <a:avLst/>
          </a:prstGeom>
          <a:noFill/>
          <a:ln/>
        </p:spPr>
        <p:txBody>
          <a:bodyPr wrap="square"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Monthly Total</a:t>
            </a:r>
            <a:endParaRPr lang="en-US" sz="1200" dirty="0"/>
          </a:p>
        </p:txBody>
      </p:sp>
      <p:sp>
        <p:nvSpPr>
          <p:cNvPr id="30" name="Text 27"/>
          <p:cNvSpPr/>
          <p:nvPr/>
        </p:nvSpPr>
        <p:spPr>
          <a:xfrm>
            <a:off x="3493008" y="3913632"/>
            <a:ext cx="1371600" cy="237744"/>
          </a:xfrm>
          <a:prstGeom prst="rect">
            <a:avLst/>
          </a:prstGeom>
          <a:noFill/>
          <a:ln/>
        </p:spPr>
        <p:txBody>
          <a:bodyPr wrap="square" rtlCol="0" anchor="ctr"/>
          <a:lstStyle/>
          <a:p>
            <a:pPr algn="r" indent="0" marL="0">
              <a:buNone/>
            </a:pPr>
            <a:r>
              <a:rPr lang="en-US" sz="1200" b="1" dirty="0">
                <a:solidFill>
                  <a:srgbClr val="C9A84C"/>
                </a:solidFill>
                <a:latin typeface="Trebuchet MS" pitchFamily="34" charset="0"/>
                <a:ea typeface="Trebuchet MS" pitchFamily="34" charset="-122"/>
                <a:cs typeface="Trebuchet MS" pitchFamily="34" charset="-120"/>
              </a:rPr>
              <a:t>$1,000</a:t>
            </a:r>
            <a:endParaRPr lang="en-US" sz="1200" dirty="0"/>
          </a:p>
        </p:txBody>
      </p:sp>
      <p:sp>
        <p:nvSpPr>
          <p:cNvPr id="31" name="Shape 28"/>
          <p:cNvSpPr/>
          <p:nvPr/>
        </p:nvSpPr>
        <p:spPr>
          <a:xfrm>
            <a:off x="4645152" y="201168"/>
            <a:ext cx="16459" cy="4572000"/>
          </a:xfrm>
          <a:prstGeom prst="rect">
            <a:avLst/>
          </a:prstGeom>
          <a:solidFill>
            <a:srgbClr val="D1D5DB"/>
          </a:solidFill>
          <a:ln w="12700">
            <a:solidFill>
              <a:srgbClr val="D1D5DB"/>
            </a:solidFill>
            <a:prstDash val="solid"/>
          </a:ln>
        </p:spPr>
      </p:sp>
      <p:sp>
        <p:nvSpPr>
          <p:cNvPr id="32" name="Text 29"/>
          <p:cNvSpPr/>
          <p:nvPr/>
        </p:nvSpPr>
        <p:spPr>
          <a:xfrm>
            <a:off x="4754880" y="237744"/>
            <a:ext cx="4023360" cy="182880"/>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READY TO MOVE FORWARD?</a:t>
            </a:r>
            <a:endParaRPr lang="en-US" sz="700" dirty="0"/>
          </a:p>
        </p:txBody>
      </p:sp>
      <p:sp>
        <p:nvSpPr>
          <p:cNvPr id="33" name="Text 30"/>
          <p:cNvSpPr/>
          <p:nvPr/>
        </p:nvSpPr>
        <p:spPr>
          <a:xfrm>
            <a:off x="4754880" y="438912"/>
            <a:ext cx="4023360" cy="512064"/>
          </a:xfrm>
          <a:prstGeom prst="rect">
            <a:avLst/>
          </a:prstGeom>
          <a:noFill/>
          <a:ln/>
        </p:spPr>
        <p:txBody>
          <a:bodyPr wrap="square" rtlCol="0" anchor="ctr"/>
          <a:lstStyle/>
          <a:p>
            <a:pPr indent="0" marL="0">
              <a:buNone/>
            </a:pPr>
            <a:r>
              <a:rPr lang="en-US" sz="2000" b="1" dirty="0">
                <a:solidFill>
                  <a:srgbClr val="0D1F3C"/>
                </a:solidFill>
                <a:latin typeface="Trebuchet MS" pitchFamily="34" charset="0"/>
                <a:ea typeface="Trebuchet MS" pitchFamily="34" charset="-122"/>
                <a:cs typeface="Trebuchet MS" pitchFamily="34" charset="-120"/>
              </a:rPr>
              <a:t>What happens when you say yes:</a:t>
            </a:r>
            <a:endParaRPr lang="en-US" sz="2000" dirty="0"/>
          </a:p>
        </p:txBody>
      </p:sp>
      <p:sp>
        <p:nvSpPr>
          <p:cNvPr id="34" name="Text 31"/>
          <p:cNvSpPr/>
          <p:nvPr/>
        </p:nvSpPr>
        <p:spPr>
          <a:xfrm>
            <a:off x="4754880" y="1042416"/>
            <a:ext cx="310896" cy="310896"/>
          </a:xfrm>
          <a:prstGeom prst="rect">
            <a:avLst/>
          </a:prstGeom>
          <a:noFill/>
          <a:ln/>
        </p:spPr>
        <p:txBody>
          <a:bodyPr wrap="square" rtlCol="0" anchor="ctr"/>
          <a:lstStyle/>
          <a:p>
            <a:pPr indent="0" marL="0">
              <a:buNone/>
            </a:pPr>
            <a:r>
              <a:rPr lang="en-US" sz="1600" b="1" dirty="0">
                <a:solidFill>
                  <a:srgbClr val="C9A84C"/>
                </a:solidFill>
                <a:latin typeface="Trebuchet MS" pitchFamily="34" charset="0"/>
                <a:ea typeface="Trebuchet MS" pitchFamily="34" charset="-122"/>
                <a:cs typeface="Trebuchet MS" pitchFamily="34" charset="-120"/>
              </a:rPr>
              <a:t>1</a:t>
            </a:r>
            <a:endParaRPr lang="en-US" sz="1600" dirty="0"/>
          </a:p>
        </p:txBody>
      </p:sp>
      <p:sp>
        <p:nvSpPr>
          <p:cNvPr id="35" name="Shape 32"/>
          <p:cNvSpPr/>
          <p:nvPr/>
        </p:nvSpPr>
        <p:spPr>
          <a:xfrm>
            <a:off x="4754880" y="1389888"/>
            <a:ext cx="310896" cy="16459"/>
          </a:xfrm>
          <a:prstGeom prst="rect">
            <a:avLst/>
          </a:prstGeom>
          <a:solidFill>
            <a:srgbClr val="C9A84C"/>
          </a:solidFill>
          <a:ln w="12700">
            <a:solidFill>
              <a:srgbClr val="C9A84C"/>
            </a:solidFill>
            <a:prstDash val="solid"/>
          </a:ln>
        </p:spPr>
      </p:sp>
      <p:sp>
        <p:nvSpPr>
          <p:cNvPr id="36" name="Text 33"/>
          <p:cNvSpPr/>
          <p:nvPr/>
        </p:nvSpPr>
        <p:spPr>
          <a:xfrm>
            <a:off x="5157216" y="1078992"/>
            <a:ext cx="3621024" cy="38404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Agreement signed &amp; start date confirmed</a:t>
            </a:r>
            <a:endParaRPr lang="en-US" sz="1100" dirty="0"/>
          </a:p>
        </p:txBody>
      </p:sp>
      <p:sp>
        <p:nvSpPr>
          <p:cNvPr id="37" name="Text 34"/>
          <p:cNvSpPr/>
          <p:nvPr/>
        </p:nvSpPr>
        <p:spPr>
          <a:xfrm>
            <a:off x="4754880" y="1572768"/>
            <a:ext cx="310896" cy="310896"/>
          </a:xfrm>
          <a:prstGeom prst="rect">
            <a:avLst/>
          </a:prstGeom>
          <a:noFill/>
          <a:ln/>
        </p:spPr>
        <p:txBody>
          <a:bodyPr wrap="square" rtlCol="0" anchor="ctr"/>
          <a:lstStyle/>
          <a:p>
            <a:pPr indent="0" marL="0">
              <a:buNone/>
            </a:pPr>
            <a:r>
              <a:rPr lang="en-US" sz="1600" b="1" dirty="0">
                <a:solidFill>
                  <a:srgbClr val="C9A84C"/>
                </a:solidFill>
                <a:latin typeface="Trebuchet MS" pitchFamily="34" charset="0"/>
                <a:ea typeface="Trebuchet MS" pitchFamily="34" charset="-122"/>
                <a:cs typeface="Trebuchet MS" pitchFamily="34" charset="-120"/>
              </a:rPr>
              <a:t>2</a:t>
            </a:r>
            <a:endParaRPr lang="en-US" sz="1600" dirty="0"/>
          </a:p>
        </p:txBody>
      </p:sp>
      <p:sp>
        <p:nvSpPr>
          <p:cNvPr id="38" name="Shape 35"/>
          <p:cNvSpPr/>
          <p:nvPr/>
        </p:nvSpPr>
        <p:spPr>
          <a:xfrm>
            <a:off x="4754880" y="1920240"/>
            <a:ext cx="310896" cy="16459"/>
          </a:xfrm>
          <a:prstGeom prst="rect">
            <a:avLst/>
          </a:prstGeom>
          <a:solidFill>
            <a:srgbClr val="C9A84C"/>
          </a:solidFill>
          <a:ln w="12700">
            <a:solidFill>
              <a:srgbClr val="C9A84C"/>
            </a:solidFill>
            <a:prstDash val="solid"/>
          </a:ln>
        </p:spPr>
      </p:sp>
      <p:sp>
        <p:nvSpPr>
          <p:cNvPr id="39" name="Text 36"/>
          <p:cNvSpPr/>
          <p:nvPr/>
        </p:nvSpPr>
        <p:spPr>
          <a:xfrm>
            <a:off x="5157216" y="1609344"/>
            <a:ext cx="3621024" cy="38404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CEO + QA Manager schedule facility site walk</a:t>
            </a:r>
            <a:endParaRPr lang="en-US" sz="1100" dirty="0"/>
          </a:p>
        </p:txBody>
      </p:sp>
      <p:sp>
        <p:nvSpPr>
          <p:cNvPr id="40" name="Text 37"/>
          <p:cNvSpPr/>
          <p:nvPr/>
        </p:nvSpPr>
        <p:spPr>
          <a:xfrm>
            <a:off x="4754880" y="2103120"/>
            <a:ext cx="310896" cy="310896"/>
          </a:xfrm>
          <a:prstGeom prst="rect">
            <a:avLst/>
          </a:prstGeom>
          <a:noFill/>
          <a:ln/>
        </p:spPr>
        <p:txBody>
          <a:bodyPr wrap="square" rtlCol="0" anchor="ctr"/>
          <a:lstStyle/>
          <a:p>
            <a:pPr indent="0" marL="0">
              <a:buNone/>
            </a:pPr>
            <a:r>
              <a:rPr lang="en-US" sz="1600" b="1" dirty="0">
                <a:solidFill>
                  <a:srgbClr val="C9A84C"/>
                </a:solidFill>
                <a:latin typeface="Trebuchet MS" pitchFamily="34" charset="0"/>
                <a:ea typeface="Trebuchet MS" pitchFamily="34" charset="-122"/>
                <a:cs typeface="Trebuchet MS" pitchFamily="34" charset="-120"/>
              </a:rPr>
              <a:t>3</a:t>
            </a:r>
            <a:endParaRPr lang="en-US" sz="1600" dirty="0"/>
          </a:p>
        </p:txBody>
      </p:sp>
      <p:sp>
        <p:nvSpPr>
          <p:cNvPr id="41" name="Shape 38"/>
          <p:cNvSpPr/>
          <p:nvPr/>
        </p:nvSpPr>
        <p:spPr>
          <a:xfrm>
            <a:off x="4754880" y="2450592"/>
            <a:ext cx="310896" cy="16459"/>
          </a:xfrm>
          <a:prstGeom prst="rect">
            <a:avLst/>
          </a:prstGeom>
          <a:solidFill>
            <a:srgbClr val="C9A84C"/>
          </a:solidFill>
          <a:ln w="12700">
            <a:solidFill>
              <a:srgbClr val="C9A84C"/>
            </a:solidFill>
            <a:prstDash val="solid"/>
          </a:ln>
        </p:spPr>
      </p:sp>
      <p:sp>
        <p:nvSpPr>
          <p:cNvPr id="42" name="Text 39"/>
          <p:cNvSpPr/>
          <p:nvPr/>
        </p:nvSpPr>
        <p:spPr>
          <a:xfrm>
            <a:off x="5157216" y="2139696"/>
            <a:ext cx="3621024" cy="38404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Team assigned, keys exchanged, supplies staged</a:t>
            </a:r>
            <a:endParaRPr lang="en-US" sz="1100" dirty="0"/>
          </a:p>
        </p:txBody>
      </p:sp>
      <p:sp>
        <p:nvSpPr>
          <p:cNvPr id="43" name="Text 40"/>
          <p:cNvSpPr/>
          <p:nvPr/>
        </p:nvSpPr>
        <p:spPr>
          <a:xfrm>
            <a:off x="4754880" y="2633472"/>
            <a:ext cx="310896" cy="310896"/>
          </a:xfrm>
          <a:prstGeom prst="rect">
            <a:avLst/>
          </a:prstGeom>
          <a:noFill/>
          <a:ln/>
        </p:spPr>
        <p:txBody>
          <a:bodyPr wrap="square" rtlCol="0" anchor="ctr"/>
          <a:lstStyle/>
          <a:p>
            <a:pPr indent="0" marL="0">
              <a:buNone/>
            </a:pPr>
            <a:r>
              <a:rPr lang="en-US" sz="1600" b="1" dirty="0">
                <a:solidFill>
                  <a:srgbClr val="C9A84C"/>
                </a:solidFill>
                <a:latin typeface="Trebuchet MS" pitchFamily="34" charset="0"/>
                <a:ea typeface="Trebuchet MS" pitchFamily="34" charset="-122"/>
                <a:cs typeface="Trebuchet MS" pitchFamily="34" charset="-120"/>
              </a:rPr>
              <a:t>4</a:t>
            </a:r>
            <a:endParaRPr lang="en-US" sz="1600" dirty="0"/>
          </a:p>
        </p:txBody>
      </p:sp>
      <p:sp>
        <p:nvSpPr>
          <p:cNvPr id="44" name="Shape 41"/>
          <p:cNvSpPr/>
          <p:nvPr/>
        </p:nvSpPr>
        <p:spPr>
          <a:xfrm>
            <a:off x="4754880" y="2980944"/>
            <a:ext cx="310896" cy="16459"/>
          </a:xfrm>
          <a:prstGeom prst="rect">
            <a:avLst/>
          </a:prstGeom>
          <a:solidFill>
            <a:srgbClr val="C9A84C"/>
          </a:solidFill>
          <a:ln w="12700">
            <a:solidFill>
              <a:srgbClr val="C9A84C"/>
            </a:solidFill>
            <a:prstDash val="solid"/>
          </a:ln>
        </p:spPr>
      </p:sp>
      <p:sp>
        <p:nvSpPr>
          <p:cNvPr id="45" name="Text 42"/>
          <p:cNvSpPr/>
          <p:nvPr/>
        </p:nvSpPr>
        <p:spPr>
          <a:xfrm>
            <a:off x="5157216" y="2670048"/>
            <a:ext cx="3621024" cy="38404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Inspection dashboard created — you get login access</a:t>
            </a:r>
            <a:endParaRPr lang="en-US" sz="1100" dirty="0"/>
          </a:p>
        </p:txBody>
      </p:sp>
      <p:sp>
        <p:nvSpPr>
          <p:cNvPr id="46" name="Text 43"/>
          <p:cNvSpPr/>
          <p:nvPr/>
        </p:nvSpPr>
        <p:spPr>
          <a:xfrm>
            <a:off x="4754880" y="3163824"/>
            <a:ext cx="310896" cy="310896"/>
          </a:xfrm>
          <a:prstGeom prst="rect">
            <a:avLst/>
          </a:prstGeom>
          <a:noFill/>
          <a:ln/>
        </p:spPr>
        <p:txBody>
          <a:bodyPr wrap="square" rtlCol="0" anchor="ctr"/>
          <a:lstStyle/>
          <a:p>
            <a:pPr indent="0" marL="0">
              <a:buNone/>
            </a:pPr>
            <a:r>
              <a:rPr lang="en-US" sz="1600" b="1" dirty="0">
                <a:solidFill>
                  <a:srgbClr val="C9A84C"/>
                </a:solidFill>
                <a:latin typeface="Trebuchet MS" pitchFamily="34" charset="0"/>
                <a:ea typeface="Trebuchet MS" pitchFamily="34" charset="-122"/>
                <a:cs typeface="Trebuchet MS" pitchFamily="34" charset="-120"/>
              </a:rPr>
              <a:t>5</a:t>
            </a:r>
            <a:endParaRPr lang="en-US" sz="1600" dirty="0"/>
          </a:p>
        </p:txBody>
      </p:sp>
      <p:sp>
        <p:nvSpPr>
          <p:cNvPr id="47" name="Shape 44"/>
          <p:cNvSpPr/>
          <p:nvPr/>
        </p:nvSpPr>
        <p:spPr>
          <a:xfrm>
            <a:off x="4754880" y="3511296"/>
            <a:ext cx="310896" cy="16459"/>
          </a:xfrm>
          <a:prstGeom prst="rect">
            <a:avLst/>
          </a:prstGeom>
          <a:solidFill>
            <a:srgbClr val="C9A84C"/>
          </a:solidFill>
          <a:ln w="12700">
            <a:solidFill>
              <a:srgbClr val="C9A84C"/>
            </a:solidFill>
            <a:prstDash val="solid"/>
          </a:ln>
        </p:spPr>
      </p:sp>
      <p:sp>
        <p:nvSpPr>
          <p:cNvPr id="48" name="Text 45"/>
          <p:cNvSpPr/>
          <p:nvPr/>
        </p:nvSpPr>
        <p:spPr>
          <a:xfrm>
            <a:off x="5157216" y="3200400"/>
            <a:ext cx="3621024" cy="38404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First service delivered on your start date, July 1</a:t>
            </a:r>
            <a:endParaRPr lang="en-US" sz="1100" dirty="0"/>
          </a:p>
        </p:txBody>
      </p:sp>
      <p:sp>
        <p:nvSpPr>
          <p:cNvPr id="49" name="Shape 46"/>
          <p:cNvSpPr/>
          <p:nvPr/>
        </p:nvSpPr>
        <p:spPr>
          <a:xfrm>
            <a:off x="4754880" y="3730752"/>
            <a:ext cx="4023360" cy="16459"/>
          </a:xfrm>
          <a:prstGeom prst="rect">
            <a:avLst/>
          </a:prstGeom>
          <a:solidFill>
            <a:srgbClr val="D1D5DB"/>
          </a:solidFill>
          <a:ln w="12700">
            <a:solidFill>
              <a:srgbClr val="D1D5DB"/>
            </a:solidFill>
            <a:prstDash val="solid"/>
          </a:ln>
        </p:spPr>
      </p:sp>
      <p:sp>
        <p:nvSpPr>
          <p:cNvPr id="50" name="Text 47"/>
          <p:cNvSpPr/>
          <p:nvPr/>
        </p:nvSpPr>
        <p:spPr>
          <a:xfrm>
            <a:off x="4754880" y="3822192"/>
            <a:ext cx="4023360" cy="274320"/>
          </a:xfrm>
          <a:prstGeom prst="rect">
            <a:avLst/>
          </a:prstGeom>
          <a:noFill/>
          <a:ln/>
        </p:spPr>
        <p:txBody>
          <a:bodyPr wrap="square" rtlCol="0" anchor="ctr"/>
          <a:lstStyle/>
          <a:p>
            <a:pPr indent="0" marL="0">
              <a:buNone/>
            </a:pPr>
            <a:r>
              <a:rPr lang="en-US" sz="1300" b="1" dirty="0">
                <a:solidFill>
                  <a:srgbClr val="0D1F3C"/>
                </a:solidFill>
                <a:latin typeface="Trebuchet MS" pitchFamily="34" charset="0"/>
                <a:ea typeface="Trebuchet MS" pitchFamily="34" charset="-122"/>
                <a:cs typeface="Trebuchet MS" pitchFamily="34" charset="-120"/>
              </a:rPr>
              <a:t>Hereford Johnson</a:t>
            </a:r>
            <a:endParaRPr lang="en-US" sz="1300" dirty="0"/>
          </a:p>
        </p:txBody>
      </p:sp>
      <p:sp>
        <p:nvSpPr>
          <p:cNvPr id="51" name="Text 48"/>
          <p:cNvSpPr/>
          <p:nvPr/>
        </p:nvSpPr>
        <p:spPr>
          <a:xfrm>
            <a:off x="4754880" y="4114800"/>
            <a:ext cx="4023360" cy="219456"/>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623-321-2542  ·  office@maddogcleaning.com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2026-05-28T23:52:13Z</dcterms:created>
  <dcterms:modified xsi:type="dcterms:W3CDTF">2026-05-28T23:52:13Z</dcterms:modified>
</cp:coreProperties>
</file>