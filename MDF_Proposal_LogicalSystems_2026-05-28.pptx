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mdf_logo_all_white.png">    </p:cNvPr>
          <p:cNvPicPr>
            <a:picLocks noChangeAspect="1"/>
          </p:cNvPicPr>
          <p:nvPr/>
        </p:nvPicPr>
        <p:blipFill>
          <a:blip r:embed="rId2"/>
          <a:srcRect l="0" r="0" t="0" b="0"/>
          <a:stretch/>
        </p:blipFill>
        <p:spPr>
          <a:xfrm>
            <a:off x="384048" y="274320"/>
            <a:ext cx="960120" cy="594360"/>
          </a:xfrm>
          <a:prstGeom prst="rect">
            <a:avLst/>
          </a:prstGeom>
        </p:spPr>
      </p:pic>
      <p:sp>
        <p:nvSpPr>
          <p:cNvPr id="3" name="Text 0"/>
          <p:cNvSpPr/>
          <p:nvPr/>
        </p:nvSpPr>
        <p:spPr>
          <a:xfrm>
            <a:off x="411480" y="3218688"/>
            <a:ext cx="4572000" cy="182880"/>
          </a:xfrm>
          <a:prstGeom prst="rect">
            <a:avLst/>
          </a:prstGeom>
          <a:noFill/>
          <a:ln/>
        </p:spPr>
        <p:txBody>
          <a:bodyPr wrap="square" lIns="0" tIns="0" rIns="0" bIns="0" rtlCol="0" anchor="ctr"/>
          <a:lstStyle/>
          <a:p>
            <a:pPr indent="0" marL="0">
              <a:buNone/>
            </a:pPr>
            <a:r>
              <a:rPr lang="en-US" sz="700" b="1" spc="350" kern="0" dirty="0">
                <a:solidFill>
                  <a:srgbClr val="A8B8CC"/>
                </a:solidFill>
                <a:latin typeface="Calibri" pitchFamily="34" charset="0"/>
                <a:ea typeface="Calibri" pitchFamily="34" charset="-122"/>
                <a:cs typeface="Calibri" pitchFamily="34" charset="-120"/>
              </a:rPr>
              <a:t>PREPARED FOR</a:t>
            </a:r>
            <a:endParaRPr lang="en-US" sz="700" dirty="0"/>
          </a:p>
        </p:txBody>
      </p:sp>
      <p:sp>
        <p:nvSpPr>
          <p:cNvPr id="4" name="Text 1"/>
          <p:cNvSpPr/>
          <p:nvPr/>
        </p:nvSpPr>
        <p:spPr>
          <a:xfrm>
            <a:off x="411480" y="3456432"/>
            <a:ext cx="6858000" cy="96012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Trebuchet MS" pitchFamily="34" charset="0"/>
                <a:ea typeface="Trebuchet MS" pitchFamily="34" charset="-122"/>
                <a:cs typeface="Trebuchet MS" pitchFamily="34" charset="-120"/>
              </a:rPr>
              <a:t>Logical Systems Inc.</a:t>
            </a:r>
            <a:endParaRPr lang="en-US" sz="3400" dirty="0"/>
          </a:p>
        </p:txBody>
      </p:sp>
      <p:sp>
        <p:nvSpPr>
          <p:cNvPr id="5" name="Shape 2"/>
          <p:cNvSpPr/>
          <p:nvPr/>
        </p:nvSpPr>
        <p:spPr>
          <a:xfrm>
            <a:off x="411480" y="4480560"/>
            <a:ext cx="3657600" cy="16459"/>
          </a:xfrm>
          <a:prstGeom prst="rect">
            <a:avLst/>
          </a:prstGeom>
          <a:solidFill>
            <a:srgbClr val="5A6A7A"/>
          </a:solidFill>
          <a:ln w="12700">
            <a:solidFill>
              <a:srgbClr val="5A6A7A"/>
            </a:solidFill>
            <a:prstDash val="solid"/>
          </a:ln>
        </p:spPr>
      </p:sp>
      <p:sp>
        <p:nvSpPr>
          <p:cNvPr id="6" name="Text 3"/>
          <p:cNvSpPr/>
          <p:nvPr/>
        </p:nvSpPr>
        <p:spPr>
          <a:xfrm>
            <a:off x="411480" y="4553712"/>
            <a:ext cx="8321040" cy="237744"/>
          </a:xfrm>
          <a:prstGeom prst="rect">
            <a:avLst/>
          </a:prstGeom>
          <a:noFill/>
          <a:ln/>
        </p:spPr>
        <p:txBody>
          <a:bodyPr wrap="square" lIns="0" tIns="0" rIns="0" bIns="0" rtlCol="0" anchor="ctr"/>
          <a:lstStyle/>
          <a:p>
            <a:pPr indent="0" marL="0">
              <a:buNone/>
            </a:pPr>
            <a:r>
              <a:rPr lang="en-US" sz="900" dirty="0">
                <a:solidFill>
                  <a:srgbClr val="8B9BAD"/>
                </a:solidFill>
                <a:latin typeface="Calibri" pitchFamily="34" charset="0"/>
                <a:ea typeface="Calibri" pitchFamily="34" charset="-122"/>
                <a:cs typeface="Calibri" pitchFamily="34" charset="-120"/>
              </a:rPr>
              <a:t>Facility Services Proposal  ·  April Bocox, Health and Safety Coordinator  ·  May 28,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WHY MAD DOG FACILITY PARTNERS</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2</a:t>
            </a:r>
            <a:endParaRPr lang="en-US" sz="800" dirty="0"/>
          </a:p>
        </p:txBody>
      </p:sp>
      <p:sp>
        <p:nvSpPr>
          <p:cNvPr id="5" name="Text 3"/>
          <p:cNvSpPr/>
          <p:nvPr/>
        </p:nvSpPr>
        <p:spPr>
          <a:xfrm>
            <a:off x="411480" y="347472"/>
            <a:ext cx="8321040" cy="438912"/>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 can choose any janitorial company.</a:t>
            </a:r>
            <a:endParaRPr lang="en-US" sz="2200" dirty="0"/>
          </a:p>
        </p:txBody>
      </p:sp>
      <p:sp>
        <p:nvSpPr>
          <p:cNvPr id="6" name="Text 4"/>
          <p:cNvSpPr/>
          <p:nvPr/>
        </p:nvSpPr>
        <p:spPr>
          <a:xfrm>
            <a:off x="411480" y="804672"/>
            <a:ext cx="7315200"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Here is why our clients stay for an average of 6 years.</a:t>
            </a:r>
            <a:endParaRPr lang="en-US" sz="1200" dirty="0"/>
          </a:p>
        </p:txBody>
      </p:sp>
      <p:sp>
        <p:nvSpPr>
          <p:cNvPr id="7" name="Shape 5"/>
          <p:cNvSpPr/>
          <p:nvPr/>
        </p:nvSpPr>
        <p:spPr>
          <a:xfrm>
            <a:off x="411480" y="1133856"/>
            <a:ext cx="8321040" cy="16459"/>
          </a:xfrm>
          <a:prstGeom prst="rect">
            <a:avLst/>
          </a:prstGeom>
          <a:solidFill>
            <a:srgbClr val="E5E7EB"/>
          </a:solidFill>
          <a:ln w="12700">
            <a:solidFill>
              <a:srgbClr val="E5E7EB"/>
            </a:solidFill>
            <a:prstDash val="solid"/>
          </a:ln>
        </p:spPr>
      </p:sp>
      <p:sp>
        <p:nvSpPr>
          <p:cNvPr id="8" name="Text 6"/>
          <p:cNvSpPr/>
          <p:nvPr/>
        </p:nvSpPr>
        <p:spPr>
          <a:xfrm>
            <a:off x="411480" y="1298448"/>
            <a:ext cx="2651760" cy="749808"/>
          </a:xfrm>
          <a:prstGeom prst="rect">
            <a:avLst/>
          </a:prstGeom>
          <a:noFill/>
          <a:ln/>
        </p:spPr>
        <p:txBody>
          <a:bodyPr wrap="square" lIns="0" tIns="0" rIns="0" bIns="0" rtlCol="0" anchor="ctr"/>
          <a:lstStyle/>
          <a:p>
            <a:pPr indent="0" marL="0">
              <a:buNone/>
            </a:pPr>
            <a:r>
              <a:rPr lang="en-US" sz="4200" b="1" dirty="0">
                <a:solidFill>
                  <a:srgbClr val="0D1F3C"/>
                </a:solidFill>
                <a:latin typeface="Trebuchet MS" pitchFamily="34" charset="0"/>
                <a:ea typeface="Trebuchet MS" pitchFamily="34" charset="-122"/>
                <a:cs typeface="Trebuchet MS" pitchFamily="34" charset="-120"/>
              </a:rPr>
              <a:t>92%+</a:t>
            </a:r>
            <a:endParaRPr lang="en-US" sz="4200" dirty="0"/>
          </a:p>
        </p:txBody>
      </p:sp>
      <p:sp>
        <p:nvSpPr>
          <p:cNvPr id="9" name="Text 7"/>
          <p:cNvSpPr/>
          <p:nvPr/>
        </p:nvSpPr>
        <p:spPr>
          <a:xfrm>
            <a:off x="411480" y="2048256"/>
            <a:ext cx="2651760" cy="201168"/>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avg. inspection score</a:t>
            </a:r>
            <a:endParaRPr lang="en-US" sz="850" dirty="0"/>
          </a:p>
        </p:txBody>
      </p:sp>
      <p:sp>
        <p:nvSpPr>
          <p:cNvPr id="10" name="Shape 8"/>
          <p:cNvSpPr/>
          <p:nvPr/>
        </p:nvSpPr>
        <p:spPr>
          <a:xfrm>
            <a:off x="411480" y="2304288"/>
            <a:ext cx="2560320" cy="16459"/>
          </a:xfrm>
          <a:prstGeom prst="rect">
            <a:avLst/>
          </a:prstGeom>
          <a:solidFill>
            <a:srgbClr val="E5E7EB"/>
          </a:solidFill>
          <a:ln w="12700">
            <a:solidFill>
              <a:srgbClr val="E5E7EB"/>
            </a:solidFill>
            <a:prstDash val="solid"/>
          </a:ln>
        </p:spPr>
      </p:sp>
      <p:sp>
        <p:nvSpPr>
          <p:cNvPr id="11" name="Text 9"/>
          <p:cNvSpPr/>
          <p:nvPr/>
        </p:nvSpPr>
        <p:spPr>
          <a:xfrm>
            <a:off x="411480" y="2423160"/>
            <a:ext cx="2651760" cy="411480"/>
          </a:xfrm>
          <a:prstGeom prst="rect">
            <a:avLst/>
          </a:prstGeom>
          <a:noFill/>
          <a:ln/>
        </p:spPr>
        <p:txBody>
          <a:bodyPr wrap="square" lIns="0" tIns="0" rIns="0" bIns="0" rtlCol="0" anchor="ctr"/>
          <a:lstStyle/>
          <a:p>
            <a:pPr indent="0" marL="0">
              <a:lnSpc>
                <a:spcPct val="110000"/>
              </a:lnSpc>
              <a:buNone/>
            </a:pPr>
            <a:r>
              <a:rPr lang="en-US" sz="1200" b="1" dirty="0">
                <a:solidFill>
                  <a:srgbClr val="374151"/>
                </a:solidFill>
                <a:latin typeface="Trebuchet MS" pitchFamily="34" charset="0"/>
                <a:ea typeface="Trebuchet MS" pitchFamily="34" charset="-122"/>
                <a:cs typeface="Trebuchet MS" pitchFamily="34" charset="-120"/>
              </a:rPr>
              <a:t>Real-Time Quality Assurance</a:t>
            </a:r>
            <a:endParaRPr lang="en-US" sz="1200" dirty="0"/>
          </a:p>
        </p:txBody>
      </p:sp>
      <p:sp>
        <p:nvSpPr>
          <p:cNvPr id="12" name="Text 10"/>
          <p:cNvSpPr/>
          <p:nvPr/>
        </p:nvSpPr>
        <p:spPr>
          <a:xfrm>
            <a:off x="411480" y="2871216"/>
            <a:ext cx="2651760" cy="141732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Every service tracked through a third-party inspection platform — GPS-logged, photo-documented, time-stamped. Scores shared with you after every visit. You never have to wonder if the work was done or how well.</a:t>
            </a:r>
            <a:endParaRPr lang="en-US" sz="1050" dirty="0"/>
          </a:p>
        </p:txBody>
      </p:sp>
      <p:sp>
        <p:nvSpPr>
          <p:cNvPr id="13" name="Shape 11"/>
          <p:cNvSpPr/>
          <p:nvPr/>
        </p:nvSpPr>
        <p:spPr>
          <a:xfrm>
            <a:off x="3108960" y="1298448"/>
            <a:ext cx="16459" cy="2999232"/>
          </a:xfrm>
          <a:prstGeom prst="rect">
            <a:avLst/>
          </a:prstGeom>
          <a:solidFill>
            <a:srgbClr val="E5E7EB"/>
          </a:solidFill>
          <a:ln w="12700">
            <a:solidFill>
              <a:srgbClr val="E5E7EB"/>
            </a:solidFill>
            <a:prstDash val="solid"/>
          </a:ln>
        </p:spPr>
      </p:sp>
      <p:sp>
        <p:nvSpPr>
          <p:cNvPr id="14" name="Text 12"/>
          <p:cNvSpPr/>
          <p:nvPr/>
        </p:nvSpPr>
        <p:spPr>
          <a:xfrm>
            <a:off x="3218688" y="1298448"/>
            <a:ext cx="2651760" cy="749808"/>
          </a:xfrm>
          <a:prstGeom prst="rect">
            <a:avLst/>
          </a:prstGeom>
          <a:noFill/>
          <a:ln/>
        </p:spPr>
        <p:txBody>
          <a:bodyPr wrap="square" lIns="0" tIns="0" rIns="0" bIns="0" rtlCol="0" anchor="ctr"/>
          <a:lstStyle/>
          <a:p>
            <a:pPr indent="0" marL="0">
              <a:buNone/>
            </a:pPr>
            <a:r>
              <a:rPr lang="en-US" sz="4200" b="1" dirty="0">
                <a:solidFill>
                  <a:srgbClr val="0D1F3C"/>
                </a:solidFill>
                <a:latin typeface="Trebuchet MS" pitchFamily="34" charset="0"/>
                <a:ea typeface="Trebuchet MS" pitchFamily="34" charset="-122"/>
                <a:cs typeface="Trebuchet MS" pitchFamily="34" charset="-120"/>
              </a:rPr>
              <a:t>&lt;24hr</a:t>
            </a:r>
            <a:endParaRPr lang="en-US" sz="4200" dirty="0"/>
          </a:p>
        </p:txBody>
      </p:sp>
      <p:sp>
        <p:nvSpPr>
          <p:cNvPr id="15" name="Text 13"/>
          <p:cNvSpPr/>
          <p:nvPr/>
        </p:nvSpPr>
        <p:spPr>
          <a:xfrm>
            <a:off x="3218688" y="2048256"/>
            <a:ext cx="2651760" cy="201168"/>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avg. resolution time</a:t>
            </a:r>
            <a:endParaRPr lang="en-US" sz="850" dirty="0"/>
          </a:p>
        </p:txBody>
      </p:sp>
      <p:sp>
        <p:nvSpPr>
          <p:cNvPr id="16" name="Shape 14"/>
          <p:cNvSpPr/>
          <p:nvPr/>
        </p:nvSpPr>
        <p:spPr>
          <a:xfrm>
            <a:off x="3218688" y="2304288"/>
            <a:ext cx="2560320" cy="16459"/>
          </a:xfrm>
          <a:prstGeom prst="rect">
            <a:avLst/>
          </a:prstGeom>
          <a:solidFill>
            <a:srgbClr val="E5E7EB"/>
          </a:solidFill>
          <a:ln w="12700">
            <a:solidFill>
              <a:srgbClr val="E5E7EB"/>
            </a:solidFill>
            <a:prstDash val="solid"/>
          </a:ln>
        </p:spPr>
      </p:sp>
      <p:sp>
        <p:nvSpPr>
          <p:cNvPr id="17" name="Text 15"/>
          <p:cNvSpPr/>
          <p:nvPr/>
        </p:nvSpPr>
        <p:spPr>
          <a:xfrm>
            <a:off x="3218688" y="2423160"/>
            <a:ext cx="2651760" cy="411480"/>
          </a:xfrm>
          <a:prstGeom prst="rect">
            <a:avLst/>
          </a:prstGeom>
          <a:noFill/>
          <a:ln/>
        </p:spPr>
        <p:txBody>
          <a:bodyPr wrap="square" lIns="0" tIns="0" rIns="0" bIns="0" rtlCol="0" anchor="ctr"/>
          <a:lstStyle/>
          <a:p>
            <a:pPr indent="0" marL="0">
              <a:lnSpc>
                <a:spcPct val="110000"/>
              </a:lnSpc>
              <a:buNone/>
            </a:pPr>
            <a:r>
              <a:rPr lang="en-US" sz="1200" b="1" dirty="0">
                <a:solidFill>
                  <a:srgbClr val="374151"/>
                </a:solidFill>
                <a:latin typeface="Trebuchet MS" pitchFamily="34" charset="0"/>
                <a:ea typeface="Trebuchet MS" pitchFamily="34" charset="-122"/>
                <a:cs typeface="Trebuchet MS" pitchFamily="34" charset="-120"/>
              </a:rPr>
              <a:t>Documented Service Resolution</a:t>
            </a:r>
            <a:endParaRPr lang="en-US" sz="1200" dirty="0"/>
          </a:p>
        </p:txBody>
      </p:sp>
      <p:sp>
        <p:nvSpPr>
          <p:cNvPr id="18" name="Text 16"/>
          <p:cNvSpPr/>
          <p:nvPr/>
        </p:nvSpPr>
        <p:spPr>
          <a:xfrm>
            <a:off x="3218688" y="2871216"/>
            <a:ext cx="2651760" cy="141732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Every flagged issue becomes a service ticket with photos, notes, and an assigned owner. Tracked from open to close. Nothing falls through — every response documented and time-stamped.</a:t>
            </a:r>
            <a:endParaRPr lang="en-US" sz="1050" dirty="0"/>
          </a:p>
        </p:txBody>
      </p:sp>
      <p:sp>
        <p:nvSpPr>
          <p:cNvPr id="19" name="Shape 17"/>
          <p:cNvSpPr/>
          <p:nvPr/>
        </p:nvSpPr>
        <p:spPr>
          <a:xfrm>
            <a:off x="5916168" y="1298448"/>
            <a:ext cx="16459" cy="2999232"/>
          </a:xfrm>
          <a:prstGeom prst="rect">
            <a:avLst/>
          </a:prstGeom>
          <a:solidFill>
            <a:srgbClr val="E5E7EB"/>
          </a:solidFill>
          <a:ln w="12700">
            <a:solidFill>
              <a:srgbClr val="E5E7EB"/>
            </a:solidFill>
            <a:prstDash val="solid"/>
          </a:ln>
        </p:spPr>
      </p:sp>
      <p:sp>
        <p:nvSpPr>
          <p:cNvPr id="20" name="Text 18"/>
          <p:cNvSpPr/>
          <p:nvPr/>
        </p:nvSpPr>
        <p:spPr>
          <a:xfrm>
            <a:off x="6025896" y="1298448"/>
            <a:ext cx="2651760" cy="749808"/>
          </a:xfrm>
          <a:prstGeom prst="rect">
            <a:avLst/>
          </a:prstGeom>
          <a:noFill/>
          <a:ln/>
        </p:spPr>
        <p:txBody>
          <a:bodyPr wrap="square" lIns="0" tIns="0" rIns="0" bIns="0" rtlCol="0" anchor="ctr"/>
          <a:lstStyle/>
          <a:p>
            <a:pPr indent="0" marL="0">
              <a:buNone/>
            </a:pPr>
            <a:r>
              <a:rPr lang="en-US" sz="4200" b="1" dirty="0">
                <a:solidFill>
                  <a:srgbClr val="0D1F3C"/>
                </a:solidFill>
                <a:latin typeface="Trebuchet MS" pitchFamily="34" charset="0"/>
                <a:ea typeface="Trebuchet MS" pitchFamily="34" charset="-122"/>
                <a:cs typeface="Trebuchet MS" pitchFamily="34" charset="-120"/>
              </a:rPr>
              <a:t>CEO</a:t>
            </a:r>
            <a:endParaRPr lang="en-US" sz="4200" dirty="0"/>
          </a:p>
        </p:txBody>
      </p:sp>
      <p:sp>
        <p:nvSpPr>
          <p:cNvPr id="21" name="Text 19"/>
          <p:cNvSpPr/>
          <p:nvPr/>
        </p:nvSpPr>
        <p:spPr>
          <a:xfrm>
            <a:off x="6025896" y="2048256"/>
            <a:ext cx="2651760" cy="201168"/>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is your primary contact</a:t>
            </a:r>
            <a:endParaRPr lang="en-US" sz="850" dirty="0"/>
          </a:p>
        </p:txBody>
      </p:sp>
      <p:sp>
        <p:nvSpPr>
          <p:cNvPr id="22" name="Shape 20"/>
          <p:cNvSpPr/>
          <p:nvPr/>
        </p:nvSpPr>
        <p:spPr>
          <a:xfrm>
            <a:off x="6025896" y="2304288"/>
            <a:ext cx="2560320" cy="16459"/>
          </a:xfrm>
          <a:prstGeom prst="rect">
            <a:avLst/>
          </a:prstGeom>
          <a:solidFill>
            <a:srgbClr val="E5E7EB"/>
          </a:solidFill>
          <a:ln w="12700">
            <a:solidFill>
              <a:srgbClr val="E5E7EB"/>
            </a:solidFill>
            <a:prstDash val="solid"/>
          </a:ln>
        </p:spPr>
      </p:sp>
      <p:sp>
        <p:nvSpPr>
          <p:cNvPr id="23" name="Text 21"/>
          <p:cNvSpPr/>
          <p:nvPr/>
        </p:nvSpPr>
        <p:spPr>
          <a:xfrm>
            <a:off x="6025896" y="2423160"/>
            <a:ext cx="2651760" cy="411480"/>
          </a:xfrm>
          <a:prstGeom prst="rect">
            <a:avLst/>
          </a:prstGeom>
          <a:noFill/>
          <a:ln/>
        </p:spPr>
        <p:txBody>
          <a:bodyPr wrap="square" lIns="0" tIns="0" rIns="0" bIns="0" rtlCol="0" anchor="ctr"/>
          <a:lstStyle/>
          <a:p>
            <a:pPr indent="0" marL="0">
              <a:lnSpc>
                <a:spcPct val="110000"/>
              </a:lnSpc>
              <a:buNone/>
            </a:pPr>
            <a:r>
              <a:rPr lang="en-US" sz="1200" b="1" dirty="0">
                <a:solidFill>
                  <a:srgbClr val="374151"/>
                </a:solidFill>
                <a:latin typeface="Trebuchet MS" pitchFamily="34" charset="0"/>
                <a:ea typeface="Trebuchet MS" pitchFamily="34" charset="-122"/>
                <a:cs typeface="Trebuchet MS" pitchFamily="34" charset="-120"/>
              </a:rPr>
              <a:t>Direct Executive Access</a:t>
            </a:r>
            <a:endParaRPr lang="en-US" sz="1200" dirty="0"/>
          </a:p>
        </p:txBody>
      </p:sp>
      <p:sp>
        <p:nvSpPr>
          <p:cNvPr id="24" name="Text 22"/>
          <p:cNvSpPr/>
          <p:nvPr/>
        </p:nvSpPr>
        <p:spPr>
          <a:xfrm>
            <a:off x="6025896" y="2871216"/>
            <a:ext cx="2651760" cy="141732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Hereford Johnson, US Air Force veteran and company founder, picks up the phone. No account managers, no call routing, no corporate layers between you and the person accountable for every service.</a:t>
            </a:r>
            <a:endParaRPr lang="en-US" sz="1050" dirty="0"/>
          </a:p>
        </p:txBody>
      </p:sp>
      <p:sp>
        <p:nvSpPr>
          <p:cNvPr id="25" name="Shape 23"/>
          <p:cNvSpPr/>
          <p:nvPr/>
        </p:nvSpPr>
        <p:spPr>
          <a:xfrm>
            <a:off x="411480" y="4334256"/>
            <a:ext cx="8321040" cy="16459"/>
          </a:xfrm>
          <a:prstGeom prst="rect">
            <a:avLst/>
          </a:prstGeom>
          <a:solidFill>
            <a:srgbClr val="E5E7EB"/>
          </a:solidFill>
          <a:ln w="12700">
            <a:solidFill>
              <a:srgbClr val="E5E7EB"/>
            </a:solidFill>
            <a:prstDash val="solid"/>
          </a:ln>
        </p:spPr>
      </p:sp>
      <p:sp>
        <p:nvSpPr>
          <p:cNvPr id="26" name="Text 24"/>
          <p:cNvSpPr/>
          <p:nvPr/>
        </p:nvSpPr>
        <p:spPr>
          <a:xfrm>
            <a:off x="411480" y="4407408"/>
            <a:ext cx="7132320" cy="38404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"We surveyed our clients on what we should do more of. The #1 answer was communication and integrity. We believe this is why our average client has been with us for 6 years."</a:t>
            </a:r>
            <a:endParaRPr lang="en-US" sz="950" dirty="0"/>
          </a:p>
        </p:txBody>
      </p:sp>
      <p:pic>
        <p:nvPicPr>
          <p:cNvPr id="27"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FACILITY</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3</a:t>
            </a:r>
            <a:endParaRPr lang="en-US" sz="800" dirty="0"/>
          </a:p>
        </p:txBody>
      </p:sp>
      <p:sp>
        <p:nvSpPr>
          <p:cNvPr id="5" name="Text 3"/>
          <p:cNvSpPr/>
          <p:nvPr/>
        </p:nvSpPr>
        <p:spPr>
          <a:xfrm>
            <a:off x="411480" y="347472"/>
            <a:ext cx="4937760" cy="658368"/>
          </a:xfrm>
          <a:prstGeom prst="rect">
            <a:avLst/>
          </a:prstGeom>
          <a:noFill/>
          <a:ln/>
        </p:spPr>
        <p:txBody>
          <a:bodyPr wrap="square" lIns="0" tIns="0" rIns="0" bIns="0" rtlCol="0" anchor="ctr"/>
          <a:lstStyle/>
          <a:p>
            <a:pPr indent="0" marL="0">
              <a:lnSpc>
                <a:spcPct val="105000"/>
              </a:lnSpc>
              <a:buNone/>
            </a:pPr>
            <a:r>
              <a:rPr lang="en-US" sz="2200" b="1" dirty="0">
                <a:solidFill>
                  <a:srgbClr val="0D1F3C"/>
                </a:solidFill>
                <a:latin typeface="Trebuchet MS" pitchFamily="34" charset="0"/>
                <a:ea typeface="Trebuchet MS" pitchFamily="34" charset="-122"/>
                <a:cs typeface="Trebuchet MS" pitchFamily="34" charset="-120"/>
              </a:rPr>
              <a:t>We built this for Logical Systems.</a:t>
            </a:r>
            <a:endParaRPr lang="en-US" sz="2200" dirty="0"/>
          </a:p>
        </p:txBody>
      </p:sp>
      <p:sp>
        <p:nvSpPr>
          <p:cNvPr id="6" name="Shape 4"/>
          <p:cNvSpPr/>
          <p:nvPr/>
        </p:nvSpPr>
        <p:spPr>
          <a:xfrm>
            <a:off x="411480" y="1078992"/>
            <a:ext cx="4846320" cy="16459"/>
          </a:xfrm>
          <a:prstGeom prst="rect">
            <a:avLst/>
          </a:prstGeom>
          <a:solidFill>
            <a:srgbClr val="E5E7EB"/>
          </a:solidFill>
          <a:ln w="12700">
            <a:solidFill>
              <a:srgbClr val="E5E7EB"/>
            </a:solidFill>
            <a:prstDash val="solid"/>
          </a:ln>
        </p:spPr>
      </p:sp>
      <p:sp>
        <p:nvSpPr>
          <p:cNvPr id="7" name="Text 5"/>
          <p:cNvSpPr/>
          <p:nvPr/>
        </p:nvSpPr>
        <p:spPr>
          <a:xfrm>
            <a:off x="411480" y="1207008"/>
            <a:ext cx="4846320" cy="868680"/>
          </a:xfrm>
          <a:prstGeom prst="rect">
            <a:avLst/>
          </a:prstGeom>
          <a:noFill/>
          <a:ln/>
        </p:spPr>
        <p:txBody>
          <a:bodyPr wrap="square" lIns="0" tIns="0" rIns="0" bIns="0" rtlCol="0" anchor="ctr"/>
          <a:lstStyle/>
          <a:p>
            <a:pPr indent="0" marL="0">
              <a:lnSpc>
                <a:spcPct val="140000"/>
              </a:lnSpc>
              <a:buNone/>
            </a:pPr>
            <a:r>
              <a:rPr lang="en-US" sz="1050" dirty="0">
                <a:solidFill>
                  <a:srgbClr val="6B7280"/>
                </a:solidFill>
                <a:latin typeface="Calibri" pitchFamily="34" charset="0"/>
                <a:ea typeface="Calibri" pitchFamily="34" charset="-122"/>
                <a:cs typeface="Calibri" pitchFamily="34" charset="-120"/>
              </a:rPr>
              <a:t>LSI operates manufacturing and industrial facilities where precision, compliance, and uptime are non-negotiable. Your environment demands cleaning that works around production schedules, protects sensitive controls equipment, and meets the documentation standards your own clients hold you to.</a:t>
            </a:r>
            <a:endParaRPr lang="en-US" sz="1050" dirty="0"/>
          </a:p>
        </p:txBody>
      </p:sp>
      <p:sp>
        <p:nvSpPr>
          <p:cNvPr id="8" name="Text 6"/>
          <p:cNvSpPr/>
          <p:nvPr/>
        </p:nvSpPr>
        <p:spPr>
          <a:xfrm>
            <a:off x="411480" y="2148840"/>
            <a:ext cx="4846320" cy="868680"/>
          </a:xfrm>
          <a:prstGeom prst="rect">
            <a:avLst/>
          </a:prstGeom>
          <a:noFill/>
          <a:ln/>
        </p:spPr>
        <p:txBody>
          <a:bodyPr wrap="square" lIns="0" tIns="0" rIns="0" bIns="0" rtlCol="0" anchor="ctr"/>
          <a:lstStyle/>
          <a:p>
            <a:pPr indent="0" marL="0">
              <a:lnSpc>
                <a:spcPct val="140000"/>
              </a:lnSpc>
              <a:buNone/>
            </a:pPr>
            <a:r>
              <a:rPr lang="en-US" sz="1050" dirty="0">
                <a:solidFill>
                  <a:srgbClr val="6B7280"/>
                </a:solidFill>
                <a:latin typeface="Calibri" pitchFamily="34" charset="0"/>
                <a:ea typeface="Calibri" pitchFamily="34" charset="-122"/>
                <a:cs typeface="Calibri" pitchFamily="34" charset="-120"/>
              </a:rPr>
              <a:t>MDF delivers compliance-ready facility services designed for automation and controls environments. We coordinate around your production calendar, document every service, and treat your facility with the same operational discipline your team applies to every project. When we say nothing gets missed, we have the inspection scores and service tickets to back it up.</a:t>
            </a:r>
            <a:endParaRPr lang="en-US" sz="1050" dirty="0"/>
          </a:p>
        </p:txBody>
      </p:sp>
      <p:sp>
        <p:nvSpPr>
          <p:cNvPr id="9" name="Shape 7"/>
          <p:cNvSpPr/>
          <p:nvPr/>
        </p:nvSpPr>
        <p:spPr>
          <a:xfrm>
            <a:off x="411480" y="3127248"/>
            <a:ext cx="4846320" cy="16459"/>
          </a:xfrm>
          <a:prstGeom prst="rect">
            <a:avLst/>
          </a:prstGeom>
          <a:solidFill>
            <a:srgbClr val="E5E7EB"/>
          </a:solidFill>
          <a:ln w="12700">
            <a:solidFill>
              <a:srgbClr val="E5E7EB"/>
            </a:solidFill>
            <a:prstDash val="solid"/>
          </a:ln>
        </p:spPr>
      </p:sp>
      <p:sp>
        <p:nvSpPr>
          <p:cNvPr id="10" name="Text 8"/>
          <p:cNvSpPr/>
          <p:nvPr/>
        </p:nvSpPr>
        <p:spPr>
          <a:xfrm>
            <a:off x="411480" y="3246120"/>
            <a:ext cx="4846320" cy="594360"/>
          </a:xfrm>
          <a:prstGeom prst="rect">
            <a:avLst/>
          </a:prstGeom>
          <a:noFill/>
          <a:ln/>
        </p:spPr>
        <p:txBody>
          <a:bodyPr wrap="square" lIns="0" tIns="0" rIns="0" bIns="0" rtlCol="0" anchor="ctr"/>
          <a:lstStyle/>
          <a:p>
            <a:pPr indent="0" marL="0">
              <a:lnSpc>
                <a:spcPct val="130000"/>
              </a:lnSpc>
              <a:buNone/>
            </a:pPr>
            <a:r>
              <a:rPr lang="en-US" sz="1100" i="1" dirty="0">
                <a:solidFill>
                  <a:srgbClr val="0D1F3C"/>
                </a:solidFill>
                <a:latin typeface="Calibri" pitchFamily="34" charset="0"/>
                <a:ea typeface="Calibri" pitchFamily="34" charset="-122"/>
                <a:cs typeface="Calibri" pitchFamily="34" charset="-120"/>
              </a:rPr>
              <a:t>"Your core values — service, integrity, and excellence — are the same values we build our teams around. That alignment isn't coincidental. It's why this partnership works."</a:t>
            </a:r>
            <a:endParaRPr lang="en-US" sz="1100" dirty="0"/>
          </a:p>
        </p:txBody>
      </p:sp>
      <p:sp>
        <p:nvSpPr>
          <p:cNvPr id="11" name="Text 9"/>
          <p:cNvSpPr/>
          <p:nvPr/>
        </p:nvSpPr>
        <p:spPr>
          <a:xfrm>
            <a:off x="411480" y="3895344"/>
            <a:ext cx="4846320" cy="201168"/>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 Hereford Johnson, CEO, Mad Dog Facility Partners</a:t>
            </a:r>
            <a:endParaRPr lang="en-US" sz="900" dirty="0"/>
          </a:p>
        </p:txBody>
      </p:sp>
      <p:sp>
        <p:nvSpPr>
          <p:cNvPr id="12" name="Shape 10"/>
          <p:cNvSpPr/>
          <p:nvPr/>
        </p:nvSpPr>
        <p:spPr>
          <a:xfrm>
            <a:off x="5577840" y="347472"/>
            <a:ext cx="16459" cy="4297680"/>
          </a:xfrm>
          <a:prstGeom prst="rect">
            <a:avLst/>
          </a:prstGeom>
          <a:solidFill>
            <a:srgbClr val="E5E7EB"/>
          </a:solidFill>
          <a:ln w="12700">
            <a:solidFill>
              <a:srgbClr val="E5E7EB"/>
            </a:solidFill>
            <a:prstDash val="solid"/>
          </a:ln>
        </p:spPr>
      </p:sp>
      <p:sp>
        <p:nvSpPr>
          <p:cNvPr id="13" name="Text 11"/>
          <p:cNvSpPr/>
          <p:nvPr/>
        </p:nvSpPr>
        <p:spPr>
          <a:xfrm>
            <a:off x="5760720" y="411480"/>
            <a:ext cx="2971800" cy="182880"/>
          </a:xfrm>
          <a:prstGeom prst="rect">
            <a:avLst/>
          </a:prstGeom>
          <a:noFill/>
          <a:ln/>
        </p:spPr>
        <p:txBody>
          <a:bodyPr wrap="square" lIns="0" tIns="0" rIns="0" bIns="0" rtlCol="0" anchor="ctr"/>
          <a:lstStyle/>
          <a:p>
            <a:pPr indent="0" marL="0">
              <a:buNone/>
            </a:pPr>
            <a:r>
              <a:rPr lang="en-US" sz="700" b="1" spc="300" kern="0" dirty="0">
                <a:solidFill>
                  <a:srgbClr val="9CA3AF"/>
                </a:solidFill>
                <a:latin typeface="Calibri" pitchFamily="34" charset="0"/>
                <a:ea typeface="Calibri" pitchFamily="34" charset="-122"/>
                <a:cs typeface="Calibri" pitchFamily="34" charset="-120"/>
              </a:rPr>
              <a:t>INDUSTRY TYPE</a:t>
            </a:r>
            <a:endParaRPr lang="en-US" sz="700" dirty="0"/>
          </a:p>
        </p:txBody>
      </p:sp>
      <p:sp>
        <p:nvSpPr>
          <p:cNvPr id="14" name="Text 12"/>
          <p:cNvSpPr/>
          <p:nvPr/>
        </p:nvSpPr>
        <p:spPr>
          <a:xfrm>
            <a:off x="5760720" y="630936"/>
            <a:ext cx="2971800" cy="749808"/>
          </a:xfrm>
          <a:prstGeom prst="rect">
            <a:avLst/>
          </a:prstGeom>
          <a:noFill/>
          <a:ln/>
        </p:spPr>
        <p:txBody>
          <a:bodyPr wrap="square" lIns="0" tIns="0" rIns="0" bIns="0" rtlCol="0" anchor="ctr"/>
          <a:lstStyle/>
          <a:p>
            <a:pPr indent="0" marL="0">
              <a:lnSpc>
                <a:spcPct val="105000"/>
              </a:lnSpc>
              <a:buNone/>
            </a:pPr>
            <a:r>
              <a:rPr lang="en-US" sz="1800" b="1" dirty="0">
                <a:solidFill>
                  <a:srgbClr val="0D1F3C"/>
                </a:solidFill>
                <a:latin typeface="Trebuchet MS" pitchFamily="34" charset="0"/>
                <a:ea typeface="Trebuchet MS" pitchFamily="34" charset="-122"/>
                <a:cs typeface="Trebuchet MS" pitchFamily="34" charset="-120"/>
              </a:rPr>
              <a:t>Manufacturing / Automation Controls</a:t>
            </a:r>
            <a:endParaRPr lang="en-US" sz="1800" dirty="0"/>
          </a:p>
        </p:txBody>
      </p:sp>
      <p:sp>
        <p:nvSpPr>
          <p:cNvPr id="15" name="Shape 13"/>
          <p:cNvSpPr/>
          <p:nvPr/>
        </p:nvSpPr>
        <p:spPr>
          <a:xfrm>
            <a:off x="5760720" y="1673352"/>
            <a:ext cx="2926080" cy="16459"/>
          </a:xfrm>
          <a:prstGeom prst="rect">
            <a:avLst/>
          </a:prstGeom>
          <a:solidFill>
            <a:srgbClr val="E5E7EB"/>
          </a:solidFill>
          <a:ln w="12700">
            <a:solidFill>
              <a:srgbClr val="E5E7EB"/>
            </a:solidFill>
            <a:prstDash val="solid"/>
          </a:ln>
        </p:spPr>
      </p:sp>
      <p:sp>
        <p:nvSpPr>
          <p:cNvPr id="16" name="Text 14"/>
          <p:cNvSpPr/>
          <p:nvPr/>
        </p:nvSpPr>
        <p:spPr>
          <a:xfrm>
            <a:off x="5760720" y="1801368"/>
            <a:ext cx="2971800" cy="182880"/>
          </a:xfrm>
          <a:prstGeom prst="rect">
            <a:avLst/>
          </a:prstGeom>
          <a:noFill/>
          <a:ln/>
        </p:spPr>
        <p:txBody>
          <a:bodyPr wrap="square" lIns="0" tIns="0" rIns="0" bIns="0" rtlCol="0" anchor="ctr"/>
          <a:lstStyle/>
          <a:p>
            <a:pPr indent="0" marL="0">
              <a:buNone/>
            </a:pPr>
            <a:r>
              <a:rPr lang="en-US" sz="700" b="1" spc="300" kern="0" dirty="0">
                <a:solidFill>
                  <a:srgbClr val="9CA3AF"/>
                </a:solidFill>
                <a:latin typeface="Calibri" pitchFamily="34" charset="0"/>
                <a:ea typeface="Calibri" pitchFamily="34" charset="-122"/>
                <a:cs typeface="Calibri" pitchFamily="34" charset="-120"/>
              </a:rPr>
              <a:t>FACILITY PROFILE</a:t>
            </a:r>
            <a:endParaRPr lang="en-US" sz="700" dirty="0"/>
          </a:p>
        </p:txBody>
      </p:sp>
      <p:sp>
        <p:nvSpPr>
          <p:cNvPr id="17" name="Text 15"/>
          <p:cNvSpPr/>
          <p:nvPr/>
        </p:nvSpPr>
        <p:spPr>
          <a:xfrm>
            <a:off x="5760720" y="2020824"/>
            <a:ext cx="2971800" cy="749808"/>
          </a:xfrm>
          <a:prstGeom prst="rect">
            <a:avLst/>
          </a:prstGeom>
          <a:noFill/>
          <a:ln/>
        </p:spPr>
        <p:txBody>
          <a:bodyPr wrap="square" lIns="0" tIns="0" rIns="0" bIns="0" rtlCol="0" anchor="ctr"/>
          <a:lstStyle/>
          <a:p>
            <a:pPr indent="0" marL="0">
              <a:lnSpc>
                <a:spcPct val="105000"/>
              </a:lnSpc>
              <a:buNone/>
            </a:pPr>
            <a:r>
              <a:rPr lang="en-US" sz="1800" b="1" dirty="0">
                <a:solidFill>
                  <a:srgbClr val="0D1F3C"/>
                </a:solidFill>
                <a:latin typeface="Trebuchet MS" pitchFamily="34" charset="0"/>
                <a:ea typeface="Trebuchet MS" pitchFamily="34" charset="-122"/>
                <a:cs typeface="Trebuchet MS" pitchFamily="34" charset="-120"/>
              </a:rPr>
              <a:t>Controls Integrator Since 1985</a:t>
            </a:r>
            <a:endParaRPr lang="en-US" sz="1800" dirty="0"/>
          </a:p>
        </p:txBody>
      </p:sp>
      <p:sp>
        <p:nvSpPr>
          <p:cNvPr id="18" name="Shape 16"/>
          <p:cNvSpPr/>
          <p:nvPr/>
        </p:nvSpPr>
        <p:spPr>
          <a:xfrm>
            <a:off x="5760720" y="3063240"/>
            <a:ext cx="2926080" cy="16459"/>
          </a:xfrm>
          <a:prstGeom prst="rect">
            <a:avLst/>
          </a:prstGeom>
          <a:solidFill>
            <a:srgbClr val="E5E7EB"/>
          </a:solidFill>
          <a:ln w="12700">
            <a:solidFill>
              <a:srgbClr val="E5E7EB"/>
            </a:solidFill>
            <a:prstDash val="solid"/>
          </a:ln>
        </p:spPr>
      </p:sp>
      <p:sp>
        <p:nvSpPr>
          <p:cNvPr id="19" name="Text 17"/>
          <p:cNvSpPr/>
          <p:nvPr/>
        </p:nvSpPr>
        <p:spPr>
          <a:xfrm>
            <a:off x="5760720" y="3191256"/>
            <a:ext cx="2971800" cy="182880"/>
          </a:xfrm>
          <a:prstGeom prst="rect">
            <a:avLst/>
          </a:prstGeom>
          <a:noFill/>
          <a:ln/>
        </p:spPr>
        <p:txBody>
          <a:bodyPr wrap="square" lIns="0" tIns="0" rIns="0" bIns="0" rtlCol="0" anchor="ctr"/>
          <a:lstStyle/>
          <a:p>
            <a:pPr indent="0" marL="0">
              <a:buNone/>
            </a:pPr>
            <a:r>
              <a:rPr lang="en-US" sz="700" b="1" spc="300" kern="0" dirty="0">
                <a:solidFill>
                  <a:srgbClr val="9CA3AF"/>
                </a:solidFill>
                <a:latin typeface="Calibri" pitchFamily="34" charset="0"/>
                <a:ea typeface="Calibri" pitchFamily="34" charset="-122"/>
                <a:cs typeface="Calibri" pitchFamily="34" charset="-120"/>
              </a:rPr>
              <a:t>COMPLIANCE CONTEXT</a:t>
            </a:r>
            <a:endParaRPr lang="en-US" sz="700" dirty="0"/>
          </a:p>
        </p:txBody>
      </p:sp>
      <p:sp>
        <p:nvSpPr>
          <p:cNvPr id="20" name="Text 18"/>
          <p:cNvSpPr/>
          <p:nvPr/>
        </p:nvSpPr>
        <p:spPr>
          <a:xfrm>
            <a:off x="5760720" y="3410712"/>
            <a:ext cx="2971800" cy="749808"/>
          </a:xfrm>
          <a:prstGeom prst="rect">
            <a:avLst/>
          </a:prstGeom>
          <a:noFill/>
          <a:ln/>
        </p:spPr>
        <p:txBody>
          <a:bodyPr wrap="square" lIns="0" tIns="0" rIns="0" bIns="0" rtlCol="0" anchor="ctr"/>
          <a:lstStyle/>
          <a:p>
            <a:pPr indent="0" marL="0">
              <a:lnSpc>
                <a:spcPct val="105000"/>
              </a:lnSpc>
              <a:buNone/>
            </a:pPr>
            <a:r>
              <a:rPr lang="en-US" sz="1800" b="1" dirty="0">
                <a:solidFill>
                  <a:srgbClr val="0D1F3C"/>
                </a:solidFill>
                <a:latin typeface="Trebuchet MS" pitchFamily="34" charset="0"/>
                <a:ea typeface="Trebuchet MS" pitchFamily="34" charset="-122"/>
                <a:cs typeface="Trebuchet MS" pitchFamily="34" charset="-120"/>
              </a:rPr>
              <a:t>OSHA / Production-Grade</a:t>
            </a:r>
            <a:endParaRPr lang="en-US" sz="1800" dirty="0"/>
          </a:p>
        </p:txBody>
      </p:sp>
      <p:pic>
        <p:nvPicPr>
          <p:cNvPr id="21"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SCOPE OF WORK</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4</a:t>
            </a:r>
            <a:endParaRPr lang="en-US" sz="800" dirty="0"/>
          </a:p>
        </p:txBody>
      </p:sp>
      <p:sp>
        <p:nvSpPr>
          <p:cNvPr id="5" name="Text 3"/>
          <p:cNvSpPr/>
          <p:nvPr/>
        </p:nvSpPr>
        <p:spPr>
          <a:xfrm>
            <a:off x="411480" y="347472"/>
            <a:ext cx="7315200" cy="420624"/>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Your Facility. Your Scope.</a:t>
            </a:r>
            <a:endParaRPr lang="en-US" sz="2200" dirty="0"/>
          </a:p>
        </p:txBody>
      </p:sp>
      <p:sp>
        <p:nvSpPr>
          <p:cNvPr id="6" name="Text 4"/>
          <p:cNvSpPr/>
          <p:nvPr/>
        </p:nvSpPr>
        <p:spPr>
          <a:xfrm>
            <a:off x="411480" y="804672"/>
            <a:ext cx="7315200"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Weekly service  ·  Start July 1, 2026  ·  Month-to-Month  ·  30-Day Notice</a:t>
            </a:r>
            <a:endParaRPr lang="en-US" sz="1050" dirty="0"/>
          </a:p>
        </p:txBody>
      </p:sp>
      <p:sp>
        <p:nvSpPr>
          <p:cNvPr id="7" name="Shape 5"/>
          <p:cNvSpPr/>
          <p:nvPr/>
        </p:nvSpPr>
        <p:spPr>
          <a:xfrm>
            <a:off x="411480" y="1078992"/>
            <a:ext cx="8321040" cy="16459"/>
          </a:xfrm>
          <a:prstGeom prst="rect">
            <a:avLst/>
          </a:prstGeom>
          <a:solidFill>
            <a:srgbClr val="E5E7EB"/>
          </a:solidFill>
          <a:ln w="12700">
            <a:solidFill>
              <a:srgbClr val="E5E7EB"/>
            </a:solidFill>
            <a:prstDash val="solid"/>
          </a:ln>
        </p:spPr>
      </p:sp>
      <p:sp>
        <p:nvSpPr>
          <p:cNvPr id="8" name="Shape 6"/>
          <p:cNvSpPr/>
          <p:nvPr/>
        </p:nvSpPr>
        <p:spPr>
          <a:xfrm>
            <a:off x="411480" y="1133856"/>
            <a:ext cx="8321040" cy="1060704"/>
          </a:xfrm>
          <a:prstGeom prst="rect">
            <a:avLst/>
          </a:prstGeom>
          <a:solidFill>
            <a:srgbClr val="F0F4FF"/>
          </a:solidFill>
          <a:ln w="12700">
            <a:solidFill>
              <a:srgbClr val="E5E7EB"/>
            </a:solidFill>
            <a:prstDash val="solid"/>
          </a:ln>
        </p:spPr>
      </p:sp>
      <p:sp>
        <p:nvSpPr>
          <p:cNvPr id="9" name="Text 7"/>
          <p:cNvSpPr/>
          <p:nvPr/>
        </p:nvSpPr>
        <p:spPr>
          <a:xfrm>
            <a:off x="566928" y="1225296"/>
            <a:ext cx="1371600" cy="201168"/>
          </a:xfrm>
          <a:prstGeom prst="rect">
            <a:avLst/>
          </a:prstGeom>
          <a:noFill/>
          <a:ln/>
        </p:spPr>
        <p:txBody>
          <a:bodyPr wrap="square" lIns="0" tIns="0" rIns="0" bIns="0" rtlCol="0" anchor="ctr"/>
          <a:lstStyle/>
          <a:p>
            <a:pPr indent="0" marL="0">
              <a:buNone/>
            </a:pPr>
            <a:r>
              <a:rPr lang="en-US" sz="750" b="1" spc="200" kern="0" dirty="0">
                <a:solidFill>
                  <a:srgbClr val="0D1F3C"/>
                </a:solidFill>
                <a:latin typeface="Calibri" pitchFamily="34" charset="0"/>
                <a:ea typeface="Calibri" pitchFamily="34" charset="-122"/>
                <a:cs typeface="Calibri" pitchFamily="34" charset="-120"/>
              </a:rPr>
              <a:t>WEEKLY</a:t>
            </a:r>
            <a:endParaRPr lang="en-US" sz="750" dirty="0"/>
          </a:p>
        </p:txBody>
      </p:sp>
      <p:sp>
        <p:nvSpPr>
          <p:cNvPr id="10" name="Shape 8"/>
          <p:cNvSpPr/>
          <p:nvPr/>
        </p:nvSpPr>
        <p:spPr>
          <a:xfrm>
            <a:off x="566928" y="1444752"/>
            <a:ext cx="8001000" cy="16459"/>
          </a:xfrm>
          <a:prstGeom prst="rect">
            <a:avLst/>
          </a:prstGeom>
          <a:solidFill>
            <a:srgbClr val="D1D5DB"/>
          </a:solidFill>
          <a:ln w="12700">
            <a:solidFill>
              <a:srgbClr val="D1D5DB"/>
            </a:solidFill>
            <a:prstDash val="solid"/>
          </a:ln>
        </p:spPr>
      </p:sp>
      <p:sp>
        <p:nvSpPr>
          <p:cNvPr id="11" name="Shape 9"/>
          <p:cNvSpPr/>
          <p:nvPr/>
        </p:nvSpPr>
        <p:spPr>
          <a:xfrm>
            <a:off x="566928" y="1554480"/>
            <a:ext cx="36576" cy="201168"/>
          </a:xfrm>
          <a:prstGeom prst="rect">
            <a:avLst/>
          </a:prstGeom>
          <a:solidFill>
            <a:srgbClr val="0D1F3C"/>
          </a:solidFill>
          <a:ln w="12700">
            <a:solidFill>
              <a:srgbClr val="0D1F3C"/>
            </a:solidFill>
            <a:prstDash val="solid"/>
          </a:ln>
        </p:spPr>
      </p:sp>
      <p:sp>
        <p:nvSpPr>
          <p:cNvPr id="12" name="Text 10"/>
          <p:cNvSpPr/>
          <p:nvPr/>
        </p:nvSpPr>
        <p:spPr>
          <a:xfrm>
            <a:off x="694944" y="1517904"/>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Restrooms (3): sanitize &amp; disinfect all fixtures</a:t>
            </a:r>
            <a:endParaRPr lang="en-US" sz="1000" dirty="0"/>
          </a:p>
        </p:txBody>
      </p:sp>
      <p:sp>
        <p:nvSpPr>
          <p:cNvPr id="13" name="Text 11"/>
          <p:cNvSpPr/>
          <p:nvPr/>
        </p:nvSpPr>
        <p:spPr>
          <a:xfrm>
            <a:off x="3749040" y="1517904"/>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14" name="Shape 12"/>
          <p:cNvSpPr/>
          <p:nvPr/>
        </p:nvSpPr>
        <p:spPr>
          <a:xfrm>
            <a:off x="566928" y="1684325"/>
            <a:ext cx="36576" cy="201168"/>
          </a:xfrm>
          <a:prstGeom prst="rect">
            <a:avLst/>
          </a:prstGeom>
          <a:solidFill>
            <a:srgbClr val="0D1F3C"/>
          </a:solidFill>
          <a:ln w="12700">
            <a:solidFill>
              <a:srgbClr val="0D1F3C"/>
            </a:solidFill>
            <a:prstDash val="solid"/>
          </a:ln>
        </p:spPr>
      </p:sp>
      <p:sp>
        <p:nvSpPr>
          <p:cNvPr id="15" name="Text 13"/>
          <p:cNvSpPr/>
          <p:nvPr/>
        </p:nvSpPr>
        <p:spPr>
          <a:xfrm>
            <a:off x="694944" y="1647749"/>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Restrooms: mop &amp; disinfect floors, clean mirrors</a:t>
            </a:r>
            <a:endParaRPr lang="en-US" sz="1000" dirty="0"/>
          </a:p>
        </p:txBody>
      </p:sp>
      <p:sp>
        <p:nvSpPr>
          <p:cNvPr id="16" name="Text 14"/>
          <p:cNvSpPr/>
          <p:nvPr/>
        </p:nvSpPr>
        <p:spPr>
          <a:xfrm>
            <a:off x="3749040" y="1647749"/>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17" name="Shape 15"/>
          <p:cNvSpPr/>
          <p:nvPr/>
        </p:nvSpPr>
        <p:spPr>
          <a:xfrm>
            <a:off x="566928" y="1814170"/>
            <a:ext cx="36576" cy="201168"/>
          </a:xfrm>
          <a:prstGeom prst="rect">
            <a:avLst/>
          </a:prstGeom>
          <a:solidFill>
            <a:srgbClr val="0D1F3C"/>
          </a:solidFill>
          <a:ln w="12700">
            <a:solidFill>
              <a:srgbClr val="0D1F3C"/>
            </a:solidFill>
            <a:prstDash val="solid"/>
          </a:ln>
        </p:spPr>
      </p:sp>
      <p:sp>
        <p:nvSpPr>
          <p:cNvPr id="18" name="Text 16"/>
          <p:cNvSpPr/>
          <p:nvPr/>
        </p:nvSpPr>
        <p:spPr>
          <a:xfrm>
            <a:off x="694944" y="1777594"/>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Office mopping, sweeping &amp; vacuuming</a:t>
            </a:r>
            <a:endParaRPr lang="en-US" sz="1000" dirty="0"/>
          </a:p>
        </p:txBody>
      </p:sp>
      <p:sp>
        <p:nvSpPr>
          <p:cNvPr id="19" name="Text 17"/>
          <p:cNvSpPr/>
          <p:nvPr/>
        </p:nvSpPr>
        <p:spPr>
          <a:xfrm>
            <a:off x="3749040" y="1777594"/>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20" name="Shape 18"/>
          <p:cNvSpPr/>
          <p:nvPr/>
        </p:nvSpPr>
        <p:spPr>
          <a:xfrm>
            <a:off x="566928" y="1944014"/>
            <a:ext cx="36576" cy="201168"/>
          </a:xfrm>
          <a:prstGeom prst="rect">
            <a:avLst/>
          </a:prstGeom>
          <a:solidFill>
            <a:srgbClr val="0D1F3C"/>
          </a:solidFill>
          <a:ln w="12700">
            <a:solidFill>
              <a:srgbClr val="0D1F3C"/>
            </a:solidFill>
            <a:prstDash val="solid"/>
          </a:ln>
        </p:spPr>
      </p:sp>
      <p:sp>
        <p:nvSpPr>
          <p:cNvPr id="21" name="Text 19"/>
          <p:cNvSpPr/>
          <p:nvPr/>
        </p:nvSpPr>
        <p:spPr>
          <a:xfrm>
            <a:off x="694944" y="1907438"/>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General dusting — all areas</a:t>
            </a:r>
            <a:endParaRPr lang="en-US" sz="1000" dirty="0"/>
          </a:p>
        </p:txBody>
      </p:sp>
      <p:sp>
        <p:nvSpPr>
          <p:cNvPr id="22" name="Text 20"/>
          <p:cNvSpPr/>
          <p:nvPr/>
        </p:nvSpPr>
        <p:spPr>
          <a:xfrm>
            <a:off x="3749040" y="1907438"/>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23" name="Shape 21"/>
          <p:cNvSpPr/>
          <p:nvPr/>
        </p:nvSpPr>
        <p:spPr>
          <a:xfrm>
            <a:off x="566928" y="2073859"/>
            <a:ext cx="36576" cy="201168"/>
          </a:xfrm>
          <a:prstGeom prst="rect">
            <a:avLst/>
          </a:prstGeom>
          <a:solidFill>
            <a:srgbClr val="0D1F3C"/>
          </a:solidFill>
          <a:ln w="12700">
            <a:solidFill>
              <a:srgbClr val="0D1F3C"/>
            </a:solidFill>
            <a:prstDash val="solid"/>
          </a:ln>
        </p:spPr>
      </p:sp>
      <p:sp>
        <p:nvSpPr>
          <p:cNvPr id="24" name="Text 22"/>
          <p:cNvSpPr/>
          <p:nvPr/>
        </p:nvSpPr>
        <p:spPr>
          <a:xfrm>
            <a:off x="694944" y="2037283"/>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Front glass cleaning</a:t>
            </a:r>
            <a:endParaRPr lang="en-US" sz="1000" dirty="0"/>
          </a:p>
        </p:txBody>
      </p:sp>
      <p:sp>
        <p:nvSpPr>
          <p:cNvPr id="25" name="Text 23"/>
          <p:cNvSpPr/>
          <p:nvPr/>
        </p:nvSpPr>
        <p:spPr>
          <a:xfrm>
            <a:off x="3749040" y="2037283"/>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26" name="Shape 24"/>
          <p:cNvSpPr/>
          <p:nvPr/>
        </p:nvSpPr>
        <p:spPr>
          <a:xfrm>
            <a:off x="4663440" y="1554480"/>
            <a:ext cx="36576" cy="201168"/>
          </a:xfrm>
          <a:prstGeom prst="rect">
            <a:avLst/>
          </a:prstGeom>
          <a:solidFill>
            <a:srgbClr val="0D1F3C"/>
          </a:solidFill>
          <a:ln w="12700">
            <a:solidFill>
              <a:srgbClr val="0D1F3C"/>
            </a:solidFill>
            <a:prstDash val="solid"/>
          </a:ln>
        </p:spPr>
      </p:sp>
      <p:sp>
        <p:nvSpPr>
          <p:cNvPr id="27" name="Text 25"/>
          <p:cNvSpPr/>
          <p:nvPr/>
        </p:nvSpPr>
        <p:spPr>
          <a:xfrm>
            <a:off x="4791456" y="1517904"/>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Break room countertops, tables &amp; chairs</a:t>
            </a:r>
            <a:endParaRPr lang="en-US" sz="1000" dirty="0"/>
          </a:p>
        </p:txBody>
      </p:sp>
      <p:sp>
        <p:nvSpPr>
          <p:cNvPr id="28" name="Text 26"/>
          <p:cNvSpPr/>
          <p:nvPr/>
        </p:nvSpPr>
        <p:spPr>
          <a:xfrm>
            <a:off x="7909560" y="1517904"/>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29" name="Shape 27"/>
          <p:cNvSpPr/>
          <p:nvPr/>
        </p:nvSpPr>
        <p:spPr>
          <a:xfrm>
            <a:off x="4663440" y="1684325"/>
            <a:ext cx="36576" cy="201168"/>
          </a:xfrm>
          <a:prstGeom prst="rect">
            <a:avLst/>
          </a:prstGeom>
          <a:solidFill>
            <a:srgbClr val="0D1F3C"/>
          </a:solidFill>
          <a:ln w="12700">
            <a:solidFill>
              <a:srgbClr val="0D1F3C"/>
            </a:solidFill>
            <a:prstDash val="solid"/>
          </a:ln>
        </p:spPr>
      </p:sp>
      <p:sp>
        <p:nvSpPr>
          <p:cNvPr id="30" name="Text 28"/>
          <p:cNvSpPr/>
          <p:nvPr/>
        </p:nvSpPr>
        <p:spPr>
          <a:xfrm>
            <a:off x="4791456" y="1647749"/>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Microwave — inside &amp; outside</a:t>
            </a:r>
            <a:endParaRPr lang="en-US" sz="1000" dirty="0"/>
          </a:p>
        </p:txBody>
      </p:sp>
      <p:sp>
        <p:nvSpPr>
          <p:cNvPr id="31" name="Text 29"/>
          <p:cNvSpPr/>
          <p:nvPr/>
        </p:nvSpPr>
        <p:spPr>
          <a:xfrm>
            <a:off x="7909560" y="1647749"/>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32" name="Shape 30"/>
          <p:cNvSpPr/>
          <p:nvPr/>
        </p:nvSpPr>
        <p:spPr>
          <a:xfrm>
            <a:off x="4663440" y="1814170"/>
            <a:ext cx="36576" cy="201168"/>
          </a:xfrm>
          <a:prstGeom prst="rect">
            <a:avLst/>
          </a:prstGeom>
          <a:solidFill>
            <a:srgbClr val="0D1F3C"/>
          </a:solidFill>
          <a:ln w="12700">
            <a:solidFill>
              <a:srgbClr val="0D1F3C"/>
            </a:solidFill>
            <a:prstDash val="solid"/>
          </a:ln>
        </p:spPr>
      </p:sp>
      <p:sp>
        <p:nvSpPr>
          <p:cNvPr id="33" name="Text 31"/>
          <p:cNvSpPr/>
          <p:nvPr/>
        </p:nvSpPr>
        <p:spPr>
          <a:xfrm>
            <a:off x="4791456" y="1777594"/>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Refrigerator &amp; water machine exterior</a:t>
            </a:r>
            <a:endParaRPr lang="en-US" sz="1000" dirty="0"/>
          </a:p>
        </p:txBody>
      </p:sp>
      <p:sp>
        <p:nvSpPr>
          <p:cNvPr id="34" name="Text 32"/>
          <p:cNvSpPr/>
          <p:nvPr/>
        </p:nvSpPr>
        <p:spPr>
          <a:xfrm>
            <a:off x="7909560" y="1777594"/>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35" name="Shape 33"/>
          <p:cNvSpPr/>
          <p:nvPr/>
        </p:nvSpPr>
        <p:spPr>
          <a:xfrm>
            <a:off x="4663440" y="1944014"/>
            <a:ext cx="36576" cy="201168"/>
          </a:xfrm>
          <a:prstGeom prst="rect">
            <a:avLst/>
          </a:prstGeom>
          <a:solidFill>
            <a:srgbClr val="0D1F3C"/>
          </a:solidFill>
          <a:ln w="12700">
            <a:solidFill>
              <a:srgbClr val="0D1F3C"/>
            </a:solidFill>
            <a:prstDash val="solid"/>
          </a:ln>
        </p:spPr>
      </p:sp>
      <p:sp>
        <p:nvSpPr>
          <p:cNvPr id="36" name="Text 34"/>
          <p:cNvSpPr/>
          <p:nvPr/>
        </p:nvSpPr>
        <p:spPr>
          <a:xfrm>
            <a:off x="4791456" y="1907438"/>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Kitchen area full wipe-down</a:t>
            </a:r>
            <a:endParaRPr lang="en-US" sz="1000" dirty="0"/>
          </a:p>
        </p:txBody>
      </p:sp>
      <p:sp>
        <p:nvSpPr>
          <p:cNvPr id="37" name="Text 35"/>
          <p:cNvSpPr/>
          <p:nvPr/>
        </p:nvSpPr>
        <p:spPr>
          <a:xfrm>
            <a:off x="7909560" y="1907438"/>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38" name="Shape 36"/>
          <p:cNvSpPr/>
          <p:nvPr/>
        </p:nvSpPr>
        <p:spPr>
          <a:xfrm>
            <a:off x="4663440" y="2073859"/>
            <a:ext cx="36576" cy="201168"/>
          </a:xfrm>
          <a:prstGeom prst="rect">
            <a:avLst/>
          </a:prstGeom>
          <a:solidFill>
            <a:srgbClr val="0D1F3C"/>
          </a:solidFill>
          <a:ln w="12700">
            <a:solidFill>
              <a:srgbClr val="0D1F3C"/>
            </a:solidFill>
            <a:prstDash val="solid"/>
          </a:ln>
        </p:spPr>
      </p:sp>
      <p:sp>
        <p:nvSpPr>
          <p:cNvPr id="39" name="Text 37"/>
          <p:cNvSpPr/>
          <p:nvPr/>
        </p:nvSpPr>
        <p:spPr>
          <a:xfrm>
            <a:off x="4791456" y="2037283"/>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Warehouse dust mopping throughout</a:t>
            </a:r>
            <a:endParaRPr lang="en-US" sz="1000" dirty="0"/>
          </a:p>
        </p:txBody>
      </p:sp>
      <p:sp>
        <p:nvSpPr>
          <p:cNvPr id="40" name="Text 38"/>
          <p:cNvSpPr/>
          <p:nvPr/>
        </p:nvSpPr>
        <p:spPr>
          <a:xfrm>
            <a:off x="7909560" y="2037283"/>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Weekly</a:t>
            </a:r>
            <a:endParaRPr lang="en-US" sz="850" dirty="0"/>
          </a:p>
        </p:txBody>
      </p:sp>
      <p:sp>
        <p:nvSpPr>
          <p:cNvPr id="41" name="Shape 39"/>
          <p:cNvSpPr/>
          <p:nvPr/>
        </p:nvSpPr>
        <p:spPr>
          <a:xfrm>
            <a:off x="411480" y="2194560"/>
            <a:ext cx="8321040" cy="1060704"/>
          </a:xfrm>
          <a:prstGeom prst="rect">
            <a:avLst/>
          </a:prstGeom>
          <a:solidFill>
            <a:srgbClr val="F4F7FB"/>
          </a:solidFill>
          <a:ln w="12700">
            <a:solidFill>
              <a:srgbClr val="E5E7EB"/>
            </a:solidFill>
            <a:prstDash val="solid"/>
          </a:ln>
        </p:spPr>
      </p:sp>
      <p:sp>
        <p:nvSpPr>
          <p:cNvPr id="42" name="Text 40"/>
          <p:cNvSpPr/>
          <p:nvPr/>
        </p:nvSpPr>
        <p:spPr>
          <a:xfrm>
            <a:off x="566928" y="2286000"/>
            <a:ext cx="1371600" cy="201168"/>
          </a:xfrm>
          <a:prstGeom prst="rect">
            <a:avLst/>
          </a:prstGeom>
          <a:noFill/>
          <a:ln/>
        </p:spPr>
        <p:txBody>
          <a:bodyPr wrap="square" lIns="0" tIns="0" rIns="0" bIns="0" rtlCol="0" anchor="ctr"/>
          <a:lstStyle/>
          <a:p>
            <a:pPr indent="0" marL="0">
              <a:buNone/>
            </a:pPr>
            <a:r>
              <a:rPr lang="en-US" sz="750" b="1" spc="200" kern="0" dirty="0">
                <a:solidFill>
                  <a:srgbClr val="0D1F3C"/>
                </a:solidFill>
                <a:latin typeface="Calibri" pitchFamily="34" charset="0"/>
                <a:ea typeface="Calibri" pitchFamily="34" charset="-122"/>
                <a:cs typeface="Calibri" pitchFamily="34" charset="-120"/>
              </a:rPr>
              <a:t>MONTHLY</a:t>
            </a:r>
            <a:endParaRPr lang="en-US" sz="750" dirty="0"/>
          </a:p>
        </p:txBody>
      </p:sp>
      <p:sp>
        <p:nvSpPr>
          <p:cNvPr id="43" name="Shape 41"/>
          <p:cNvSpPr/>
          <p:nvPr/>
        </p:nvSpPr>
        <p:spPr>
          <a:xfrm>
            <a:off x="566928" y="2505456"/>
            <a:ext cx="8001000" cy="16459"/>
          </a:xfrm>
          <a:prstGeom prst="rect">
            <a:avLst/>
          </a:prstGeom>
          <a:solidFill>
            <a:srgbClr val="D1D5DB"/>
          </a:solidFill>
          <a:ln w="12700">
            <a:solidFill>
              <a:srgbClr val="D1D5DB"/>
            </a:solidFill>
            <a:prstDash val="solid"/>
          </a:ln>
        </p:spPr>
      </p:sp>
      <p:sp>
        <p:nvSpPr>
          <p:cNvPr id="44" name="Shape 42"/>
          <p:cNvSpPr/>
          <p:nvPr/>
        </p:nvSpPr>
        <p:spPr>
          <a:xfrm>
            <a:off x="566928" y="2615184"/>
            <a:ext cx="36576" cy="201168"/>
          </a:xfrm>
          <a:prstGeom prst="rect">
            <a:avLst/>
          </a:prstGeom>
          <a:solidFill>
            <a:srgbClr val="0D1F3C"/>
          </a:solidFill>
          <a:ln w="12700">
            <a:solidFill>
              <a:srgbClr val="0D1F3C"/>
            </a:solidFill>
            <a:prstDash val="solid"/>
          </a:ln>
        </p:spPr>
      </p:sp>
      <p:sp>
        <p:nvSpPr>
          <p:cNvPr id="45" name="Text 43"/>
          <p:cNvSpPr/>
          <p:nvPr/>
        </p:nvSpPr>
        <p:spPr>
          <a:xfrm>
            <a:off x="694944" y="2578608"/>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Refrigerator interior deep clean</a:t>
            </a:r>
            <a:endParaRPr lang="en-US" sz="1000" dirty="0"/>
          </a:p>
        </p:txBody>
      </p:sp>
      <p:sp>
        <p:nvSpPr>
          <p:cNvPr id="46" name="Text 44"/>
          <p:cNvSpPr/>
          <p:nvPr/>
        </p:nvSpPr>
        <p:spPr>
          <a:xfrm>
            <a:off x="3749040" y="2578608"/>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Monthly</a:t>
            </a:r>
            <a:endParaRPr lang="en-US" sz="850" dirty="0"/>
          </a:p>
        </p:txBody>
      </p:sp>
      <p:sp>
        <p:nvSpPr>
          <p:cNvPr id="47" name="Shape 45"/>
          <p:cNvSpPr/>
          <p:nvPr/>
        </p:nvSpPr>
        <p:spPr>
          <a:xfrm>
            <a:off x="411480" y="3255264"/>
            <a:ext cx="8321040" cy="1060704"/>
          </a:xfrm>
          <a:prstGeom prst="rect">
            <a:avLst/>
          </a:prstGeom>
          <a:solidFill>
            <a:srgbClr val="F8F9FA"/>
          </a:solidFill>
          <a:ln w="12700">
            <a:solidFill>
              <a:srgbClr val="E5E7EB"/>
            </a:solidFill>
            <a:prstDash val="solid"/>
          </a:ln>
        </p:spPr>
      </p:sp>
      <p:sp>
        <p:nvSpPr>
          <p:cNvPr id="48" name="Text 46"/>
          <p:cNvSpPr/>
          <p:nvPr/>
        </p:nvSpPr>
        <p:spPr>
          <a:xfrm>
            <a:off x="566928" y="3346704"/>
            <a:ext cx="1371600" cy="201168"/>
          </a:xfrm>
          <a:prstGeom prst="rect">
            <a:avLst/>
          </a:prstGeom>
          <a:noFill/>
          <a:ln/>
        </p:spPr>
        <p:txBody>
          <a:bodyPr wrap="square" lIns="0" tIns="0" rIns="0" bIns="0" rtlCol="0" anchor="ctr"/>
          <a:lstStyle/>
          <a:p>
            <a:pPr indent="0" marL="0">
              <a:buNone/>
            </a:pPr>
            <a:r>
              <a:rPr lang="en-US" sz="750" b="1" spc="200" kern="0" dirty="0">
                <a:solidFill>
                  <a:srgbClr val="0D1F3C"/>
                </a:solidFill>
                <a:latin typeface="Calibri" pitchFamily="34" charset="0"/>
                <a:ea typeface="Calibri" pitchFamily="34" charset="-122"/>
                <a:cs typeface="Calibri" pitchFamily="34" charset="-120"/>
              </a:rPr>
              <a:t>QUARTERLY</a:t>
            </a:r>
            <a:endParaRPr lang="en-US" sz="750" dirty="0"/>
          </a:p>
        </p:txBody>
      </p:sp>
      <p:sp>
        <p:nvSpPr>
          <p:cNvPr id="49" name="Shape 47"/>
          <p:cNvSpPr/>
          <p:nvPr/>
        </p:nvSpPr>
        <p:spPr>
          <a:xfrm>
            <a:off x="566928" y="3566160"/>
            <a:ext cx="8001000" cy="16459"/>
          </a:xfrm>
          <a:prstGeom prst="rect">
            <a:avLst/>
          </a:prstGeom>
          <a:solidFill>
            <a:srgbClr val="D1D5DB"/>
          </a:solidFill>
          <a:ln w="12700">
            <a:solidFill>
              <a:srgbClr val="D1D5DB"/>
            </a:solidFill>
            <a:prstDash val="solid"/>
          </a:ln>
        </p:spPr>
      </p:sp>
      <p:sp>
        <p:nvSpPr>
          <p:cNvPr id="50" name="Shape 48"/>
          <p:cNvSpPr/>
          <p:nvPr/>
        </p:nvSpPr>
        <p:spPr>
          <a:xfrm>
            <a:off x="566928" y="3675888"/>
            <a:ext cx="36576" cy="201168"/>
          </a:xfrm>
          <a:prstGeom prst="rect">
            <a:avLst/>
          </a:prstGeom>
          <a:solidFill>
            <a:srgbClr val="0D1F3C"/>
          </a:solidFill>
          <a:ln w="12700">
            <a:solidFill>
              <a:srgbClr val="0D1F3C"/>
            </a:solidFill>
            <a:prstDash val="solid"/>
          </a:ln>
        </p:spPr>
      </p:sp>
      <p:sp>
        <p:nvSpPr>
          <p:cNvPr id="51" name="Text 49"/>
          <p:cNvSpPr/>
          <p:nvPr/>
        </p:nvSpPr>
        <p:spPr>
          <a:xfrm>
            <a:off x="694944" y="3639312"/>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Baseboard cleaning — all areas</a:t>
            </a:r>
            <a:endParaRPr lang="en-US" sz="1000" dirty="0"/>
          </a:p>
        </p:txBody>
      </p:sp>
      <p:sp>
        <p:nvSpPr>
          <p:cNvPr id="52" name="Text 50"/>
          <p:cNvSpPr/>
          <p:nvPr/>
        </p:nvSpPr>
        <p:spPr>
          <a:xfrm>
            <a:off x="3749040" y="3639312"/>
            <a:ext cx="73152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Quarterly</a:t>
            </a:r>
            <a:endParaRPr lang="en-US" sz="850" dirty="0"/>
          </a:p>
        </p:txBody>
      </p:sp>
      <p:sp>
        <p:nvSpPr>
          <p:cNvPr id="53" name="Shape 51"/>
          <p:cNvSpPr/>
          <p:nvPr/>
        </p:nvSpPr>
        <p:spPr>
          <a:xfrm>
            <a:off x="4663440" y="3675888"/>
            <a:ext cx="36576" cy="201168"/>
          </a:xfrm>
          <a:prstGeom prst="rect">
            <a:avLst/>
          </a:prstGeom>
          <a:solidFill>
            <a:srgbClr val="0D1F3C"/>
          </a:solidFill>
          <a:ln w="12700">
            <a:solidFill>
              <a:srgbClr val="0D1F3C"/>
            </a:solidFill>
            <a:prstDash val="solid"/>
          </a:ln>
        </p:spPr>
      </p:sp>
      <p:sp>
        <p:nvSpPr>
          <p:cNvPr id="54" name="Text 52"/>
          <p:cNvSpPr/>
          <p:nvPr/>
        </p:nvSpPr>
        <p:spPr>
          <a:xfrm>
            <a:off x="4791456" y="3639312"/>
            <a:ext cx="3200400" cy="256032"/>
          </a:xfrm>
          <a:prstGeom prst="rect">
            <a:avLst/>
          </a:prstGeom>
          <a:noFill/>
          <a:ln/>
        </p:spPr>
        <p:txBody>
          <a:bodyPr wrap="square" lIns="0" tIns="0" rIns="0" bIns="0" rtlCol="0" anchor="ctr"/>
          <a:lstStyle/>
          <a:p>
            <a:pPr indent="0" marL="0">
              <a:buNone/>
            </a:pPr>
            <a:r>
              <a:rPr lang="en-US" sz="1000" dirty="0">
                <a:solidFill>
                  <a:srgbClr val="374151"/>
                </a:solidFill>
                <a:latin typeface="Calibri" pitchFamily="34" charset="0"/>
                <a:ea typeface="Calibri" pitchFamily="34" charset="-122"/>
                <a:cs typeface="Calibri" pitchFamily="34" charset="-120"/>
              </a:rPr>
              <a:t>Desk dusting — all offices</a:t>
            </a:r>
            <a:endParaRPr lang="en-US" sz="1000" dirty="0"/>
          </a:p>
        </p:txBody>
      </p:sp>
      <p:sp>
        <p:nvSpPr>
          <p:cNvPr id="55" name="Text 53"/>
          <p:cNvSpPr/>
          <p:nvPr/>
        </p:nvSpPr>
        <p:spPr>
          <a:xfrm>
            <a:off x="7909560" y="3639312"/>
            <a:ext cx="822960" cy="256032"/>
          </a:xfrm>
          <a:prstGeom prst="rect">
            <a:avLst/>
          </a:prstGeom>
          <a:noFill/>
          <a:ln/>
        </p:spPr>
        <p:txBody>
          <a:bodyPr wrap="square" lIns="0" tIns="0" rIns="0" bIns="0" rtlCol="0" anchor="ctr"/>
          <a:lstStyle/>
          <a:p>
            <a:pPr algn="r" indent="0" marL="0">
              <a:buNone/>
            </a:pPr>
            <a:r>
              <a:rPr lang="en-US" sz="850" i="1" dirty="0">
                <a:solidFill>
                  <a:srgbClr val="9CA3AF"/>
                </a:solidFill>
                <a:latin typeface="Calibri" pitchFamily="34" charset="0"/>
                <a:ea typeface="Calibri" pitchFamily="34" charset="-122"/>
                <a:cs typeface="Calibri" pitchFamily="34" charset="-120"/>
              </a:rPr>
              <a:t>Quarterly</a:t>
            </a:r>
            <a:endParaRPr lang="en-US" sz="850" dirty="0"/>
          </a:p>
        </p:txBody>
      </p:sp>
      <p:sp>
        <p:nvSpPr>
          <p:cNvPr id="56" name="Text 54"/>
          <p:cNvSpPr/>
          <p:nvPr/>
        </p:nvSpPr>
        <p:spPr>
          <a:xfrm>
            <a:off x="411480" y="4389120"/>
            <a:ext cx="6858000" cy="201168"/>
          </a:xfrm>
          <a:prstGeom prst="rect">
            <a:avLst/>
          </a:prstGeom>
          <a:noFill/>
          <a:ln/>
        </p:spPr>
        <p:txBody>
          <a:bodyPr wrap="square" lIns="0" tIns="0" rIns="0" bIns="0" rtlCol="0" anchor="ctr"/>
          <a:lstStyle/>
          <a:p>
            <a:pPr indent="0" marL="0">
              <a:buNone/>
            </a:pPr>
            <a:r>
              <a:rPr lang="en-US" sz="900" i="1" dirty="0">
                <a:solidFill>
                  <a:srgbClr val="9CA3AF"/>
                </a:solidFill>
                <a:latin typeface="Calibri" pitchFamily="34" charset="0"/>
                <a:ea typeface="Calibri" pitchFamily="34" charset="-122"/>
                <a:cs typeface="Calibri" pitchFamily="34" charset="-120"/>
              </a:rPr>
              <a:t>All frequencies confirmed at onboarding walkthrough with CEO and QA Manager.</a:t>
            </a:r>
            <a:endParaRPr lang="en-US" sz="900" dirty="0"/>
          </a:p>
        </p:txBody>
      </p:sp>
      <p:pic>
        <p:nvPicPr>
          <p:cNvPr id="57"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TEAM</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5</a:t>
            </a:r>
            <a:endParaRPr lang="en-US" sz="800" dirty="0"/>
          </a:p>
        </p:txBody>
      </p:sp>
      <p:sp>
        <p:nvSpPr>
          <p:cNvPr id="5" name="Text 3"/>
          <p:cNvSpPr/>
          <p:nvPr/>
        </p:nvSpPr>
        <p:spPr>
          <a:xfrm>
            <a:off x="411480" y="347472"/>
            <a:ext cx="8229600" cy="438912"/>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Your Team. Not a Call Center.</a:t>
            </a:r>
            <a:endParaRPr lang="en-US" sz="2200" dirty="0"/>
          </a:p>
        </p:txBody>
      </p:sp>
      <p:sp>
        <p:nvSpPr>
          <p:cNvPr id="6" name="Text 4"/>
          <p:cNvSpPr/>
          <p:nvPr/>
        </p:nvSpPr>
        <p:spPr>
          <a:xfrm>
            <a:off x="411480" y="804672"/>
            <a:ext cx="7315200"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Three people accountable to your facility — by name, by role, by phone.</a:t>
            </a:r>
            <a:endParaRPr lang="en-US" sz="1200" dirty="0"/>
          </a:p>
        </p:txBody>
      </p:sp>
      <p:sp>
        <p:nvSpPr>
          <p:cNvPr id="7" name="Shape 5"/>
          <p:cNvSpPr/>
          <p:nvPr/>
        </p:nvSpPr>
        <p:spPr>
          <a:xfrm>
            <a:off x="411480" y="1115568"/>
            <a:ext cx="8321040" cy="16459"/>
          </a:xfrm>
          <a:prstGeom prst="rect">
            <a:avLst/>
          </a:prstGeom>
          <a:solidFill>
            <a:srgbClr val="E5E7EB"/>
          </a:solidFill>
          <a:ln w="12700">
            <a:solidFill>
              <a:srgbClr val="E5E7EB"/>
            </a:solidFill>
            <a:prstDash val="solid"/>
          </a:ln>
        </p:spPr>
      </p:sp>
      <p:pic>
        <p:nvPicPr>
          <p:cNvPr id="8" name="Image 0" descr="./hereford.png">    </p:cNvPr>
          <p:cNvPicPr>
            <a:picLocks noChangeAspect="1"/>
          </p:cNvPicPr>
          <p:nvPr/>
        </p:nvPicPr>
        <p:blipFill>
          <a:blip r:embed="rId1"/>
          <a:srcRect l="0" r="0" t="0" b="0"/>
          <a:stretch/>
        </p:blipFill>
        <p:spPr>
          <a:xfrm>
            <a:off x="1234440" y="1261872"/>
            <a:ext cx="1005840" cy="1005840"/>
          </a:xfrm>
          <a:prstGeom prst="ellipse">
            <a:avLst/>
          </a:prstGeom>
        </p:spPr>
      </p:pic>
      <p:sp>
        <p:nvSpPr>
          <p:cNvPr id="9" name="Text 6"/>
          <p:cNvSpPr/>
          <p:nvPr/>
        </p:nvSpPr>
        <p:spPr>
          <a:xfrm>
            <a:off x="411480" y="2359152"/>
            <a:ext cx="2651760" cy="329184"/>
          </a:xfrm>
          <a:prstGeom prst="rect">
            <a:avLst/>
          </a:prstGeom>
          <a:noFill/>
          <a:ln/>
        </p:spPr>
        <p:txBody>
          <a:bodyPr wrap="square" lIns="0" tIns="0" rIns="0" bIns="0"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Hereford Johnson</a:t>
            </a:r>
            <a:endParaRPr lang="en-US" sz="1300" dirty="0"/>
          </a:p>
        </p:txBody>
      </p:sp>
      <p:sp>
        <p:nvSpPr>
          <p:cNvPr id="10" name="Text 7"/>
          <p:cNvSpPr/>
          <p:nvPr/>
        </p:nvSpPr>
        <p:spPr>
          <a:xfrm>
            <a:off x="411480" y="2697480"/>
            <a:ext cx="2651760" cy="219456"/>
          </a:xfrm>
          <a:prstGeom prst="rect">
            <a:avLst/>
          </a:prstGeom>
          <a:noFill/>
          <a:ln/>
        </p:spPr>
        <p:txBody>
          <a:bodyPr wrap="square" lIns="0" tIns="0" rIns="0" bIns="0" rtlCol="0" anchor="ctr"/>
          <a:lstStyle/>
          <a:p>
            <a:pPr algn="ctr" indent="0" marL="0">
              <a:buNone/>
            </a:pPr>
            <a:r>
              <a:rPr lang="en-US" sz="850" dirty="0">
                <a:solidFill>
                  <a:srgbClr val="9CA3AF"/>
                </a:solidFill>
                <a:latin typeface="Calibri" pitchFamily="34" charset="0"/>
                <a:ea typeface="Calibri" pitchFamily="34" charset="-122"/>
                <a:cs typeface="Calibri" pitchFamily="34" charset="-120"/>
              </a:rPr>
              <a:t>US Air Force Veteran  ·  SDVOSB  ·  ISSA Member</a:t>
            </a:r>
            <a:endParaRPr lang="en-US" sz="850" dirty="0"/>
          </a:p>
        </p:txBody>
      </p:sp>
      <p:sp>
        <p:nvSpPr>
          <p:cNvPr id="11" name="Text 8"/>
          <p:cNvSpPr/>
          <p:nvPr/>
        </p:nvSpPr>
        <p:spPr>
          <a:xfrm>
            <a:off x="411480" y="2944368"/>
            <a:ext cx="2651760" cy="237744"/>
          </a:xfrm>
          <a:prstGeom prst="rect">
            <a:avLst/>
          </a:prstGeom>
          <a:noFill/>
          <a:ln/>
        </p:spPr>
        <p:txBody>
          <a:bodyPr wrap="square" lIns="0" tIns="0" rIns="0" bIns="0" rtlCol="0" anchor="ctr"/>
          <a:lstStyle/>
          <a:p>
            <a:pPr algn="ctr" indent="0" marL="0">
              <a:buNone/>
            </a:pPr>
            <a:r>
              <a:rPr lang="en-US" sz="1000" b="1" dirty="0">
                <a:solidFill>
                  <a:srgbClr val="0D1F3C"/>
                </a:solidFill>
                <a:latin typeface="Calibri" pitchFamily="34" charset="0"/>
                <a:ea typeface="Calibri" pitchFamily="34" charset="-122"/>
                <a:cs typeface="Calibri" pitchFamily="34" charset="-120"/>
              </a:rPr>
              <a:t>CEO &amp; Owner</a:t>
            </a:r>
            <a:endParaRPr lang="en-US" sz="1000" dirty="0"/>
          </a:p>
        </p:txBody>
      </p:sp>
      <p:sp>
        <p:nvSpPr>
          <p:cNvPr id="12" name="Shape 9"/>
          <p:cNvSpPr/>
          <p:nvPr/>
        </p:nvSpPr>
        <p:spPr>
          <a:xfrm>
            <a:off x="411480" y="3218688"/>
            <a:ext cx="2560320" cy="16459"/>
          </a:xfrm>
          <a:prstGeom prst="rect">
            <a:avLst/>
          </a:prstGeom>
          <a:solidFill>
            <a:srgbClr val="E5E7EB"/>
          </a:solidFill>
          <a:ln w="12700">
            <a:solidFill>
              <a:srgbClr val="E5E7EB"/>
            </a:solidFill>
            <a:prstDash val="solid"/>
          </a:ln>
        </p:spPr>
      </p:sp>
      <p:sp>
        <p:nvSpPr>
          <p:cNvPr id="13" name="Text 10"/>
          <p:cNvSpPr/>
          <p:nvPr/>
        </p:nvSpPr>
        <p:spPr>
          <a:xfrm>
            <a:off x="411480" y="3328416"/>
            <a:ext cx="2651760" cy="1024128"/>
          </a:xfrm>
          <a:prstGeom prst="rect">
            <a:avLst/>
          </a:prstGeom>
          <a:noFill/>
          <a:ln/>
        </p:spPr>
        <p:txBody>
          <a:bodyPr wrap="square" lIns="0" tIns="0" rIns="0" bIns="0" rtlCol="0" anchor="ctr"/>
          <a:lstStyle/>
          <a:p>
            <a:pPr indent="0" marL="0">
              <a:lnSpc>
                <a:spcPct val="130000"/>
              </a:lnSpc>
              <a:buNone/>
            </a:pPr>
            <a:r>
              <a:rPr lang="en-US" sz="1000" dirty="0">
                <a:solidFill>
                  <a:srgbClr val="6B7280"/>
                </a:solidFill>
                <a:latin typeface="Calibri" pitchFamily="34" charset="0"/>
                <a:ea typeface="Calibri" pitchFamily="34" charset="-122"/>
                <a:cs typeface="Calibri" pitchFamily="34" charset="-120"/>
              </a:rPr>
              <a:t>Your primary point of contact. Picks up the phone personally — no account managers, no call routing, no corporate layers between you and the person accountable for every service.</a:t>
            </a:r>
            <a:endParaRPr lang="en-US" sz="1000" dirty="0"/>
          </a:p>
        </p:txBody>
      </p:sp>
      <p:sp>
        <p:nvSpPr>
          <p:cNvPr id="14" name="Shape 11"/>
          <p:cNvSpPr/>
          <p:nvPr/>
        </p:nvSpPr>
        <p:spPr>
          <a:xfrm>
            <a:off x="3108960" y="1261872"/>
            <a:ext cx="16459" cy="3090672"/>
          </a:xfrm>
          <a:prstGeom prst="rect">
            <a:avLst/>
          </a:prstGeom>
          <a:solidFill>
            <a:srgbClr val="E5E7EB"/>
          </a:solidFill>
          <a:ln w="12700">
            <a:solidFill>
              <a:srgbClr val="E5E7EB"/>
            </a:solidFill>
            <a:prstDash val="solid"/>
          </a:ln>
        </p:spPr>
      </p:sp>
      <p:pic>
        <p:nvPicPr>
          <p:cNvPr id="15" name="Image 1" descr="./victoriana.png">    </p:cNvPr>
          <p:cNvPicPr>
            <a:picLocks noChangeAspect="1"/>
          </p:cNvPicPr>
          <p:nvPr/>
        </p:nvPicPr>
        <p:blipFill>
          <a:blip r:embed="rId2"/>
          <a:srcRect l="0" r="0" t="0" b="0"/>
          <a:stretch/>
        </p:blipFill>
        <p:spPr>
          <a:xfrm>
            <a:off x="4041648" y="1261872"/>
            <a:ext cx="1005840" cy="1005840"/>
          </a:xfrm>
          <a:prstGeom prst="ellipse">
            <a:avLst/>
          </a:prstGeom>
        </p:spPr>
      </p:pic>
      <p:sp>
        <p:nvSpPr>
          <p:cNvPr id="16" name="Text 12"/>
          <p:cNvSpPr/>
          <p:nvPr/>
        </p:nvSpPr>
        <p:spPr>
          <a:xfrm>
            <a:off x="3218688" y="2359152"/>
            <a:ext cx="2651760" cy="329184"/>
          </a:xfrm>
          <a:prstGeom prst="rect">
            <a:avLst/>
          </a:prstGeom>
          <a:noFill/>
          <a:ln/>
        </p:spPr>
        <p:txBody>
          <a:bodyPr wrap="square" lIns="0" tIns="0" rIns="0" bIns="0"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Victoriana Johnson</a:t>
            </a:r>
            <a:endParaRPr lang="en-US" sz="1300" dirty="0"/>
          </a:p>
        </p:txBody>
      </p:sp>
      <p:sp>
        <p:nvSpPr>
          <p:cNvPr id="17" name="Text 13"/>
          <p:cNvSpPr/>
          <p:nvPr/>
        </p:nvSpPr>
        <p:spPr>
          <a:xfrm>
            <a:off x="3218688" y="2697480"/>
            <a:ext cx="2651760" cy="219456"/>
          </a:xfrm>
          <a:prstGeom prst="rect">
            <a:avLst/>
          </a:prstGeom>
          <a:noFill/>
          <a:ln/>
        </p:spPr>
        <p:txBody>
          <a:bodyPr wrap="square" lIns="0" tIns="0" rIns="0" bIns="0" rtlCol="0" anchor="ctr"/>
          <a:lstStyle/>
          <a:p>
            <a:pPr algn="ctr" indent="0" marL="0">
              <a:buNone/>
            </a:pPr>
            <a:r>
              <a:rPr lang="en-US" sz="850" dirty="0">
                <a:solidFill>
                  <a:srgbClr val="9CA3AF"/>
                </a:solidFill>
                <a:latin typeface="Calibri" pitchFamily="34" charset="0"/>
                <a:ea typeface="Calibri" pitchFamily="34" charset="-122"/>
                <a:cs typeface="Calibri" pitchFamily="34" charset="-120"/>
              </a:rPr>
              <a:t>Certified QA Inspector  ·  OrangeQC Platform</a:t>
            </a:r>
            <a:endParaRPr lang="en-US" sz="850" dirty="0"/>
          </a:p>
        </p:txBody>
      </p:sp>
      <p:sp>
        <p:nvSpPr>
          <p:cNvPr id="18" name="Text 14"/>
          <p:cNvSpPr/>
          <p:nvPr/>
        </p:nvSpPr>
        <p:spPr>
          <a:xfrm>
            <a:off x="3218688" y="2944368"/>
            <a:ext cx="2651760" cy="237744"/>
          </a:xfrm>
          <a:prstGeom prst="rect">
            <a:avLst/>
          </a:prstGeom>
          <a:noFill/>
          <a:ln/>
        </p:spPr>
        <p:txBody>
          <a:bodyPr wrap="square" lIns="0" tIns="0" rIns="0" bIns="0" rtlCol="0" anchor="ctr"/>
          <a:lstStyle/>
          <a:p>
            <a:pPr algn="ctr" indent="0" marL="0">
              <a:buNone/>
            </a:pPr>
            <a:r>
              <a:rPr lang="en-US" sz="1000" b="1" dirty="0">
                <a:solidFill>
                  <a:srgbClr val="1B3A6B"/>
                </a:solidFill>
                <a:latin typeface="Calibri" pitchFamily="34" charset="0"/>
                <a:ea typeface="Calibri" pitchFamily="34" charset="-122"/>
                <a:cs typeface="Calibri" pitchFamily="34" charset="-120"/>
              </a:rPr>
              <a:t>QA Manager</a:t>
            </a:r>
            <a:endParaRPr lang="en-US" sz="1000" dirty="0"/>
          </a:p>
        </p:txBody>
      </p:sp>
      <p:sp>
        <p:nvSpPr>
          <p:cNvPr id="19" name="Shape 15"/>
          <p:cNvSpPr/>
          <p:nvPr/>
        </p:nvSpPr>
        <p:spPr>
          <a:xfrm>
            <a:off x="3218688" y="3218688"/>
            <a:ext cx="2560320" cy="16459"/>
          </a:xfrm>
          <a:prstGeom prst="rect">
            <a:avLst/>
          </a:prstGeom>
          <a:solidFill>
            <a:srgbClr val="E5E7EB"/>
          </a:solidFill>
          <a:ln w="12700">
            <a:solidFill>
              <a:srgbClr val="E5E7EB"/>
            </a:solidFill>
            <a:prstDash val="solid"/>
          </a:ln>
        </p:spPr>
      </p:sp>
      <p:sp>
        <p:nvSpPr>
          <p:cNvPr id="20" name="Text 16"/>
          <p:cNvSpPr/>
          <p:nvPr/>
        </p:nvSpPr>
        <p:spPr>
          <a:xfrm>
            <a:off x="3218688" y="3328416"/>
            <a:ext cx="2651760" cy="1024128"/>
          </a:xfrm>
          <a:prstGeom prst="rect">
            <a:avLst/>
          </a:prstGeom>
          <a:noFill/>
          <a:ln/>
        </p:spPr>
        <p:txBody>
          <a:bodyPr wrap="square" lIns="0" tIns="0" rIns="0" bIns="0" rtlCol="0" anchor="ctr"/>
          <a:lstStyle/>
          <a:p>
            <a:pPr indent="0" marL="0">
              <a:lnSpc>
                <a:spcPct val="130000"/>
              </a:lnSpc>
              <a:buNone/>
            </a:pPr>
            <a:r>
              <a:rPr lang="en-US" sz="1000" dirty="0">
                <a:solidFill>
                  <a:srgbClr val="6B7280"/>
                </a:solidFill>
                <a:latin typeface="Calibri" pitchFamily="34" charset="0"/>
                <a:ea typeface="Calibri" pitchFamily="34" charset="-122"/>
                <a:cs typeface="Calibri" pitchFamily="34" charset="-120"/>
              </a:rPr>
              <a:t>Conducts weekly on-site inspections and logs every score. Personally owns resolution follow-through on every open service ticket. If a score drops, she is first to know and first to respond.</a:t>
            </a:r>
            <a:endParaRPr lang="en-US" sz="1000" dirty="0"/>
          </a:p>
        </p:txBody>
      </p:sp>
      <p:sp>
        <p:nvSpPr>
          <p:cNvPr id="21" name="Shape 17"/>
          <p:cNvSpPr/>
          <p:nvPr/>
        </p:nvSpPr>
        <p:spPr>
          <a:xfrm>
            <a:off x="5916168" y="1261872"/>
            <a:ext cx="16459" cy="3090672"/>
          </a:xfrm>
          <a:prstGeom prst="rect">
            <a:avLst/>
          </a:prstGeom>
          <a:solidFill>
            <a:srgbClr val="E5E7EB"/>
          </a:solidFill>
          <a:ln w="12700">
            <a:solidFill>
              <a:srgbClr val="E5E7EB"/>
            </a:solidFill>
            <a:prstDash val="solid"/>
          </a:ln>
        </p:spPr>
      </p:sp>
      <p:pic>
        <p:nvPicPr>
          <p:cNvPr id="22" name="Image 2" descr="./johanna.png">    </p:cNvPr>
          <p:cNvPicPr>
            <a:picLocks noChangeAspect="1"/>
          </p:cNvPicPr>
          <p:nvPr/>
        </p:nvPicPr>
        <p:blipFill>
          <a:blip r:embed="rId3"/>
          <a:srcRect l="0" r="0" t="0" b="0"/>
          <a:stretch/>
        </p:blipFill>
        <p:spPr>
          <a:xfrm>
            <a:off x="6848856" y="1261872"/>
            <a:ext cx="1005840" cy="1005840"/>
          </a:xfrm>
          <a:prstGeom prst="ellipse">
            <a:avLst/>
          </a:prstGeom>
        </p:spPr>
      </p:pic>
      <p:sp>
        <p:nvSpPr>
          <p:cNvPr id="23" name="Text 18"/>
          <p:cNvSpPr/>
          <p:nvPr/>
        </p:nvSpPr>
        <p:spPr>
          <a:xfrm>
            <a:off x="6025896" y="2359152"/>
            <a:ext cx="2651760" cy="329184"/>
          </a:xfrm>
          <a:prstGeom prst="rect">
            <a:avLst/>
          </a:prstGeom>
          <a:noFill/>
          <a:ln/>
        </p:spPr>
        <p:txBody>
          <a:bodyPr wrap="square" lIns="0" tIns="0" rIns="0" bIns="0" rtlCol="0" anchor="ctr"/>
          <a:lstStyle/>
          <a:p>
            <a:pPr algn="ctr" indent="0" marL="0">
              <a:buNone/>
            </a:pPr>
            <a:r>
              <a:rPr lang="en-US" sz="1300" b="1" dirty="0">
                <a:solidFill>
                  <a:srgbClr val="0D1F3C"/>
                </a:solidFill>
                <a:latin typeface="Trebuchet MS" pitchFamily="34" charset="0"/>
                <a:ea typeface="Trebuchet MS" pitchFamily="34" charset="-122"/>
                <a:cs typeface="Trebuchet MS" pitchFamily="34" charset="-120"/>
              </a:rPr>
              <a:t>Johanna Hernandez</a:t>
            </a:r>
            <a:endParaRPr lang="en-US" sz="1300" dirty="0"/>
          </a:p>
        </p:txBody>
      </p:sp>
      <p:sp>
        <p:nvSpPr>
          <p:cNvPr id="24" name="Text 19"/>
          <p:cNvSpPr/>
          <p:nvPr/>
        </p:nvSpPr>
        <p:spPr>
          <a:xfrm>
            <a:off x="6025896" y="2697480"/>
            <a:ext cx="2651760" cy="219456"/>
          </a:xfrm>
          <a:prstGeom prst="rect">
            <a:avLst/>
          </a:prstGeom>
          <a:noFill/>
          <a:ln/>
        </p:spPr>
        <p:txBody>
          <a:bodyPr wrap="square" lIns="0" tIns="0" rIns="0" bIns="0" rtlCol="0" anchor="ctr"/>
          <a:lstStyle/>
          <a:p>
            <a:pPr algn="ctr" indent="0" marL="0">
              <a:buNone/>
            </a:pPr>
            <a:r>
              <a:rPr lang="en-US" sz="850" dirty="0">
                <a:solidFill>
                  <a:srgbClr val="9CA3AF"/>
                </a:solidFill>
                <a:latin typeface="Calibri" pitchFamily="34" charset="0"/>
                <a:ea typeface="Calibri" pitchFamily="34" charset="-122"/>
                <a:cs typeface="Calibri" pitchFamily="34" charset="-120"/>
              </a:rPr>
              <a:t>Talent Acquisition  ·  Training &amp; Certification</a:t>
            </a:r>
            <a:endParaRPr lang="en-US" sz="850" dirty="0"/>
          </a:p>
        </p:txBody>
      </p:sp>
      <p:sp>
        <p:nvSpPr>
          <p:cNvPr id="25" name="Text 20"/>
          <p:cNvSpPr/>
          <p:nvPr/>
        </p:nvSpPr>
        <p:spPr>
          <a:xfrm>
            <a:off x="6025896" y="2944368"/>
            <a:ext cx="2651760" cy="237744"/>
          </a:xfrm>
          <a:prstGeom prst="rect">
            <a:avLst/>
          </a:prstGeom>
          <a:noFill/>
          <a:ln/>
        </p:spPr>
        <p:txBody>
          <a:bodyPr wrap="square" lIns="0" tIns="0" rIns="0" bIns="0" rtlCol="0" anchor="ctr"/>
          <a:lstStyle/>
          <a:p>
            <a:pPr algn="ctr" indent="0" marL="0">
              <a:buNone/>
            </a:pPr>
            <a:r>
              <a:rPr lang="en-US" sz="1000" b="1" dirty="0">
                <a:solidFill>
                  <a:srgbClr val="2E7D52"/>
                </a:solidFill>
                <a:latin typeface="Calibri" pitchFamily="34" charset="0"/>
                <a:ea typeface="Calibri" pitchFamily="34" charset="-122"/>
                <a:cs typeface="Calibri" pitchFamily="34" charset="-120"/>
              </a:rPr>
              <a:t>Area Talent Manager</a:t>
            </a:r>
            <a:endParaRPr lang="en-US" sz="1000" dirty="0"/>
          </a:p>
        </p:txBody>
      </p:sp>
      <p:sp>
        <p:nvSpPr>
          <p:cNvPr id="26" name="Shape 21"/>
          <p:cNvSpPr/>
          <p:nvPr/>
        </p:nvSpPr>
        <p:spPr>
          <a:xfrm>
            <a:off x="6025896" y="3218688"/>
            <a:ext cx="2560320" cy="16459"/>
          </a:xfrm>
          <a:prstGeom prst="rect">
            <a:avLst/>
          </a:prstGeom>
          <a:solidFill>
            <a:srgbClr val="E5E7EB"/>
          </a:solidFill>
          <a:ln w="12700">
            <a:solidFill>
              <a:srgbClr val="E5E7EB"/>
            </a:solidFill>
            <a:prstDash val="solid"/>
          </a:ln>
        </p:spPr>
      </p:sp>
      <p:sp>
        <p:nvSpPr>
          <p:cNvPr id="27" name="Text 22"/>
          <p:cNvSpPr/>
          <p:nvPr/>
        </p:nvSpPr>
        <p:spPr>
          <a:xfrm>
            <a:off x="6025896" y="3328416"/>
            <a:ext cx="2651760" cy="1024128"/>
          </a:xfrm>
          <a:prstGeom prst="rect">
            <a:avLst/>
          </a:prstGeom>
          <a:noFill/>
          <a:ln/>
        </p:spPr>
        <p:txBody>
          <a:bodyPr wrap="square" lIns="0" tIns="0" rIns="0" bIns="0" rtlCol="0" anchor="ctr"/>
          <a:lstStyle/>
          <a:p>
            <a:pPr indent="0" marL="0">
              <a:lnSpc>
                <a:spcPct val="130000"/>
              </a:lnSpc>
              <a:buNone/>
            </a:pPr>
            <a:r>
              <a:rPr lang="en-US" sz="1000" dirty="0">
                <a:solidFill>
                  <a:srgbClr val="6B7280"/>
                </a:solidFill>
                <a:latin typeface="Calibri" pitchFamily="34" charset="0"/>
                <a:ea typeface="Calibri" pitchFamily="34" charset="-122"/>
                <a:cs typeface="Calibri" pitchFamily="34" charset="-120"/>
              </a:rPr>
              <a:t>Handles recruiting, vetting, background checks, and ongoing training for all custodial staff. Every person assigned to your facility is screened, trained to your environment, and held to documented standards.</a:t>
            </a:r>
            <a:endParaRPr lang="en-US" sz="1000" dirty="0"/>
          </a:p>
        </p:txBody>
      </p:sp>
      <p:sp>
        <p:nvSpPr>
          <p:cNvPr id="28" name="Shape 23"/>
          <p:cNvSpPr/>
          <p:nvPr/>
        </p:nvSpPr>
        <p:spPr>
          <a:xfrm>
            <a:off x="411480" y="4407408"/>
            <a:ext cx="8321040" cy="16459"/>
          </a:xfrm>
          <a:prstGeom prst="rect">
            <a:avLst/>
          </a:prstGeom>
          <a:solidFill>
            <a:srgbClr val="E5E7EB"/>
          </a:solidFill>
          <a:ln w="12700">
            <a:solidFill>
              <a:srgbClr val="E5E7EB"/>
            </a:solidFill>
            <a:prstDash val="solid"/>
          </a:ln>
        </p:spPr>
      </p:sp>
      <p:sp>
        <p:nvSpPr>
          <p:cNvPr id="29" name="Text 24"/>
          <p:cNvSpPr/>
          <p:nvPr/>
        </p:nvSpPr>
        <p:spPr>
          <a:xfrm>
            <a:off x="411480" y="4480560"/>
            <a:ext cx="71323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"I've held the mop. I've been the crew. That's why we're built around accountability, not excuses." — Hereford Johnson, CEO</a:t>
            </a:r>
            <a:endParaRPr lang="en-US" sz="900" dirty="0"/>
          </a:p>
        </p:txBody>
      </p:sp>
      <p:pic>
        <p:nvPicPr>
          <p:cNvPr id="30" name="Image 3" descr="./mdf_logo_white.png">    </p:cNvPr>
          <p:cNvPicPr>
            <a:picLocks noChangeAspect="1"/>
          </p:cNvPicPr>
          <p:nvPr/>
        </p:nvPicPr>
        <p:blipFill>
          <a:blip r:embed="rId4"/>
          <a:srcRect l="0" r="0" t="0" b="0"/>
          <a:stretch/>
        </p:blipFill>
        <p:spPr>
          <a:xfrm>
            <a:off x="7818120" y="4526280"/>
            <a:ext cx="1005840" cy="5029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QUALITY ASSURANCE</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6</a:t>
            </a:r>
            <a:endParaRPr lang="en-US" sz="800" dirty="0"/>
          </a:p>
        </p:txBody>
      </p:sp>
      <p:sp>
        <p:nvSpPr>
          <p:cNvPr id="5" name="Text 3"/>
          <p:cNvSpPr/>
          <p:nvPr/>
        </p:nvSpPr>
        <p:spPr>
          <a:xfrm>
            <a:off x="411480" y="347472"/>
            <a:ext cx="8321040" cy="438912"/>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 Get Full Visibility Into Every Clean.</a:t>
            </a:r>
            <a:endParaRPr lang="en-US" sz="2200" dirty="0"/>
          </a:p>
        </p:txBody>
      </p:sp>
      <p:sp>
        <p:nvSpPr>
          <p:cNvPr id="6" name="Shape 4"/>
          <p:cNvSpPr/>
          <p:nvPr/>
        </p:nvSpPr>
        <p:spPr>
          <a:xfrm>
            <a:off x="411480" y="859536"/>
            <a:ext cx="8321040" cy="16459"/>
          </a:xfrm>
          <a:prstGeom prst="rect">
            <a:avLst/>
          </a:prstGeom>
          <a:solidFill>
            <a:srgbClr val="E5E7EB"/>
          </a:solidFill>
          <a:ln w="12700">
            <a:solidFill>
              <a:srgbClr val="E5E7EB"/>
            </a:solidFill>
            <a:prstDash val="solid"/>
          </a:ln>
        </p:spPr>
      </p:sp>
      <p:sp>
        <p:nvSpPr>
          <p:cNvPr id="7" name="Text 5"/>
          <p:cNvSpPr/>
          <p:nvPr/>
        </p:nvSpPr>
        <p:spPr>
          <a:xfrm>
            <a:off x="411480" y="1024128"/>
            <a:ext cx="4800600" cy="292608"/>
          </a:xfrm>
          <a:prstGeom prst="rect">
            <a:avLst/>
          </a:prstGeom>
          <a:noFill/>
          <a:ln/>
        </p:spPr>
        <p:txBody>
          <a:bodyPr wrap="square" lIns="0" tIns="0" rIns="0" bIns="0"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Inspection Scoring</a:t>
            </a:r>
            <a:endParaRPr lang="en-US" sz="1200" dirty="0"/>
          </a:p>
        </p:txBody>
      </p:sp>
      <p:sp>
        <p:nvSpPr>
          <p:cNvPr id="8" name="Text 6"/>
          <p:cNvSpPr/>
          <p:nvPr/>
        </p:nvSpPr>
        <p:spPr>
          <a:xfrm>
            <a:off x="411480" y="1353312"/>
            <a:ext cx="4800600" cy="621792"/>
          </a:xfrm>
          <a:prstGeom prst="rect">
            <a:avLst/>
          </a:prstGeom>
          <a:noFill/>
          <a:ln/>
        </p:spPr>
        <p:txBody>
          <a:bodyPr wrap="square" lIns="0" tIns="0" rIns="0" bIns="0" rtlCol="0" anchor="ctr"/>
          <a:lstStyle/>
          <a:p>
            <a:pPr indent="0" marL="0">
              <a:lnSpc>
                <a:spcPct val="135000"/>
              </a:lnSpc>
              <a:buNone/>
            </a:pPr>
            <a:r>
              <a:rPr lang="en-US" sz="1050" dirty="0">
                <a:solidFill>
                  <a:srgbClr val="6B7280"/>
                </a:solidFill>
                <a:latin typeface="Calibri" pitchFamily="34" charset="0"/>
                <a:ea typeface="Calibri" pitchFamily="34" charset="-122"/>
                <a:cs typeface="Calibri" pitchFamily="34" charset="-120"/>
              </a:rPr>
              <a:t>Every zone graded at each visit. Scores trend over time — you see at a glance whether standards are holding or slipping, week over week.</a:t>
            </a:r>
            <a:endParaRPr lang="en-US" sz="1050" dirty="0"/>
          </a:p>
        </p:txBody>
      </p:sp>
      <p:sp>
        <p:nvSpPr>
          <p:cNvPr id="9" name="Shape 7"/>
          <p:cNvSpPr/>
          <p:nvPr/>
        </p:nvSpPr>
        <p:spPr>
          <a:xfrm>
            <a:off x="411480" y="2017776"/>
            <a:ext cx="4800600" cy="16459"/>
          </a:xfrm>
          <a:prstGeom prst="rect">
            <a:avLst/>
          </a:prstGeom>
          <a:solidFill>
            <a:srgbClr val="E5E7EB"/>
          </a:solidFill>
          <a:ln w="12700">
            <a:solidFill>
              <a:srgbClr val="E5E7EB"/>
            </a:solidFill>
            <a:prstDash val="solid"/>
          </a:ln>
        </p:spPr>
      </p:sp>
      <p:sp>
        <p:nvSpPr>
          <p:cNvPr id="10" name="Text 8"/>
          <p:cNvSpPr/>
          <p:nvPr/>
        </p:nvSpPr>
        <p:spPr>
          <a:xfrm>
            <a:off x="411480" y="2127504"/>
            <a:ext cx="4800600" cy="292608"/>
          </a:xfrm>
          <a:prstGeom prst="rect">
            <a:avLst/>
          </a:prstGeom>
          <a:noFill/>
          <a:ln/>
        </p:spPr>
        <p:txBody>
          <a:bodyPr wrap="square" lIns="0" tIns="0" rIns="0" bIns="0"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Service Ticket System</a:t>
            </a:r>
            <a:endParaRPr lang="en-US" sz="1200" dirty="0"/>
          </a:p>
        </p:txBody>
      </p:sp>
      <p:sp>
        <p:nvSpPr>
          <p:cNvPr id="11" name="Text 9"/>
          <p:cNvSpPr/>
          <p:nvPr/>
        </p:nvSpPr>
        <p:spPr>
          <a:xfrm>
            <a:off x="411480" y="2456688"/>
            <a:ext cx="4800600" cy="621792"/>
          </a:xfrm>
          <a:prstGeom prst="rect">
            <a:avLst/>
          </a:prstGeom>
          <a:noFill/>
          <a:ln/>
        </p:spPr>
        <p:txBody>
          <a:bodyPr wrap="square" lIns="0" tIns="0" rIns="0" bIns="0" rtlCol="0" anchor="ctr"/>
          <a:lstStyle/>
          <a:p>
            <a:pPr indent="0" marL="0">
              <a:lnSpc>
                <a:spcPct val="135000"/>
              </a:lnSpc>
              <a:buNone/>
            </a:pPr>
            <a:r>
              <a:rPr lang="en-US" sz="1050" dirty="0">
                <a:solidFill>
                  <a:srgbClr val="6B7280"/>
                </a:solidFill>
                <a:latin typeface="Calibri" pitchFamily="34" charset="0"/>
                <a:ea typeface="Calibri" pitchFamily="34" charset="-122"/>
                <a:cs typeface="Calibri" pitchFamily="34" charset="-120"/>
              </a:rPr>
              <a:t>Any flagged issue auto-creates a ticket, assigned to a team member and time-stamped. Resolution tracked from open to close. Nothing disappears.</a:t>
            </a:r>
            <a:endParaRPr lang="en-US" sz="1050" dirty="0"/>
          </a:p>
        </p:txBody>
      </p:sp>
      <p:sp>
        <p:nvSpPr>
          <p:cNvPr id="12" name="Shape 10"/>
          <p:cNvSpPr/>
          <p:nvPr/>
        </p:nvSpPr>
        <p:spPr>
          <a:xfrm>
            <a:off x="411480" y="3121152"/>
            <a:ext cx="4800600" cy="16459"/>
          </a:xfrm>
          <a:prstGeom prst="rect">
            <a:avLst/>
          </a:prstGeom>
          <a:solidFill>
            <a:srgbClr val="E5E7EB"/>
          </a:solidFill>
          <a:ln w="12700">
            <a:solidFill>
              <a:srgbClr val="E5E7EB"/>
            </a:solidFill>
            <a:prstDash val="solid"/>
          </a:ln>
        </p:spPr>
      </p:sp>
      <p:sp>
        <p:nvSpPr>
          <p:cNvPr id="13" name="Text 11"/>
          <p:cNvSpPr/>
          <p:nvPr/>
        </p:nvSpPr>
        <p:spPr>
          <a:xfrm>
            <a:off x="411480" y="3230880"/>
            <a:ext cx="4800600" cy="292608"/>
          </a:xfrm>
          <a:prstGeom prst="rect">
            <a:avLst/>
          </a:prstGeom>
          <a:noFill/>
          <a:ln/>
        </p:spPr>
        <p:txBody>
          <a:bodyPr wrap="square" lIns="0" tIns="0" rIns="0" bIns="0" rtlCol="0" anchor="ctr"/>
          <a:lstStyle/>
          <a:p>
            <a:pPr indent="0" marL="0">
              <a:buNone/>
            </a:pPr>
            <a:r>
              <a:rPr lang="en-US" sz="1200" b="1" dirty="0">
                <a:solidFill>
                  <a:srgbClr val="374151"/>
                </a:solidFill>
                <a:latin typeface="Trebuchet MS" pitchFamily="34" charset="0"/>
                <a:ea typeface="Trebuchet MS" pitchFamily="34" charset="-122"/>
                <a:cs typeface="Trebuchet MS" pitchFamily="34" charset="-120"/>
              </a:rPr>
              <a:t>Full Audit Trail</a:t>
            </a:r>
            <a:endParaRPr lang="en-US" sz="1200" dirty="0"/>
          </a:p>
        </p:txBody>
      </p:sp>
      <p:sp>
        <p:nvSpPr>
          <p:cNvPr id="14" name="Text 12"/>
          <p:cNvSpPr/>
          <p:nvPr/>
        </p:nvSpPr>
        <p:spPr>
          <a:xfrm>
            <a:off x="411480" y="3560064"/>
            <a:ext cx="4800600" cy="621792"/>
          </a:xfrm>
          <a:prstGeom prst="rect">
            <a:avLst/>
          </a:prstGeom>
          <a:noFill/>
          <a:ln/>
        </p:spPr>
        <p:txBody>
          <a:bodyPr wrap="square" lIns="0" tIns="0" rIns="0" bIns="0" rtlCol="0" anchor="ctr"/>
          <a:lstStyle/>
          <a:p>
            <a:pPr indent="0" marL="0">
              <a:lnSpc>
                <a:spcPct val="135000"/>
              </a:lnSpc>
              <a:buNone/>
            </a:pPr>
            <a:r>
              <a:rPr lang="en-US" sz="1050" dirty="0">
                <a:solidFill>
                  <a:srgbClr val="6B7280"/>
                </a:solidFill>
                <a:latin typeface="Calibri" pitchFamily="34" charset="0"/>
                <a:ea typeface="Calibri" pitchFamily="34" charset="-122"/>
                <a:cs typeface="Calibri" pitchFamily="34" charset="-120"/>
              </a:rPr>
              <a:t>Every service, every score, every resolved ticket lives in your dashboard. Useful for compliance reviews, facility audits, and accountability records.</a:t>
            </a:r>
            <a:endParaRPr lang="en-US" sz="1050" dirty="0"/>
          </a:p>
        </p:txBody>
      </p:sp>
      <p:sp>
        <p:nvSpPr>
          <p:cNvPr id="15" name="Shape 13"/>
          <p:cNvSpPr/>
          <p:nvPr/>
        </p:nvSpPr>
        <p:spPr>
          <a:xfrm>
            <a:off x="411480" y="4279392"/>
            <a:ext cx="4800600" cy="16459"/>
          </a:xfrm>
          <a:prstGeom prst="rect">
            <a:avLst/>
          </a:prstGeom>
          <a:solidFill>
            <a:srgbClr val="E5E7EB"/>
          </a:solidFill>
          <a:ln w="12700">
            <a:solidFill>
              <a:srgbClr val="E5E7EB"/>
            </a:solidFill>
            <a:prstDash val="solid"/>
          </a:ln>
        </p:spPr>
      </p:sp>
      <p:sp>
        <p:nvSpPr>
          <p:cNvPr id="16" name="Text 14"/>
          <p:cNvSpPr/>
          <p:nvPr/>
        </p:nvSpPr>
        <p:spPr>
          <a:xfrm>
            <a:off x="411480" y="4352544"/>
            <a:ext cx="4800600" cy="201168"/>
          </a:xfrm>
          <a:prstGeom prst="rect">
            <a:avLst/>
          </a:prstGeom>
          <a:noFill/>
          <a:ln/>
        </p:spPr>
        <p:txBody>
          <a:bodyPr wrap="square" lIns="0" tIns="0" rIns="0" bIns="0" rtlCol="0" anchor="ctr"/>
          <a:lstStyle/>
          <a:p>
            <a:pPr indent="0" marL="0">
              <a:buNone/>
            </a:pPr>
            <a:r>
              <a:rPr lang="en-US" sz="950" i="1" dirty="0">
                <a:solidFill>
                  <a:srgbClr val="2E7D52"/>
                </a:solidFill>
                <a:latin typeface="Calibri" pitchFamily="34" charset="0"/>
                <a:ea typeface="Calibri" pitchFamily="34" charset="-122"/>
                <a:cs typeface="Calibri" pitchFamily="34" charset="-120"/>
              </a:rPr>
              <a:t>Included with every MDF contract — at no additional charge.</a:t>
            </a:r>
            <a:endParaRPr lang="en-US" sz="950" dirty="0"/>
          </a:p>
        </p:txBody>
      </p:sp>
      <p:sp>
        <p:nvSpPr>
          <p:cNvPr id="17" name="Shape 15"/>
          <p:cNvSpPr/>
          <p:nvPr/>
        </p:nvSpPr>
        <p:spPr>
          <a:xfrm>
            <a:off x="5394960" y="859536"/>
            <a:ext cx="16459" cy="3566160"/>
          </a:xfrm>
          <a:prstGeom prst="rect">
            <a:avLst/>
          </a:prstGeom>
          <a:solidFill>
            <a:srgbClr val="E5E7EB"/>
          </a:solidFill>
          <a:ln w="12700">
            <a:solidFill>
              <a:srgbClr val="E5E7EB"/>
            </a:solidFill>
            <a:prstDash val="solid"/>
          </a:ln>
        </p:spPr>
      </p:sp>
      <p:sp>
        <p:nvSpPr>
          <p:cNvPr id="18" name="Text 16"/>
          <p:cNvSpPr/>
          <p:nvPr/>
        </p:nvSpPr>
        <p:spPr>
          <a:xfrm>
            <a:off x="5577840" y="1024128"/>
            <a:ext cx="3154680" cy="182880"/>
          </a:xfrm>
          <a:prstGeom prst="rect">
            <a:avLst/>
          </a:prstGeom>
          <a:noFill/>
          <a:ln/>
        </p:spPr>
        <p:txBody>
          <a:bodyPr wrap="square" lIns="0" tIns="0" rIns="0" bIns="0" rtlCol="0" anchor="ctr"/>
          <a:lstStyle/>
          <a:p>
            <a:pPr indent="0" marL="0">
              <a:buNone/>
            </a:pPr>
            <a:r>
              <a:rPr lang="en-US" sz="700" b="1" spc="250" kern="0" dirty="0">
                <a:solidFill>
                  <a:srgbClr val="9CA3AF"/>
                </a:solidFill>
                <a:latin typeface="Calibri" pitchFamily="34" charset="0"/>
                <a:ea typeface="Calibri" pitchFamily="34" charset="-122"/>
                <a:cs typeface="Calibri" pitchFamily="34" charset="-120"/>
              </a:rPr>
              <a:t>TARGET INSPECTION SCORE</a:t>
            </a:r>
            <a:endParaRPr lang="en-US" sz="700" dirty="0"/>
          </a:p>
        </p:txBody>
      </p:sp>
      <p:sp>
        <p:nvSpPr>
          <p:cNvPr id="19" name="Text 17"/>
          <p:cNvSpPr/>
          <p:nvPr/>
        </p:nvSpPr>
        <p:spPr>
          <a:xfrm>
            <a:off x="5577840" y="1225296"/>
            <a:ext cx="3154680" cy="658368"/>
          </a:xfrm>
          <a:prstGeom prst="rect">
            <a:avLst/>
          </a:prstGeom>
          <a:noFill/>
          <a:ln/>
        </p:spPr>
        <p:txBody>
          <a:bodyPr wrap="square" lIns="0" tIns="0" rIns="0" bIns="0" rtlCol="0" anchor="ctr"/>
          <a:lstStyle/>
          <a:p>
            <a:pPr indent="0" marL="0">
              <a:buNone/>
            </a:pPr>
            <a:r>
              <a:rPr lang="en-US" sz="4600" b="1" dirty="0">
                <a:solidFill>
                  <a:srgbClr val="0D1F3C"/>
                </a:solidFill>
                <a:latin typeface="Trebuchet MS" pitchFamily="34" charset="0"/>
                <a:ea typeface="Trebuchet MS" pitchFamily="34" charset="-122"/>
                <a:cs typeface="Trebuchet MS" pitchFamily="34" charset="-120"/>
              </a:rPr>
              <a:t>90%+</a:t>
            </a:r>
            <a:endParaRPr lang="en-US" sz="4600" dirty="0"/>
          </a:p>
        </p:txBody>
      </p:sp>
      <p:sp>
        <p:nvSpPr>
          <p:cNvPr id="20" name="Text 18"/>
          <p:cNvSpPr/>
          <p:nvPr/>
        </p:nvSpPr>
        <p:spPr>
          <a:xfrm>
            <a:off x="5577840" y="1847088"/>
            <a:ext cx="3154680" cy="182880"/>
          </a:xfrm>
          <a:prstGeom prst="rect">
            <a:avLst/>
          </a:prstGeom>
          <a:noFill/>
          <a:ln/>
        </p:spPr>
        <p:txBody>
          <a:bodyPr wrap="square" lIns="0" tIns="0" rIns="0" bIns="0" rtlCol="0" anchor="ctr"/>
          <a:lstStyle/>
          <a:p>
            <a:pPr indent="0" marL="0">
              <a:buNone/>
            </a:pPr>
            <a:r>
              <a:rPr lang="en-US" sz="950" dirty="0">
                <a:solidFill>
                  <a:srgbClr val="9CA3AF"/>
                </a:solidFill>
                <a:latin typeface="Calibri" pitchFamily="34" charset="0"/>
                <a:ea typeface="Calibri" pitchFamily="34" charset="-122"/>
                <a:cs typeface="Calibri" pitchFamily="34" charset="-120"/>
              </a:rPr>
              <a:t>Tracked and reported every week</a:t>
            </a:r>
            <a:endParaRPr lang="en-US" sz="950" dirty="0"/>
          </a:p>
        </p:txBody>
      </p:sp>
      <p:sp>
        <p:nvSpPr>
          <p:cNvPr id="21" name="Shape 19"/>
          <p:cNvSpPr/>
          <p:nvPr/>
        </p:nvSpPr>
        <p:spPr>
          <a:xfrm>
            <a:off x="5577840" y="2017776"/>
            <a:ext cx="3154680" cy="16459"/>
          </a:xfrm>
          <a:prstGeom prst="rect">
            <a:avLst/>
          </a:prstGeom>
          <a:solidFill>
            <a:srgbClr val="E5E7EB"/>
          </a:solidFill>
          <a:ln w="12700">
            <a:solidFill>
              <a:srgbClr val="E5E7EB"/>
            </a:solidFill>
            <a:prstDash val="solid"/>
          </a:ln>
        </p:spPr>
      </p:sp>
      <p:sp>
        <p:nvSpPr>
          <p:cNvPr id="22" name="Text 20"/>
          <p:cNvSpPr/>
          <p:nvPr/>
        </p:nvSpPr>
        <p:spPr>
          <a:xfrm>
            <a:off x="5577840" y="2127504"/>
            <a:ext cx="3154680" cy="182880"/>
          </a:xfrm>
          <a:prstGeom prst="rect">
            <a:avLst/>
          </a:prstGeom>
          <a:noFill/>
          <a:ln/>
        </p:spPr>
        <p:txBody>
          <a:bodyPr wrap="square" lIns="0" tIns="0" rIns="0" bIns="0" rtlCol="0" anchor="ctr"/>
          <a:lstStyle/>
          <a:p>
            <a:pPr indent="0" marL="0">
              <a:buNone/>
            </a:pPr>
            <a:r>
              <a:rPr lang="en-US" sz="700" b="1" spc="250" kern="0" dirty="0">
                <a:solidFill>
                  <a:srgbClr val="9CA3AF"/>
                </a:solidFill>
                <a:latin typeface="Calibri" pitchFamily="34" charset="0"/>
                <a:ea typeface="Calibri" pitchFamily="34" charset="-122"/>
                <a:cs typeface="Calibri" pitchFamily="34" charset="-120"/>
              </a:rPr>
              <a:t>AVERAGE RESPONSE TIME</a:t>
            </a:r>
            <a:endParaRPr lang="en-US" sz="700" dirty="0"/>
          </a:p>
        </p:txBody>
      </p:sp>
      <p:sp>
        <p:nvSpPr>
          <p:cNvPr id="23" name="Text 21"/>
          <p:cNvSpPr/>
          <p:nvPr/>
        </p:nvSpPr>
        <p:spPr>
          <a:xfrm>
            <a:off x="5577840" y="2328672"/>
            <a:ext cx="3154680" cy="658368"/>
          </a:xfrm>
          <a:prstGeom prst="rect">
            <a:avLst/>
          </a:prstGeom>
          <a:noFill/>
          <a:ln/>
        </p:spPr>
        <p:txBody>
          <a:bodyPr wrap="square" lIns="0" tIns="0" rIns="0" bIns="0" rtlCol="0" anchor="ctr"/>
          <a:lstStyle/>
          <a:p>
            <a:pPr indent="0" marL="0">
              <a:buNone/>
            </a:pPr>
            <a:r>
              <a:rPr lang="en-US" sz="4600" b="1" dirty="0">
                <a:solidFill>
                  <a:srgbClr val="0D1F3C"/>
                </a:solidFill>
                <a:latin typeface="Trebuchet MS" pitchFamily="34" charset="0"/>
                <a:ea typeface="Trebuchet MS" pitchFamily="34" charset="-122"/>
                <a:cs typeface="Trebuchet MS" pitchFamily="34" charset="-120"/>
              </a:rPr>
              <a:t>&lt;2hr</a:t>
            </a:r>
            <a:endParaRPr lang="en-US" sz="4600" dirty="0"/>
          </a:p>
        </p:txBody>
      </p:sp>
      <p:sp>
        <p:nvSpPr>
          <p:cNvPr id="24" name="Text 22"/>
          <p:cNvSpPr/>
          <p:nvPr/>
        </p:nvSpPr>
        <p:spPr>
          <a:xfrm>
            <a:off x="5577840" y="2950464"/>
            <a:ext cx="3154680" cy="182880"/>
          </a:xfrm>
          <a:prstGeom prst="rect">
            <a:avLst/>
          </a:prstGeom>
          <a:noFill/>
          <a:ln/>
        </p:spPr>
        <p:txBody>
          <a:bodyPr wrap="square" lIns="0" tIns="0" rIns="0" bIns="0" rtlCol="0" anchor="ctr"/>
          <a:lstStyle/>
          <a:p>
            <a:pPr indent="0" marL="0">
              <a:buNone/>
            </a:pPr>
            <a:r>
              <a:rPr lang="en-US" sz="950" dirty="0">
                <a:solidFill>
                  <a:srgbClr val="9CA3AF"/>
                </a:solidFill>
                <a:latin typeface="Calibri" pitchFamily="34" charset="0"/>
                <a:ea typeface="Calibri" pitchFamily="34" charset="-122"/>
                <a:cs typeface="Calibri" pitchFamily="34" charset="-120"/>
              </a:rPr>
              <a:t>From ticket open to acknowledgment</a:t>
            </a:r>
            <a:endParaRPr lang="en-US" sz="950" dirty="0"/>
          </a:p>
        </p:txBody>
      </p:sp>
      <p:sp>
        <p:nvSpPr>
          <p:cNvPr id="25" name="Shape 23"/>
          <p:cNvSpPr/>
          <p:nvPr/>
        </p:nvSpPr>
        <p:spPr>
          <a:xfrm>
            <a:off x="5577840" y="3121152"/>
            <a:ext cx="3154680" cy="16459"/>
          </a:xfrm>
          <a:prstGeom prst="rect">
            <a:avLst/>
          </a:prstGeom>
          <a:solidFill>
            <a:srgbClr val="E5E7EB"/>
          </a:solidFill>
          <a:ln w="12700">
            <a:solidFill>
              <a:srgbClr val="E5E7EB"/>
            </a:solidFill>
            <a:prstDash val="solid"/>
          </a:ln>
        </p:spPr>
      </p:sp>
      <p:sp>
        <p:nvSpPr>
          <p:cNvPr id="26" name="Text 24"/>
          <p:cNvSpPr/>
          <p:nvPr/>
        </p:nvSpPr>
        <p:spPr>
          <a:xfrm>
            <a:off x="5577840" y="3230880"/>
            <a:ext cx="3154680" cy="182880"/>
          </a:xfrm>
          <a:prstGeom prst="rect">
            <a:avLst/>
          </a:prstGeom>
          <a:noFill/>
          <a:ln/>
        </p:spPr>
        <p:txBody>
          <a:bodyPr wrap="square" lIns="0" tIns="0" rIns="0" bIns="0" rtlCol="0" anchor="ctr"/>
          <a:lstStyle/>
          <a:p>
            <a:pPr indent="0" marL="0">
              <a:buNone/>
            </a:pPr>
            <a:r>
              <a:rPr lang="en-US" sz="700" b="1" spc="250" kern="0" dirty="0">
                <a:solidFill>
                  <a:srgbClr val="9CA3AF"/>
                </a:solidFill>
                <a:latin typeface="Calibri" pitchFamily="34" charset="0"/>
                <a:ea typeface="Calibri" pitchFamily="34" charset="-122"/>
                <a:cs typeface="Calibri" pitchFamily="34" charset="-120"/>
              </a:rPr>
              <a:t>AVERAGE RESOLUTION TIME</a:t>
            </a:r>
            <a:endParaRPr lang="en-US" sz="700" dirty="0"/>
          </a:p>
        </p:txBody>
      </p:sp>
      <p:sp>
        <p:nvSpPr>
          <p:cNvPr id="27" name="Text 25"/>
          <p:cNvSpPr/>
          <p:nvPr/>
        </p:nvSpPr>
        <p:spPr>
          <a:xfrm>
            <a:off x="5577840" y="3432048"/>
            <a:ext cx="3154680" cy="658368"/>
          </a:xfrm>
          <a:prstGeom prst="rect">
            <a:avLst/>
          </a:prstGeom>
          <a:noFill/>
          <a:ln/>
        </p:spPr>
        <p:txBody>
          <a:bodyPr wrap="square" lIns="0" tIns="0" rIns="0" bIns="0" rtlCol="0" anchor="ctr"/>
          <a:lstStyle/>
          <a:p>
            <a:pPr indent="0" marL="0">
              <a:buNone/>
            </a:pPr>
            <a:r>
              <a:rPr lang="en-US" sz="4600" b="1" dirty="0">
                <a:solidFill>
                  <a:srgbClr val="0D1F3C"/>
                </a:solidFill>
                <a:latin typeface="Trebuchet MS" pitchFamily="34" charset="0"/>
                <a:ea typeface="Trebuchet MS" pitchFamily="34" charset="-122"/>
                <a:cs typeface="Trebuchet MS" pitchFamily="34" charset="-120"/>
              </a:rPr>
              <a:t>&lt;24hr</a:t>
            </a:r>
            <a:endParaRPr lang="en-US" sz="4600" dirty="0"/>
          </a:p>
        </p:txBody>
      </p:sp>
      <p:sp>
        <p:nvSpPr>
          <p:cNvPr id="28" name="Text 26"/>
          <p:cNvSpPr/>
          <p:nvPr/>
        </p:nvSpPr>
        <p:spPr>
          <a:xfrm>
            <a:off x="5577840" y="4053840"/>
            <a:ext cx="3154680" cy="182880"/>
          </a:xfrm>
          <a:prstGeom prst="rect">
            <a:avLst/>
          </a:prstGeom>
          <a:noFill/>
          <a:ln/>
        </p:spPr>
        <p:txBody>
          <a:bodyPr wrap="square" lIns="0" tIns="0" rIns="0" bIns="0" rtlCol="0" anchor="ctr"/>
          <a:lstStyle/>
          <a:p>
            <a:pPr indent="0" marL="0">
              <a:buNone/>
            </a:pPr>
            <a:r>
              <a:rPr lang="en-US" sz="950" dirty="0">
                <a:solidFill>
                  <a:srgbClr val="9CA3AF"/>
                </a:solidFill>
                <a:latin typeface="Calibri" pitchFamily="34" charset="0"/>
                <a:ea typeface="Calibri" pitchFamily="34" charset="-122"/>
                <a:cs typeface="Calibri" pitchFamily="34" charset="-120"/>
              </a:rPr>
              <a:t>From issue flagged to issue closed</a:t>
            </a:r>
            <a:endParaRPr lang="en-US" sz="950" dirty="0"/>
          </a:p>
        </p:txBody>
      </p:sp>
      <p:pic>
        <p:nvPicPr>
          <p:cNvPr id="29"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RAMP-UP PLAN</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7</a:t>
            </a:r>
            <a:endParaRPr lang="en-US" sz="800" dirty="0"/>
          </a:p>
        </p:txBody>
      </p:sp>
      <p:sp>
        <p:nvSpPr>
          <p:cNvPr id="5" name="Text 3"/>
          <p:cNvSpPr/>
          <p:nvPr/>
        </p:nvSpPr>
        <p:spPr>
          <a:xfrm>
            <a:off x="411480" y="347472"/>
            <a:ext cx="8229600" cy="420624"/>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Your Ramp-Up. Before Day One.</a:t>
            </a:r>
            <a:endParaRPr lang="en-US" sz="2200" dirty="0"/>
          </a:p>
        </p:txBody>
      </p:sp>
      <p:sp>
        <p:nvSpPr>
          <p:cNvPr id="6" name="Shape 4"/>
          <p:cNvSpPr/>
          <p:nvPr/>
        </p:nvSpPr>
        <p:spPr>
          <a:xfrm>
            <a:off x="411480" y="896112"/>
            <a:ext cx="8321040" cy="347472"/>
          </a:xfrm>
          <a:prstGeom prst="rect">
            <a:avLst/>
          </a:prstGeom>
          <a:solidFill>
            <a:srgbClr val="1A2B4A"/>
          </a:solidFill>
          <a:ln w="12700">
            <a:solidFill>
              <a:srgbClr val="1A2B4A"/>
            </a:solidFill>
            <a:prstDash val="solid"/>
          </a:ln>
        </p:spPr>
      </p:sp>
      <p:sp>
        <p:nvSpPr>
          <p:cNvPr id="7" name="Text 5"/>
          <p:cNvSpPr/>
          <p:nvPr/>
        </p:nvSpPr>
        <p:spPr>
          <a:xfrm>
            <a:off x="521208" y="987552"/>
            <a:ext cx="2194560" cy="201168"/>
          </a:xfrm>
          <a:prstGeom prst="rect">
            <a:avLst/>
          </a:prstGeom>
          <a:noFill/>
          <a:ln/>
        </p:spPr>
        <p:txBody>
          <a:bodyPr wrap="square" lIns="0" tIns="0" rIns="0" bIns="0" rtlCol="0" anchor="ctr"/>
          <a:lstStyle/>
          <a:p>
            <a:pPr indent="0" marL="0">
              <a:buNone/>
            </a:pPr>
            <a:r>
              <a:rPr lang="en-US" sz="750" b="1" spc="200" kern="0" dirty="0">
                <a:solidFill>
                  <a:srgbClr val="B8760A"/>
                </a:solidFill>
                <a:latin typeface="Calibri" pitchFamily="34" charset="0"/>
                <a:ea typeface="Calibri" pitchFamily="34" charset="-122"/>
                <a:cs typeface="Calibri" pitchFamily="34" charset="-120"/>
              </a:rPr>
              <a:t>ACTIVITY</a:t>
            </a:r>
            <a:endParaRPr lang="en-US" sz="750" dirty="0"/>
          </a:p>
        </p:txBody>
      </p:sp>
      <p:sp>
        <p:nvSpPr>
          <p:cNvPr id="8" name="Text 6"/>
          <p:cNvSpPr/>
          <p:nvPr/>
        </p:nvSpPr>
        <p:spPr>
          <a:xfrm>
            <a:off x="274320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Wk -2</a:t>
            </a:r>
            <a:endParaRPr lang="en-US" sz="800" dirty="0"/>
          </a:p>
        </p:txBody>
      </p:sp>
      <p:sp>
        <p:nvSpPr>
          <p:cNvPr id="9" name="Text 7"/>
          <p:cNvSpPr/>
          <p:nvPr/>
        </p:nvSpPr>
        <p:spPr>
          <a:xfrm>
            <a:off x="374142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Wk -1</a:t>
            </a:r>
            <a:endParaRPr lang="en-US" sz="800" dirty="0"/>
          </a:p>
        </p:txBody>
      </p:sp>
      <p:sp>
        <p:nvSpPr>
          <p:cNvPr id="10" name="Text 8"/>
          <p:cNvSpPr/>
          <p:nvPr/>
        </p:nvSpPr>
        <p:spPr>
          <a:xfrm>
            <a:off x="473964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Week 1</a:t>
            </a:r>
            <a:endParaRPr lang="en-US" sz="800" dirty="0"/>
          </a:p>
        </p:txBody>
      </p:sp>
      <p:sp>
        <p:nvSpPr>
          <p:cNvPr id="11" name="Text 9"/>
          <p:cNvSpPr/>
          <p:nvPr/>
        </p:nvSpPr>
        <p:spPr>
          <a:xfrm>
            <a:off x="573786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Week 2</a:t>
            </a:r>
            <a:endParaRPr lang="en-US" sz="800" dirty="0"/>
          </a:p>
        </p:txBody>
      </p:sp>
      <p:sp>
        <p:nvSpPr>
          <p:cNvPr id="12" name="Text 10"/>
          <p:cNvSpPr/>
          <p:nvPr/>
        </p:nvSpPr>
        <p:spPr>
          <a:xfrm>
            <a:off x="673608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Mo. 2</a:t>
            </a:r>
            <a:endParaRPr lang="en-US" sz="800" dirty="0"/>
          </a:p>
        </p:txBody>
      </p:sp>
      <p:sp>
        <p:nvSpPr>
          <p:cNvPr id="13" name="Text 11"/>
          <p:cNvSpPr/>
          <p:nvPr/>
        </p:nvSpPr>
        <p:spPr>
          <a:xfrm>
            <a:off x="7734300" y="987552"/>
            <a:ext cx="998220" cy="201168"/>
          </a:xfrm>
          <a:prstGeom prst="rect">
            <a:avLst/>
          </a:prstGeom>
          <a:noFill/>
          <a:ln/>
        </p:spPr>
        <p:txBody>
          <a:bodyPr wrap="square" lIns="0" tIns="0" rIns="0" bIns="0" rtlCol="0" anchor="ctr"/>
          <a:lstStyle/>
          <a:p>
            <a:pPr algn="ctr" indent="0" marL="0">
              <a:buNone/>
            </a:pPr>
            <a:r>
              <a:rPr lang="en-US" sz="800" b="1" dirty="0">
                <a:solidFill>
                  <a:srgbClr val="AABBD4"/>
                </a:solidFill>
                <a:latin typeface="Calibri" pitchFamily="34" charset="0"/>
                <a:ea typeface="Calibri" pitchFamily="34" charset="-122"/>
                <a:cs typeface="Calibri" pitchFamily="34" charset="-120"/>
              </a:rPr>
              <a:t>Mo. 3</a:t>
            </a:r>
            <a:endParaRPr lang="en-US" sz="800" dirty="0"/>
          </a:p>
        </p:txBody>
      </p:sp>
      <p:sp>
        <p:nvSpPr>
          <p:cNvPr id="14" name="Shape 12"/>
          <p:cNvSpPr/>
          <p:nvPr/>
        </p:nvSpPr>
        <p:spPr>
          <a:xfrm>
            <a:off x="411480" y="1243584"/>
            <a:ext cx="8321040" cy="427482"/>
          </a:xfrm>
          <a:prstGeom prst="rect">
            <a:avLst/>
          </a:prstGeom>
          <a:solidFill>
            <a:srgbClr val="FFFFFF"/>
          </a:solidFill>
          <a:ln w="12700">
            <a:solidFill>
              <a:srgbClr val="E5E7EB"/>
            </a:solidFill>
            <a:prstDash val="solid"/>
          </a:ln>
        </p:spPr>
      </p:sp>
      <p:sp>
        <p:nvSpPr>
          <p:cNvPr id="15" name="Text 13"/>
          <p:cNvSpPr/>
          <p:nvPr/>
        </p:nvSpPr>
        <p:spPr>
          <a:xfrm>
            <a:off x="539496" y="1347597"/>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CEO + QA Manager Site Walk</a:t>
            </a:r>
            <a:endParaRPr lang="en-US" sz="950" dirty="0"/>
          </a:p>
        </p:txBody>
      </p:sp>
      <p:sp>
        <p:nvSpPr>
          <p:cNvPr id="16" name="Shape 14"/>
          <p:cNvSpPr/>
          <p:nvPr/>
        </p:nvSpPr>
        <p:spPr>
          <a:xfrm>
            <a:off x="2798064" y="1320531"/>
            <a:ext cx="888492" cy="273588"/>
          </a:xfrm>
          <a:prstGeom prst="rect">
            <a:avLst/>
          </a:prstGeom>
          <a:solidFill>
            <a:srgbClr val="B8760A"/>
          </a:solidFill>
          <a:ln w="12700">
            <a:solidFill>
              <a:srgbClr val="B8760A"/>
            </a:solidFill>
            <a:prstDash val="solid"/>
          </a:ln>
        </p:spPr>
      </p:sp>
      <p:sp>
        <p:nvSpPr>
          <p:cNvPr id="17" name="Shape 15"/>
          <p:cNvSpPr/>
          <p:nvPr/>
        </p:nvSpPr>
        <p:spPr>
          <a:xfrm>
            <a:off x="3796284" y="1320531"/>
            <a:ext cx="888492" cy="273588"/>
          </a:xfrm>
          <a:prstGeom prst="rect">
            <a:avLst/>
          </a:prstGeom>
          <a:solidFill>
            <a:srgbClr val="B8760A"/>
          </a:solidFill>
          <a:ln w="12700">
            <a:solidFill>
              <a:srgbClr val="B8760A"/>
            </a:solidFill>
            <a:prstDash val="solid"/>
          </a:ln>
        </p:spPr>
      </p:sp>
      <p:sp>
        <p:nvSpPr>
          <p:cNvPr id="18" name="Shape 16"/>
          <p:cNvSpPr/>
          <p:nvPr/>
        </p:nvSpPr>
        <p:spPr>
          <a:xfrm>
            <a:off x="411480" y="1671066"/>
            <a:ext cx="8321040" cy="427482"/>
          </a:xfrm>
          <a:prstGeom prst="rect">
            <a:avLst/>
          </a:prstGeom>
          <a:solidFill>
            <a:srgbClr val="F4F7FB"/>
          </a:solidFill>
          <a:ln w="12700">
            <a:solidFill>
              <a:srgbClr val="E5E7EB"/>
            </a:solidFill>
            <a:prstDash val="solid"/>
          </a:ln>
        </p:spPr>
      </p:sp>
      <p:sp>
        <p:nvSpPr>
          <p:cNvPr id="19" name="Text 17"/>
          <p:cNvSpPr/>
          <p:nvPr/>
        </p:nvSpPr>
        <p:spPr>
          <a:xfrm>
            <a:off x="539496" y="1775079"/>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Key Handoff &amp; Supply Staging</a:t>
            </a:r>
            <a:endParaRPr lang="en-US" sz="950" dirty="0"/>
          </a:p>
        </p:txBody>
      </p:sp>
      <p:sp>
        <p:nvSpPr>
          <p:cNvPr id="20" name="Shape 18"/>
          <p:cNvSpPr/>
          <p:nvPr/>
        </p:nvSpPr>
        <p:spPr>
          <a:xfrm>
            <a:off x="2798064" y="1748013"/>
            <a:ext cx="888492" cy="273588"/>
          </a:xfrm>
          <a:prstGeom prst="rect">
            <a:avLst/>
          </a:prstGeom>
          <a:solidFill>
            <a:srgbClr val="B8760A"/>
          </a:solidFill>
          <a:ln w="12700">
            <a:solidFill>
              <a:srgbClr val="B8760A"/>
            </a:solidFill>
            <a:prstDash val="solid"/>
          </a:ln>
        </p:spPr>
      </p:sp>
      <p:sp>
        <p:nvSpPr>
          <p:cNvPr id="21" name="Shape 19"/>
          <p:cNvSpPr/>
          <p:nvPr/>
        </p:nvSpPr>
        <p:spPr>
          <a:xfrm>
            <a:off x="3796284" y="1748013"/>
            <a:ext cx="888492" cy="273588"/>
          </a:xfrm>
          <a:prstGeom prst="rect">
            <a:avLst/>
          </a:prstGeom>
          <a:solidFill>
            <a:srgbClr val="B8760A"/>
          </a:solidFill>
          <a:ln w="12700">
            <a:solidFill>
              <a:srgbClr val="B8760A"/>
            </a:solidFill>
            <a:prstDash val="solid"/>
          </a:ln>
        </p:spPr>
      </p:sp>
      <p:sp>
        <p:nvSpPr>
          <p:cNvPr id="22" name="Shape 20"/>
          <p:cNvSpPr/>
          <p:nvPr/>
        </p:nvSpPr>
        <p:spPr>
          <a:xfrm>
            <a:off x="411480" y="2098548"/>
            <a:ext cx="8321040" cy="427482"/>
          </a:xfrm>
          <a:prstGeom prst="rect">
            <a:avLst/>
          </a:prstGeom>
          <a:solidFill>
            <a:srgbClr val="FFFFFF"/>
          </a:solidFill>
          <a:ln w="12700">
            <a:solidFill>
              <a:srgbClr val="E5E7EB"/>
            </a:solidFill>
            <a:prstDash val="solid"/>
          </a:ln>
        </p:spPr>
      </p:sp>
      <p:sp>
        <p:nvSpPr>
          <p:cNvPr id="23" name="Text 21"/>
          <p:cNvSpPr/>
          <p:nvPr/>
        </p:nvSpPr>
        <p:spPr>
          <a:xfrm>
            <a:off x="539496" y="2202561"/>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Team Assignment &amp; Orientation</a:t>
            </a:r>
            <a:endParaRPr lang="en-US" sz="950" dirty="0"/>
          </a:p>
        </p:txBody>
      </p:sp>
      <p:sp>
        <p:nvSpPr>
          <p:cNvPr id="24" name="Shape 22"/>
          <p:cNvSpPr/>
          <p:nvPr/>
        </p:nvSpPr>
        <p:spPr>
          <a:xfrm>
            <a:off x="3796284" y="2175495"/>
            <a:ext cx="888492" cy="273588"/>
          </a:xfrm>
          <a:prstGeom prst="rect">
            <a:avLst/>
          </a:prstGeom>
          <a:solidFill>
            <a:srgbClr val="B8760A"/>
          </a:solidFill>
          <a:ln w="12700">
            <a:solidFill>
              <a:srgbClr val="B8760A"/>
            </a:solidFill>
            <a:prstDash val="solid"/>
          </a:ln>
        </p:spPr>
      </p:sp>
      <p:sp>
        <p:nvSpPr>
          <p:cNvPr id="25" name="Shape 23"/>
          <p:cNvSpPr/>
          <p:nvPr/>
        </p:nvSpPr>
        <p:spPr>
          <a:xfrm>
            <a:off x="411480" y="2526030"/>
            <a:ext cx="8321040" cy="427482"/>
          </a:xfrm>
          <a:prstGeom prst="rect">
            <a:avLst/>
          </a:prstGeom>
          <a:solidFill>
            <a:srgbClr val="F4F7FB"/>
          </a:solidFill>
          <a:ln w="12700">
            <a:solidFill>
              <a:srgbClr val="E5E7EB"/>
            </a:solidFill>
            <a:prstDash val="solid"/>
          </a:ln>
        </p:spPr>
      </p:sp>
      <p:sp>
        <p:nvSpPr>
          <p:cNvPr id="26" name="Text 24"/>
          <p:cNvSpPr/>
          <p:nvPr/>
        </p:nvSpPr>
        <p:spPr>
          <a:xfrm>
            <a:off x="539496" y="2630043"/>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Service Launch</a:t>
            </a:r>
            <a:endParaRPr lang="en-US" sz="950" dirty="0"/>
          </a:p>
        </p:txBody>
      </p:sp>
      <p:sp>
        <p:nvSpPr>
          <p:cNvPr id="27" name="Shape 25"/>
          <p:cNvSpPr/>
          <p:nvPr/>
        </p:nvSpPr>
        <p:spPr>
          <a:xfrm>
            <a:off x="4794504" y="2602977"/>
            <a:ext cx="888492" cy="273588"/>
          </a:xfrm>
          <a:prstGeom prst="rect">
            <a:avLst/>
          </a:prstGeom>
          <a:solidFill>
            <a:srgbClr val="0D1F3C"/>
          </a:solidFill>
          <a:ln w="12700">
            <a:solidFill>
              <a:srgbClr val="0D1F3C"/>
            </a:solidFill>
            <a:prstDash val="solid"/>
          </a:ln>
        </p:spPr>
      </p:sp>
      <p:sp>
        <p:nvSpPr>
          <p:cNvPr id="28" name="Shape 26"/>
          <p:cNvSpPr/>
          <p:nvPr/>
        </p:nvSpPr>
        <p:spPr>
          <a:xfrm>
            <a:off x="411480" y="2953512"/>
            <a:ext cx="8321040" cy="427482"/>
          </a:xfrm>
          <a:prstGeom prst="rect">
            <a:avLst/>
          </a:prstGeom>
          <a:solidFill>
            <a:srgbClr val="FFFFFF"/>
          </a:solidFill>
          <a:ln w="12700">
            <a:solidFill>
              <a:srgbClr val="E5E7EB"/>
            </a:solidFill>
            <a:prstDash val="solid"/>
          </a:ln>
        </p:spPr>
      </p:sp>
      <p:sp>
        <p:nvSpPr>
          <p:cNvPr id="29" name="Text 27"/>
          <p:cNvSpPr/>
          <p:nvPr/>
        </p:nvSpPr>
        <p:spPr>
          <a:xfrm>
            <a:off x="539496" y="3057525"/>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Daily Supervisor Check-Ins</a:t>
            </a:r>
            <a:endParaRPr lang="en-US" sz="950" dirty="0"/>
          </a:p>
        </p:txBody>
      </p:sp>
      <p:sp>
        <p:nvSpPr>
          <p:cNvPr id="30" name="Shape 28"/>
          <p:cNvSpPr/>
          <p:nvPr/>
        </p:nvSpPr>
        <p:spPr>
          <a:xfrm>
            <a:off x="4794504" y="3030459"/>
            <a:ext cx="888492" cy="273588"/>
          </a:xfrm>
          <a:prstGeom prst="rect">
            <a:avLst/>
          </a:prstGeom>
          <a:solidFill>
            <a:srgbClr val="0D1F3C"/>
          </a:solidFill>
          <a:ln w="12700">
            <a:solidFill>
              <a:srgbClr val="0D1F3C"/>
            </a:solidFill>
            <a:prstDash val="solid"/>
          </a:ln>
        </p:spPr>
      </p:sp>
      <p:sp>
        <p:nvSpPr>
          <p:cNvPr id="31" name="Shape 29"/>
          <p:cNvSpPr/>
          <p:nvPr/>
        </p:nvSpPr>
        <p:spPr>
          <a:xfrm>
            <a:off x="5792724" y="3030459"/>
            <a:ext cx="888492" cy="273588"/>
          </a:xfrm>
          <a:prstGeom prst="rect">
            <a:avLst/>
          </a:prstGeom>
          <a:solidFill>
            <a:srgbClr val="0D1F3C"/>
          </a:solidFill>
          <a:ln w="12700">
            <a:solidFill>
              <a:srgbClr val="0D1F3C"/>
            </a:solidFill>
            <a:prstDash val="solid"/>
          </a:ln>
        </p:spPr>
      </p:sp>
      <p:sp>
        <p:nvSpPr>
          <p:cNvPr id="32" name="Shape 30"/>
          <p:cNvSpPr/>
          <p:nvPr/>
        </p:nvSpPr>
        <p:spPr>
          <a:xfrm>
            <a:off x="411480" y="3380994"/>
            <a:ext cx="8321040" cy="427482"/>
          </a:xfrm>
          <a:prstGeom prst="rect">
            <a:avLst/>
          </a:prstGeom>
          <a:solidFill>
            <a:srgbClr val="F4F7FB"/>
          </a:solidFill>
          <a:ln w="12700">
            <a:solidFill>
              <a:srgbClr val="E5E7EB"/>
            </a:solidFill>
            <a:prstDash val="solid"/>
          </a:ln>
        </p:spPr>
      </p:sp>
      <p:sp>
        <p:nvSpPr>
          <p:cNvPr id="33" name="Text 31"/>
          <p:cNvSpPr/>
          <p:nvPr/>
        </p:nvSpPr>
        <p:spPr>
          <a:xfrm>
            <a:off x="539496" y="3485007"/>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OrangeQC Baseline Report</a:t>
            </a:r>
            <a:endParaRPr lang="en-US" sz="950" dirty="0"/>
          </a:p>
        </p:txBody>
      </p:sp>
      <p:sp>
        <p:nvSpPr>
          <p:cNvPr id="34" name="Shape 32"/>
          <p:cNvSpPr/>
          <p:nvPr/>
        </p:nvSpPr>
        <p:spPr>
          <a:xfrm>
            <a:off x="4794504" y="3457941"/>
            <a:ext cx="888492" cy="273588"/>
          </a:xfrm>
          <a:prstGeom prst="rect">
            <a:avLst/>
          </a:prstGeom>
          <a:solidFill>
            <a:srgbClr val="0D1F3C"/>
          </a:solidFill>
          <a:ln w="12700">
            <a:solidFill>
              <a:srgbClr val="0D1F3C"/>
            </a:solidFill>
            <a:prstDash val="solid"/>
          </a:ln>
        </p:spPr>
      </p:sp>
      <p:sp>
        <p:nvSpPr>
          <p:cNvPr id="35" name="Shape 33"/>
          <p:cNvSpPr/>
          <p:nvPr/>
        </p:nvSpPr>
        <p:spPr>
          <a:xfrm>
            <a:off x="5792724" y="3457941"/>
            <a:ext cx="888492" cy="273588"/>
          </a:xfrm>
          <a:prstGeom prst="rect">
            <a:avLst/>
          </a:prstGeom>
          <a:solidFill>
            <a:srgbClr val="0D1F3C"/>
          </a:solidFill>
          <a:ln w="12700">
            <a:solidFill>
              <a:srgbClr val="0D1F3C"/>
            </a:solidFill>
            <a:prstDash val="solid"/>
          </a:ln>
        </p:spPr>
      </p:sp>
      <p:sp>
        <p:nvSpPr>
          <p:cNvPr id="36" name="Shape 34"/>
          <p:cNvSpPr/>
          <p:nvPr/>
        </p:nvSpPr>
        <p:spPr>
          <a:xfrm>
            <a:off x="411480" y="3808476"/>
            <a:ext cx="8321040" cy="427482"/>
          </a:xfrm>
          <a:prstGeom prst="rect">
            <a:avLst/>
          </a:prstGeom>
          <a:solidFill>
            <a:srgbClr val="FFFFFF"/>
          </a:solidFill>
          <a:ln w="12700">
            <a:solidFill>
              <a:srgbClr val="E5E7EB"/>
            </a:solidFill>
            <a:prstDash val="solid"/>
          </a:ln>
        </p:spPr>
      </p:sp>
      <p:sp>
        <p:nvSpPr>
          <p:cNvPr id="37" name="Text 35"/>
          <p:cNvSpPr/>
          <p:nvPr/>
        </p:nvSpPr>
        <p:spPr>
          <a:xfrm>
            <a:off x="539496" y="3912489"/>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30-Day Review Call</a:t>
            </a:r>
            <a:endParaRPr lang="en-US" sz="950" dirty="0"/>
          </a:p>
        </p:txBody>
      </p:sp>
      <p:sp>
        <p:nvSpPr>
          <p:cNvPr id="38" name="Shape 36"/>
          <p:cNvSpPr/>
          <p:nvPr/>
        </p:nvSpPr>
        <p:spPr>
          <a:xfrm>
            <a:off x="6790944" y="3885423"/>
            <a:ext cx="888492" cy="273588"/>
          </a:xfrm>
          <a:prstGeom prst="rect">
            <a:avLst/>
          </a:prstGeom>
          <a:solidFill>
            <a:srgbClr val="2E6B3E"/>
          </a:solidFill>
          <a:ln w="12700">
            <a:solidFill>
              <a:srgbClr val="2E6B3E"/>
            </a:solidFill>
            <a:prstDash val="solid"/>
          </a:ln>
        </p:spPr>
      </p:sp>
      <p:sp>
        <p:nvSpPr>
          <p:cNvPr id="39" name="Shape 37"/>
          <p:cNvSpPr/>
          <p:nvPr/>
        </p:nvSpPr>
        <p:spPr>
          <a:xfrm>
            <a:off x="411480" y="4235958"/>
            <a:ext cx="8321040" cy="427482"/>
          </a:xfrm>
          <a:prstGeom prst="rect">
            <a:avLst/>
          </a:prstGeom>
          <a:solidFill>
            <a:srgbClr val="F4F7FB"/>
          </a:solidFill>
          <a:ln w="12700">
            <a:solidFill>
              <a:srgbClr val="E5E7EB"/>
            </a:solidFill>
            <a:prstDash val="solid"/>
          </a:ln>
        </p:spPr>
      </p:sp>
      <p:sp>
        <p:nvSpPr>
          <p:cNvPr id="40" name="Text 38"/>
          <p:cNvSpPr/>
          <p:nvPr/>
        </p:nvSpPr>
        <p:spPr>
          <a:xfrm>
            <a:off x="539496" y="4339971"/>
            <a:ext cx="2148840" cy="219456"/>
          </a:xfrm>
          <a:prstGeom prst="rect">
            <a:avLst/>
          </a:prstGeom>
          <a:noFill/>
          <a:ln/>
        </p:spPr>
        <p:txBody>
          <a:bodyPr wrap="square" lIns="0" tIns="0" rIns="0" bIns="0" rtlCol="0" anchor="ctr"/>
          <a:lstStyle/>
          <a:p>
            <a:pPr indent="0" marL="0">
              <a:buNone/>
            </a:pPr>
            <a:r>
              <a:rPr lang="en-US" sz="950" dirty="0">
                <a:solidFill>
                  <a:srgbClr val="0D1F3C"/>
                </a:solidFill>
                <a:latin typeface="Calibri" pitchFamily="34" charset="0"/>
                <a:ea typeface="Calibri" pitchFamily="34" charset="-122"/>
                <a:cs typeface="Calibri" pitchFamily="34" charset="-120"/>
              </a:rPr>
              <a:t>90-Day QBR &amp; Scope Review</a:t>
            </a:r>
            <a:endParaRPr lang="en-US" sz="950" dirty="0"/>
          </a:p>
        </p:txBody>
      </p:sp>
      <p:sp>
        <p:nvSpPr>
          <p:cNvPr id="41" name="Shape 39"/>
          <p:cNvSpPr/>
          <p:nvPr/>
        </p:nvSpPr>
        <p:spPr>
          <a:xfrm>
            <a:off x="7789164" y="4312905"/>
            <a:ext cx="888492" cy="273588"/>
          </a:xfrm>
          <a:prstGeom prst="rect">
            <a:avLst/>
          </a:prstGeom>
          <a:solidFill>
            <a:srgbClr val="2E6B3E"/>
          </a:solidFill>
          <a:ln w="12700">
            <a:solidFill>
              <a:srgbClr val="2E6B3E"/>
            </a:solidFill>
            <a:prstDash val="solid"/>
          </a:ln>
        </p:spPr>
      </p:sp>
      <p:sp>
        <p:nvSpPr>
          <p:cNvPr id="42" name="Shape 40"/>
          <p:cNvSpPr/>
          <p:nvPr/>
        </p:nvSpPr>
        <p:spPr>
          <a:xfrm>
            <a:off x="411480" y="4736592"/>
            <a:ext cx="182880" cy="128016"/>
          </a:xfrm>
          <a:prstGeom prst="rect">
            <a:avLst/>
          </a:prstGeom>
          <a:solidFill>
            <a:srgbClr val="B8760A"/>
          </a:solidFill>
          <a:ln w="12700">
            <a:solidFill>
              <a:srgbClr val="B8760A"/>
            </a:solidFill>
            <a:prstDash val="solid"/>
          </a:ln>
        </p:spPr>
      </p:sp>
      <p:sp>
        <p:nvSpPr>
          <p:cNvPr id="43" name="Text 41"/>
          <p:cNvSpPr/>
          <p:nvPr/>
        </p:nvSpPr>
        <p:spPr>
          <a:xfrm>
            <a:off x="658368" y="4718304"/>
            <a:ext cx="2103120" cy="164592"/>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Pre-Start</a:t>
            </a:r>
            <a:endParaRPr lang="en-US" sz="850" dirty="0"/>
          </a:p>
        </p:txBody>
      </p:sp>
      <p:sp>
        <p:nvSpPr>
          <p:cNvPr id="44" name="Shape 42"/>
          <p:cNvSpPr/>
          <p:nvPr/>
        </p:nvSpPr>
        <p:spPr>
          <a:xfrm>
            <a:off x="2788920" y="4736592"/>
            <a:ext cx="182880" cy="128016"/>
          </a:xfrm>
          <a:prstGeom prst="rect">
            <a:avLst/>
          </a:prstGeom>
          <a:solidFill>
            <a:srgbClr val="0D1F3C"/>
          </a:solidFill>
          <a:ln w="12700">
            <a:solidFill>
              <a:srgbClr val="0D1F3C"/>
            </a:solidFill>
            <a:prstDash val="solid"/>
          </a:ln>
        </p:spPr>
      </p:sp>
      <p:sp>
        <p:nvSpPr>
          <p:cNvPr id="45" name="Text 43"/>
          <p:cNvSpPr/>
          <p:nvPr/>
        </p:nvSpPr>
        <p:spPr>
          <a:xfrm>
            <a:off x="3035808" y="4718304"/>
            <a:ext cx="2103120" cy="164592"/>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Active Service</a:t>
            </a:r>
            <a:endParaRPr lang="en-US" sz="850" dirty="0"/>
          </a:p>
        </p:txBody>
      </p:sp>
      <p:sp>
        <p:nvSpPr>
          <p:cNvPr id="46" name="Shape 44"/>
          <p:cNvSpPr/>
          <p:nvPr/>
        </p:nvSpPr>
        <p:spPr>
          <a:xfrm>
            <a:off x="5166360" y="4736592"/>
            <a:ext cx="182880" cy="128016"/>
          </a:xfrm>
          <a:prstGeom prst="rect">
            <a:avLst/>
          </a:prstGeom>
          <a:solidFill>
            <a:srgbClr val="2E6B3E"/>
          </a:solidFill>
          <a:ln w="12700">
            <a:solidFill>
              <a:srgbClr val="2E6B3E"/>
            </a:solidFill>
            <a:prstDash val="solid"/>
          </a:ln>
        </p:spPr>
      </p:sp>
      <p:sp>
        <p:nvSpPr>
          <p:cNvPr id="47" name="Text 45"/>
          <p:cNvSpPr/>
          <p:nvPr/>
        </p:nvSpPr>
        <p:spPr>
          <a:xfrm>
            <a:off x="5413248" y="4718304"/>
            <a:ext cx="2103120" cy="164592"/>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Milestone Review</a:t>
            </a:r>
            <a:endParaRPr lang="en-US" sz="850" dirty="0"/>
          </a:p>
        </p:txBody>
      </p:sp>
      <p:pic>
        <p:nvPicPr>
          <p:cNvPr id="48"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CLIENT RESULTS</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8</a:t>
            </a:r>
            <a:endParaRPr lang="en-US" sz="800" dirty="0"/>
          </a:p>
        </p:txBody>
      </p:sp>
      <p:sp>
        <p:nvSpPr>
          <p:cNvPr id="5" name="Text 3"/>
          <p:cNvSpPr/>
          <p:nvPr/>
        </p:nvSpPr>
        <p:spPr>
          <a:xfrm>
            <a:off x="411480" y="347472"/>
            <a:ext cx="6858000" cy="420624"/>
          </a:xfrm>
          <a:prstGeom prst="rect">
            <a:avLst/>
          </a:prstGeom>
          <a:noFill/>
          <a:ln/>
        </p:spPr>
        <p:txBody>
          <a:bodyPr wrap="square" lIns="0" tIns="0" rIns="0" bIns="0" rtlCol="0" anchor="ctr"/>
          <a:lstStyle/>
          <a:p>
            <a:pPr indent="0" marL="0">
              <a:buNone/>
            </a:pPr>
            <a:r>
              <a:rPr lang="en-US" sz="2200" b="1" dirty="0">
                <a:solidFill>
                  <a:srgbClr val="0D1F3C"/>
                </a:solidFill>
                <a:latin typeface="Trebuchet MS" pitchFamily="34" charset="0"/>
                <a:ea typeface="Trebuchet MS" pitchFamily="34" charset="-122"/>
                <a:cs typeface="Trebuchet MS" pitchFamily="34" charset="-120"/>
              </a:rPr>
              <a:t>What Our Clients Say.</a:t>
            </a:r>
            <a:endParaRPr lang="en-US" sz="2200" dirty="0"/>
          </a:p>
        </p:txBody>
      </p:sp>
      <p:sp>
        <p:nvSpPr>
          <p:cNvPr id="6" name="Text 4"/>
          <p:cNvSpPr/>
          <p:nvPr/>
        </p:nvSpPr>
        <p:spPr>
          <a:xfrm>
            <a:off x="411480" y="786384"/>
            <a:ext cx="6400800" cy="23774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Facilities that can't afford to get it wrong — and don't.</a:t>
            </a:r>
            <a:endParaRPr lang="en-US" sz="1100" dirty="0"/>
          </a:p>
        </p:txBody>
      </p:sp>
      <p:sp>
        <p:nvSpPr>
          <p:cNvPr id="7" name="Shape 5"/>
          <p:cNvSpPr/>
          <p:nvPr/>
        </p:nvSpPr>
        <p:spPr>
          <a:xfrm>
            <a:off x="411480" y="1078992"/>
            <a:ext cx="7388352" cy="16459"/>
          </a:xfrm>
          <a:prstGeom prst="rect">
            <a:avLst/>
          </a:prstGeom>
          <a:solidFill>
            <a:srgbClr val="E5E7EB"/>
          </a:solidFill>
          <a:ln w="12700">
            <a:solidFill>
              <a:srgbClr val="E5E7EB"/>
            </a:solidFill>
            <a:prstDash val="solid"/>
          </a:ln>
        </p:spPr>
      </p:sp>
      <p:sp>
        <p:nvSpPr>
          <p:cNvPr id="8" name="Text 6"/>
          <p:cNvSpPr/>
          <p:nvPr/>
        </p:nvSpPr>
        <p:spPr>
          <a:xfrm>
            <a:off x="411480" y="1170432"/>
            <a:ext cx="6903720" cy="1024128"/>
          </a:xfrm>
          <a:prstGeom prst="rect">
            <a:avLst/>
          </a:prstGeom>
          <a:noFill/>
          <a:ln/>
        </p:spPr>
        <p:txBody>
          <a:bodyPr wrap="square" lIns="0" tIns="0" rIns="0" bIns="0" rtlCol="0" anchor="ctr"/>
          <a:lstStyle/>
          <a:p>
            <a:pPr indent="0" marL="0">
              <a:lnSpc>
                <a:spcPct val="140000"/>
              </a:lnSpc>
              <a:buNone/>
            </a:pPr>
            <a:r>
              <a:rPr lang="en-US" sz="1300" i="1" dirty="0">
                <a:solidFill>
                  <a:srgbClr val="0D1F3C"/>
                </a:solidFill>
                <a:latin typeface="Calibri" pitchFamily="34" charset="0"/>
                <a:ea typeface="Calibri" pitchFamily="34" charset="-122"/>
                <a:cs typeface="Calibri" pitchFamily="34" charset="-120"/>
              </a:rPr>
              <a:t>"What impressed us most was their understanding of our compliance requirements. They didn't just clean — they followed our protocols, documented everything, and worked around our production schedule without missing a beat."</a:t>
            </a:r>
            <a:endParaRPr lang="en-US" sz="1300" dirty="0"/>
          </a:p>
        </p:txBody>
      </p:sp>
      <p:sp>
        <p:nvSpPr>
          <p:cNvPr id="9" name="Text 7"/>
          <p:cNvSpPr/>
          <p:nvPr/>
        </p:nvSpPr>
        <p:spPr>
          <a:xfrm>
            <a:off x="411480" y="2231136"/>
            <a:ext cx="6903720" cy="219456"/>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 Manufacturing Plant Operations Manager</a:t>
            </a:r>
            <a:endParaRPr lang="en-US" sz="950" dirty="0"/>
          </a:p>
        </p:txBody>
      </p:sp>
      <p:sp>
        <p:nvSpPr>
          <p:cNvPr id="10" name="Shape 8"/>
          <p:cNvSpPr/>
          <p:nvPr/>
        </p:nvSpPr>
        <p:spPr>
          <a:xfrm>
            <a:off x="411480" y="2505456"/>
            <a:ext cx="6949440" cy="16459"/>
          </a:xfrm>
          <a:prstGeom prst="rect">
            <a:avLst/>
          </a:prstGeom>
          <a:solidFill>
            <a:srgbClr val="E5E7EB"/>
          </a:solidFill>
          <a:ln w="12700">
            <a:solidFill>
              <a:srgbClr val="E5E7EB"/>
            </a:solidFill>
            <a:prstDash val="solid"/>
          </a:ln>
        </p:spPr>
      </p:sp>
      <p:sp>
        <p:nvSpPr>
          <p:cNvPr id="11" name="Text 9"/>
          <p:cNvSpPr/>
          <p:nvPr/>
        </p:nvSpPr>
        <p:spPr>
          <a:xfrm>
            <a:off x="411480" y="2596896"/>
            <a:ext cx="3246120" cy="987552"/>
          </a:xfrm>
          <a:prstGeom prst="rect">
            <a:avLst/>
          </a:prstGeom>
          <a:noFill/>
          <a:ln/>
        </p:spPr>
        <p:txBody>
          <a:bodyPr wrap="square" lIns="0" tIns="0" rIns="0" bIns="0" rtlCol="0" anchor="ctr"/>
          <a:lstStyle/>
          <a:p>
            <a:pPr indent="0" marL="0">
              <a:lnSpc>
                <a:spcPct val="135000"/>
              </a:lnSpc>
              <a:buNone/>
            </a:pPr>
            <a:r>
              <a:rPr lang="en-US" sz="1000" i="1" dirty="0">
                <a:solidFill>
                  <a:srgbClr val="6B7280"/>
                </a:solidFill>
                <a:latin typeface="Calibri" pitchFamily="34" charset="0"/>
                <a:ea typeface="Calibri" pitchFamily="34" charset="-122"/>
                <a:cs typeface="Calibri" pitchFamily="34" charset="-120"/>
              </a:rPr>
              <a:t>"The team at MDF understands that in our environment, cleaning is part of our safety program — not just an afterthought."</a:t>
            </a:r>
            <a:endParaRPr lang="en-US" sz="1000" dirty="0"/>
          </a:p>
        </p:txBody>
      </p:sp>
      <p:sp>
        <p:nvSpPr>
          <p:cNvPr id="12" name="Text 10"/>
          <p:cNvSpPr/>
          <p:nvPr/>
        </p:nvSpPr>
        <p:spPr>
          <a:xfrm>
            <a:off x="411480" y="3621024"/>
            <a:ext cx="3246120" cy="201168"/>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 Sheriff's Office Facility Manager</a:t>
            </a:r>
            <a:endParaRPr lang="en-US" sz="900" dirty="0"/>
          </a:p>
        </p:txBody>
      </p:sp>
      <p:sp>
        <p:nvSpPr>
          <p:cNvPr id="13" name="Text 11"/>
          <p:cNvSpPr/>
          <p:nvPr/>
        </p:nvSpPr>
        <p:spPr>
          <a:xfrm>
            <a:off x="3858768" y="2596896"/>
            <a:ext cx="3246120" cy="987552"/>
          </a:xfrm>
          <a:prstGeom prst="rect">
            <a:avLst/>
          </a:prstGeom>
          <a:noFill/>
          <a:ln/>
        </p:spPr>
        <p:txBody>
          <a:bodyPr wrap="square" lIns="0" tIns="0" rIns="0" bIns="0" rtlCol="0" anchor="ctr"/>
          <a:lstStyle/>
          <a:p>
            <a:pPr indent="0" marL="0">
              <a:lnSpc>
                <a:spcPct val="135000"/>
              </a:lnSpc>
              <a:buNone/>
            </a:pPr>
            <a:r>
              <a:rPr lang="en-US" sz="1000" i="1" dirty="0">
                <a:solidFill>
                  <a:srgbClr val="6B7280"/>
                </a:solidFill>
                <a:latin typeface="Calibri" pitchFamily="34" charset="0"/>
                <a:ea typeface="Calibri" pitchFamily="34" charset="-122"/>
                <a:cs typeface="Calibri" pitchFamily="34" charset="-120"/>
              </a:rPr>
              <a:t>"We've worked with several cleaning companies over the years, but Mad Dog is different. When there's an issue, they fix it immediately."</a:t>
            </a:r>
            <a:endParaRPr lang="en-US" sz="1000" dirty="0"/>
          </a:p>
        </p:txBody>
      </p:sp>
      <p:sp>
        <p:nvSpPr>
          <p:cNvPr id="14" name="Text 12"/>
          <p:cNvSpPr/>
          <p:nvPr/>
        </p:nvSpPr>
        <p:spPr>
          <a:xfrm>
            <a:off x="3858768" y="3621024"/>
            <a:ext cx="3246120" cy="201168"/>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 Government Administrator</a:t>
            </a:r>
            <a:endParaRPr lang="en-US" sz="900" dirty="0"/>
          </a:p>
        </p:txBody>
      </p:sp>
      <p:sp>
        <p:nvSpPr>
          <p:cNvPr id="15" name="Shape 13"/>
          <p:cNvSpPr/>
          <p:nvPr/>
        </p:nvSpPr>
        <p:spPr>
          <a:xfrm>
            <a:off x="411480" y="3877056"/>
            <a:ext cx="6949440" cy="16459"/>
          </a:xfrm>
          <a:prstGeom prst="rect">
            <a:avLst/>
          </a:prstGeom>
          <a:solidFill>
            <a:srgbClr val="E5E7EB"/>
          </a:solidFill>
          <a:ln w="12700">
            <a:solidFill>
              <a:srgbClr val="E5E7EB"/>
            </a:solidFill>
            <a:prstDash val="solid"/>
          </a:ln>
        </p:spPr>
      </p:sp>
      <p:sp>
        <p:nvSpPr>
          <p:cNvPr id="16" name="Text 14"/>
          <p:cNvSpPr/>
          <p:nvPr/>
        </p:nvSpPr>
        <p:spPr>
          <a:xfrm>
            <a:off x="411480" y="3950208"/>
            <a:ext cx="690372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background checks and professionalism of their crew gave us confidence from day one. In a government facility, security and accountability aren't negotiable. Mad Dog gets that."</a:t>
            </a:r>
            <a:endParaRPr lang="en-US" sz="1000" dirty="0"/>
          </a:p>
        </p:txBody>
      </p:sp>
      <p:sp>
        <p:nvSpPr>
          <p:cNvPr id="17" name="Text 15"/>
          <p:cNvSpPr/>
          <p:nvPr/>
        </p:nvSpPr>
        <p:spPr>
          <a:xfrm>
            <a:off x="411480" y="4443984"/>
            <a:ext cx="6903720" cy="18288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 Municipal Building Supervisor</a:t>
            </a:r>
            <a:endParaRPr lang="en-US" sz="900" dirty="0"/>
          </a:p>
        </p:txBody>
      </p:sp>
      <p:sp>
        <p:nvSpPr>
          <p:cNvPr id="18" name="Shape 16"/>
          <p:cNvSpPr/>
          <p:nvPr/>
        </p:nvSpPr>
        <p:spPr>
          <a:xfrm>
            <a:off x="7516368" y="1078992"/>
            <a:ext cx="16459" cy="3383280"/>
          </a:xfrm>
          <a:prstGeom prst="rect">
            <a:avLst/>
          </a:prstGeom>
          <a:solidFill>
            <a:srgbClr val="E5E7EB"/>
          </a:solidFill>
          <a:ln w="12700">
            <a:solidFill>
              <a:srgbClr val="E5E7EB"/>
            </a:solidFill>
            <a:prstDash val="solid"/>
          </a:ln>
        </p:spPr>
      </p:sp>
      <p:pic>
        <p:nvPicPr>
          <p:cNvPr id="19" name="Image 0" descr="./logo_faa.png">    </p:cNvPr>
          <p:cNvPicPr>
            <a:picLocks noChangeAspect="1"/>
          </p:cNvPicPr>
          <p:nvPr/>
        </p:nvPicPr>
        <p:blipFill>
          <a:blip r:embed="rId1"/>
          <a:srcRect l="0" r="0" t="0" b="0"/>
          <a:stretch/>
        </p:blipFill>
        <p:spPr>
          <a:xfrm>
            <a:off x="7607808" y="1188720"/>
            <a:ext cx="1188720" cy="914400"/>
          </a:xfrm>
          <a:prstGeom prst="rect">
            <a:avLst/>
          </a:prstGeom>
        </p:spPr>
      </p:pic>
      <p:sp>
        <p:nvSpPr>
          <p:cNvPr id="20" name="Text 17"/>
          <p:cNvSpPr/>
          <p:nvPr/>
        </p:nvSpPr>
        <p:spPr>
          <a:xfrm>
            <a:off x="7607808" y="2148840"/>
            <a:ext cx="1234440" cy="27432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Certified Past Performance</a:t>
            </a:r>
            <a:endParaRPr lang="en-US" sz="700" dirty="0"/>
          </a:p>
        </p:txBody>
      </p:sp>
      <p:pic>
        <p:nvPicPr>
          <p:cNvPr id="21" name="Image 1" descr="./logo_army.png">    </p:cNvPr>
          <p:cNvPicPr>
            <a:picLocks noChangeAspect="1"/>
          </p:cNvPicPr>
          <p:nvPr/>
        </p:nvPicPr>
        <p:blipFill>
          <a:blip r:embed="rId2"/>
          <a:srcRect l="0" r="0" t="0" b="0"/>
          <a:stretch/>
        </p:blipFill>
        <p:spPr>
          <a:xfrm>
            <a:off x="7607808" y="2505456"/>
            <a:ext cx="1188720" cy="914400"/>
          </a:xfrm>
          <a:prstGeom prst="rect">
            <a:avLst/>
          </a:prstGeom>
        </p:spPr>
      </p:pic>
      <p:sp>
        <p:nvSpPr>
          <p:cNvPr id="22" name="Text 18"/>
          <p:cNvSpPr/>
          <p:nvPr/>
        </p:nvSpPr>
        <p:spPr>
          <a:xfrm>
            <a:off x="7607808" y="3465576"/>
            <a:ext cx="1234440" cy="27432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Past Performance</a:t>
            </a:r>
            <a:endParaRPr lang="en-US" sz="700" dirty="0"/>
          </a:p>
        </p:txBody>
      </p:sp>
      <p:pic>
        <p:nvPicPr>
          <p:cNvPr id="23" name="Image 2" descr="./logo_issa.png">    </p:cNvPr>
          <p:cNvPicPr>
            <a:picLocks noChangeAspect="1"/>
          </p:cNvPicPr>
          <p:nvPr/>
        </p:nvPicPr>
        <p:blipFill>
          <a:blip r:embed="rId3"/>
          <a:srcRect l="0" r="0" t="0" b="0"/>
          <a:stretch/>
        </p:blipFill>
        <p:spPr>
          <a:xfrm>
            <a:off x="7607808" y="3803904"/>
            <a:ext cx="1188720" cy="502920"/>
          </a:xfrm>
          <a:prstGeom prst="rect">
            <a:avLst/>
          </a:prstGeom>
        </p:spPr>
      </p:pic>
      <p:sp>
        <p:nvSpPr>
          <p:cNvPr id="24" name="Text 19"/>
          <p:cNvSpPr/>
          <p:nvPr/>
        </p:nvSpPr>
        <p:spPr>
          <a:xfrm>
            <a:off x="7607808" y="4343400"/>
            <a:ext cx="1234440" cy="182880"/>
          </a:xfrm>
          <a:prstGeom prst="rect">
            <a:avLst/>
          </a:prstGeom>
          <a:noFill/>
          <a:ln/>
        </p:spPr>
        <p:txBody>
          <a:bodyPr wrap="square" lIns="0" tIns="0" rIns="0" bIns="0" rtlCol="0" anchor="ctr"/>
          <a:lstStyle/>
          <a:p>
            <a:pPr algn="ctr" indent="0" marL="0">
              <a:buNone/>
            </a:pPr>
            <a:r>
              <a:rPr lang="en-US" sz="700" dirty="0">
                <a:solidFill>
                  <a:srgbClr val="9CA3AF"/>
                </a:solidFill>
                <a:latin typeface="Calibri" pitchFamily="34" charset="0"/>
                <a:ea typeface="Calibri" pitchFamily="34" charset="-122"/>
                <a:cs typeface="Calibri" pitchFamily="34" charset="-120"/>
              </a:rPr>
              <a:t>Industry Member</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0D1F3C"/>
          </a:solidFill>
          <a:ln w="12700">
            <a:solidFill>
              <a:srgbClr val="0D1F3C"/>
            </a:solidFill>
            <a:prstDash val="solid"/>
          </a:ln>
        </p:spPr>
      </p:sp>
      <p:sp>
        <p:nvSpPr>
          <p:cNvPr id="3" name="Text 1"/>
          <p:cNvSpPr/>
          <p:nvPr/>
        </p:nvSpPr>
        <p:spPr>
          <a:xfrm>
            <a:off x="411480" y="91440"/>
            <a:ext cx="5486400" cy="164592"/>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INVESTMENT &amp; NEXT STEPS</a:t>
            </a:r>
            <a:endParaRPr lang="en-US" sz="700" dirty="0"/>
          </a:p>
        </p:txBody>
      </p:sp>
      <p:sp>
        <p:nvSpPr>
          <p:cNvPr id="4" name="Text 2"/>
          <p:cNvSpPr/>
          <p:nvPr/>
        </p:nvSpPr>
        <p:spPr>
          <a:xfrm>
            <a:off x="8503920" y="91440"/>
            <a:ext cx="502920" cy="16459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9</a:t>
            </a:r>
            <a:endParaRPr lang="en-US" sz="800" dirty="0"/>
          </a:p>
        </p:txBody>
      </p:sp>
      <p:sp>
        <p:nvSpPr>
          <p:cNvPr id="5" name="Text 3"/>
          <p:cNvSpPr/>
          <p:nvPr/>
        </p:nvSpPr>
        <p:spPr>
          <a:xfrm>
            <a:off x="411480" y="347472"/>
            <a:ext cx="4114800" cy="182880"/>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YOUR INVESTMENT</a:t>
            </a:r>
            <a:endParaRPr lang="en-US" sz="700" dirty="0"/>
          </a:p>
        </p:txBody>
      </p:sp>
      <p:sp>
        <p:nvSpPr>
          <p:cNvPr id="6" name="Text 4"/>
          <p:cNvSpPr/>
          <p:nvPr/>
        </p:nvSpPr>
        <p:spPr>
          <a:xfrm>
            <a:off x="411480" y="566928"/>
            <a:ext cx="4389120" cy="841248"/>
          </a:xfrm>
          <a:prstGeom prst="rect">
            <a:avLst/>
          </a:prstGeom>
          <a:noFill/>
          <a:ln/>
        </p:spPr>
        <p:txBody>
          <a:bodyPr wrap="square" lIns="0" tIns="0" rIns="0" bIns="0" rtlCol="0" anchor="ctr"/>
          <a:lstStyle/>
          <a:p>
            <a:pPr indent="0" marL="0">
              <a:buNone/>
            </a:pPr>
            <a:r>
              <a:rPr lang="en-US" sz="5200" b="1" dirty="0">
                <a:solidFill>
                  <a:srgbClr val="0D1F3C"/>
                </a:solidFill>
                <a:latin typeface="Trebuchet MS" pitchFamily="34" charset="0"/>
                <a:ea typeface="Trebuchet MS" pitchFamily="34" charset="-122"/>
                <a:cs typeface="Trebuchet MS" pitchFamily="34" charset="-120"/>
              </a:rPr>
              <a:t>$1,000</a:t>
            </a:r>
            <a:endParaRPr lang="en-US" sz="5200" dirty="0"/>
          </a:p>
        </p:txBody>
      </p:sp>
      <p:sp>
        <p:nvSpPr>
          <p:cNvPr id="7" name="Text 5"/>
          <p:cNvSpPr/>
          <p:nvPr/>
        </p:nvSpPr>
        <p:spPr>
          <a:xfrm>
            <a:off x="411480" y="1444752"/>
            <a:ext cx="4389120" cy="237744"/>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per month  ·  $12,000 annually  ·  Month-to-Month  ·  30-Day Notice</a:t>
            </a:r>
            <a:endParaRPr lang="en-US" sz="1000" dirty="0"/>
          </a:p>
        </p:txBody>
      </p:sp>
      <p:sp>
        <p:nvSpPr>
          <p:cNvPr id="8" name="Shape 6"/>
          <p:cNvSpPr/>
          <p:nvPr/>
        </p:nvSpPr>
        <p:spPr>
          <a:xfrm>
            <a:off x="411480" y="1737360"/>
            <a:ext cx="4572000" cy="16459"/>
          </a:xfrm>
          <a:prstGeom prst="rect">
            <a:avLst/>
          </a:prstGeom>
          <a:solidFill>
            <a:srgbClr val="E5E7EB"/>
          </a:solidFill>
          <a:ln w="12700">
            <a:solidFill>
              <a:srgbClr val="E5E7EB"/>
            </a:solidFill>
            <a:prstDash val="solid"/>
          </a:ln>
        </p:spPr>
      </p:sp>
      <p:sp>
        <p:nvSpPr>
          <p:cNvPr id="9" name="Shape 7"/>
          <p:cNvSpPr/>
          <p:nvPr/>
        </p:nvSpPr>
        <p:spPr>
          <a:xfrm>
            <a:off x="411480" y="1828800"/>
            <a:ext cx="4572000" cy="384048"/>
          </a:xfrm>
          <a:prstGeom prst="rect">
            <a:avLst/>
          </a:prstGeom>
          <a:solidFill>
            <a:srgbClr val="FFFFFF"/>
          </a:solidFill>
          <a:ln w="12700">
            <a:solidFill>
              <a:srgbClr val="F3F4F6"/>
            </a:solidFill>
            <a:prstDash val="solid"/>
          </a:ln>
        </p:spPr>
      </p:sp>
      <p:sp>
        <p:nvSpPr>
          <p:cNvPr id="10" name="Text 8"/>
          <p:cNvSpPr/>
          <p:nvPr/>
        </p:nvSpPr>
        <p:spPr>
          <a:xfrm>
            <a:off x="548640" y="1901952"/>
            <a:ext cx="2926080" cy="219456"/>
          </a:xfrm>
          <a:prstGeom prst="rect">
            <a:avLst/>
          </a:prstGeom>
          <a:noFill/>
          <a:ln/>
        </p:spPr>
        <p:txBody>
          <a:bodyPr wrap="square" lIns="0" tIns="0" rIns="0" bIns="0" rtlCol="0" anchor="ctr"/>
          <a:lstStyle/>
          <a:p>
            <a:pPr indent="0" marL="0">
              <a:buNone/>
            </a:pPr>
            <a:r>
              <a:rPr lang="en-US" sz="1000" dirty="0">
                <a:solidFill>
                  <a:srgbClr val="2E7D52"/>
                </a:solidFill>
                <a:latin typeface="Calibri" pitchFamily="34" charset="0"/>
                <a:ea typeface="Calibri" pitchFamily="34" charset="-122"/>
                <a:cs typeface="Calibri" pitchFamily="34" charset="-120"/>
              </a:rPr>
              <a:t>OrangeQC Inspection Reporting</a:t>
            </a:r>
            <a:endParaRPr lang="en-US" sz="1000" dirty="0"/>
          </a:p>
        </p:txBody>
      </p:sp>
      <p:sp>
        <p:nvSpPr>
          <p:cNvPr id="11" name="Text 9"/>
          <p:cNvSpPr/>
          <p:nvPr/>
        </p:nvSpPr>
        <p:spPr>
          <a:xfrm>
            <a:off x="3566160" y="1901952"/>
            <a:ext cx="1234440" cy="219456"/>
          </a:xfrm>
          <a:prstGeom prst="rect">
            <a:avLst/>
          </a:prstGeom>
          <a:noFill/>
          <a:ln/>
        </p:spPr>
        <p:txBody>
          <a:bodyPr wrap="square" lIns="0" tIns="0" rIns="0" bIns="0" rtlCol="0" anchor="ctr"/>
          <a:lstStyle/>
          <a:p>
            <a:pPr algn="r" indent="0" marL="0">
              <a:buNone/>
            </a:pPr>
            <a:r>
              <a:rPr lang="en-US" sz="1000" dirty="0">
                <a:solidFill>
                  <a:srgbClr val="2E7D52"/>
                </a:solidFill>
                <a:latin typeface="Calibri" pitchFamily="34" charset="0"/>
                <a:ea typeface="Calibri" pitchFamily="34" charset="-122"/>
                <a:cs typeface="Calibri" pitchFamily="34" charset="-120"/>
              </a:rPr>
              <a:t>Included</a:t>
            </a:r>
            <a:endParaRPr lang="en-US" sz="1000" dirty="0"/>
          </a:p>
        </p:txBody>
      </p:sp>
      <p:sp>
        <p:nvSpPr>
          <p:cNvPr id="12" name="Shape 10"/>
          <p:cNvSpPr/>
          <p:nvPr/>
        </p:nvSpPr>
        <p:spPr>
          <a:xfrm>
            <a:off x="411480" y="2212848"/>
            <a:ext cx="4572000" cy="384048"/>
          </a:xfrm>
          <a:prstGeom prst="rect">
            <a:avLst/>
          </a:prstGeom>
          <a:solidFill>
            <a:srgbClr val="F9FAFB"/>
          </a:solidFill>
          <a:ln w="12700">
            <a:solidFill>
              <a:srgbClr val="F3F4F6"/>
            </a:solidFill>
            <a:prstDash val="solid"/>
          </a:ln>
        </p:spPr>
      </p:sp>
      <p:sp>
        <p:nvSpPr>
          <p:cNvPr id="13" name="Text 11"/>
          <p:cNvSpPr/>
          <p:nvPr/>
        </p:nvSpPr>
        <p:spPr>
          <a:xfrm>
            <a:off x="548640" y="2286000"/>
            <a:ext cx="2926080" cy="219456"/>
          </a:xfrm>
          <a:prstGeom prst="rect">
            <a:avLst/>
          </a:prstGeom>
          <a:noFill/>
          <a:ln/>
        </p:spPr>
        <p:txBody>
          <a:bodyPr wrap="square" lIns="0" tIns="0" rIns="0" bIns="0" rtlCol="0" anchor="ctr"/>
          <a:lstStyle/>
          <a:p>
            <a:pPr indent="0" marL="0">
              <a:buNone/>
            </a:pPr>
            <a:r>
              <a:rPr lang="en-US" sz="1000" dirty="0">
                <a:solidFill>
                  <a:srgbClr val="2E7D52"/>
                </a:solidFill>
                <a:latin typeface="Calibri" pitchFamily="34" charset="0"/>
                <a:ea typeface="Calibri" pitchFamily="34" charset="-122"/>
                <a:cs typeface="Calibri" pitchFamily="34" charset="-120"/>
              </a:rPr>
              <a:t>Dedicated QA Manager</a:t>
            </a:r>
            <a:endParaRPr lang="en-US" sz="1000" dirty="0"/>
          </a:p>
        </p:txBody>
      </p:sp>
      <p:sp>
        <p:nvSpPr>
          <p:cNvPr id="14" name="Text 12"/>
          <p:cNvSpPr/>
          <p:nvPr/>
        </p:nvSpPr>
        <p:spPr>
          <a:xfrm>
            <a:off x="3566160" y="2286000"/>
            <a:ext cx="1234440" cy="219456"/>
          </a:xfrm>
          <a:prstGeom prst="rect">
            <a:avLst/>
          </a:prstGeom>
          <a:noFill/>
          <a:ln/>
        </p:spPr>
        <p:txBody>
          <a:bodyPr wrap="square" lIns="0" tIns="0" rIns="0" bIns="0" rtlCol="0" anchor="ctr"/>
          <a:lstStyle/>
          <a:p>
            <a:pPr algn="r" indent="0" marL="0">
              <a:buNone/>
            </a:pPr>
            <a:r>
              <a:rPr lang="en-US" sz="1000" dirty="0">
                <a:solidFill>
                  <a:srgbClr val="2E7D52"/>
                </a:solidFill>
                <a:latin typeface="Calibri" pitchFamily="34" charset="0"/>
                <a:ea typeface="Calibri" pitchFamily="34" charset="-122"/>
                <a:cs typeface="Calibri" pitchFamily="34" charset="-120"/>
              </a:rPr>
              <a:t>Included</a:t>
            </a:r>
            <a:endParaRPr lang="en-US" sz="1000" dirty="0"/>
          </a:p>
        </p:txBody>
      </p:sp>
      <p:sp>
        <p:nvSpPr>
          <p:cNvPr id="15" name="Shape 13"/>
          <p:cNvSpPr/>
          <p:nvPr/>
        </p:nvSpPr>
        <p:spPr>
          <a:xfrm>
            <a:off x="411480" y="2596896"/>
            <a:ext cx="4572000" cy="384048"/>
          </a:xfrm>
          <a:prstGeom prst="rect">
            <a:avLst/>
          </a:prstGeom>
          <a:solidFill>
            <a:srgbClr val="FFFFFF"/>
          </a:solidFill>
          <a:ln w="12700">
            <a:solidFill>
              <a:srgbClr val="F3F4F6"/>
            </a:solidFill>
            <a:prstDash val="solid"/>
          </a:ln>
        </p:spPr>
      </p:sp>
      <p:sp>
        <p:nvSpPr>
          <p:cNvPr id="16" name="Text 14"/>
          <p:cNvSpPr/>
          <p:nvPr/>
        </p:nvSpPr>
        <p:spPr>
          <a:xfrm>
            <a:off x="548640" y="2670048"/>
            <a:ext cx="2926080" cy="219456"/>
          </a:xfrm>
          <a:prstGeom prst="rect">
            <a:avLst/>
          </a:prstGeom>
          <a:noFill/>
          <a:ln/>
        </p:spPr>
        <p:txBody>
          <a:bodyPr wrap="square" lIns="0" tIns="0" rIns="0" bIns="0" rtlCol="0" anchor="ctr"/>
          <a:lstStyle/>
          <a:p>
            <a:pPr indent="0" marL="0">
              <a:buNone/>
            </a:pPr>
            <a:r>
              <a:rPr lang="en-US" sz="1000" dirty="0">
                <a:solidFill>
                  <a:srgbClr val="2E7D52"/>
                </a:solidFill>
                <a:latin typeface="Calibri" pitchFamily="34" charset="0"/>
                <a:ea typeface="Calibri" pitchFamily="34" charset="-122"/>
                <a:cs typeface="Calibri" pitchFamily="34" charset="-120"/>
              </a:rPr>
              <a:t>Ownership Direct Line</a:t>
            </a:r>
            <a:endParaRPr lang="en-US" sz="1000" dirty="0"/>
          </a:p>
        </p:txBody>
      </p:sp>
      <p:sp>
        <p:nvSpPr>
          <p:cNvPr id="17" name="Text 15"/>
          <p:cNvSpPr/>
          <p:nvPr/>
        </p:nvSpPr>
        <p:spPr>
          <a:xfrm>
            <a:off x="3566160" y="2670048"/>
            <a:ext cx="1234440" cy="219456"/>
          </a:xfrm>
          <a:prstGeom prst="rect">
            <a:avLst/>
          </a:prstGeom>
          <a:noFill/>
          <a:ln/>
        </p:spPr>
        <p:txBody>
          <a:bodyPr wrap="square" lIns="0" tIns="0" rIns="0" bIns="0" rtlCol="0" anchor="ctr"/>
          <a:lstStyle/>
          <a:p>
            <a:pPr algn="r" indent="0" marL="0">
              <a:buNone/>
            </a:pPr>
            <a:r>
              <a:rPr lang="en-US" sz="1000" dirty="0">
                <a:solidFill>
                  <a:srgbClr val="2E7D52"/>
                </a:solidFill>
                <a:latin typeface="Calibri" pitchFamily="34" charset="0"/>
                <a:ea typeface="Calibri" pitchFamily="34" charset="-122"/>
                <a:cs typeface="Calibri" pitchFamily="34" charset="-120"/>
              </a:rPr>
              <a:t>Included</a:t>
            </a:r>
            <a:endParaRPr lang="en-US" sz="1000" dirty="0"/>
          </a:p>
        </p:txBody>
      </p:sp>
      <p:sp>
        <p:nvSpPr>
          <p:cNvPr id="18" name="Shape 16"/>
          <p:cNvSpPr/>
          <p:nvPr/>
        </p:nvSpPr>
        <p:spPr>
          <a:xfrm>
            <a:off x="411480" y="2980944"/>
            <a:ext cx="4572000" cy="384048"/>
          </a:xfrm>
          <a:prstGeom prst="rect">
            <a:avLst/>
          </a:prstGeom>
          <a:solidFill>
            <a:srgbClr val="F9FAFB"/>
          </a:solidFill>
          <a:ln w="12700">
            <a:solidFill>
              <a:srgbClr val="F3F4F6"/>
            </a:solidFill>
            <a:prstDash val="solid"/>
          </a:ln>
        </p:spPr>
      </p:sp>
      <p:sp>
        <p:nvSpPr>
          <p:cNvPr id="19" name="Text 17"/>
          <p:cNvSpPr/>
          <p:nvPr/>
        </p:nvSpPr>
        <p:spPr>
          <a:xfrm>
            <a:off x="548640" y="3054096"/>
            <a:ext cx="2926080" cy="219456"/>
          </a:xfrm>
          <a:prstGeom prst="rect">
            <a:avLst/>
          </a:prstGeom>
          <a:noFill/>
          <a:ln/>
        </p:spPr>
        <p:txBody>
          <a:bodyPr wrap="square" lIns="0" tIns="0" rIns="0" bIns="0" rtlCol="0" anchor="ctr"/>
          <a:lstStyle/>
          <a:p>
            <a:pPr indent="0" marL="0">
              <a:buNone/>
            </a:pPr>
            <a:r>
              <a:rPr lang="en-US" sz="1000" dirty="0">
                <a:solidFill>
                  <a:srgbClr val="2E7D52"/>
                </a:solidFill>
                <a:latin typeface="Calibri" pitchFamily="34" charset="0"/>
                <a:ea typeface="Calibri" pitchFamily="34" charset="-122"/>
                <a:cs typeface="Calibri" pitchFamily="34" charset="-120"/>
              </a:rPr>
              <a:t>W-2 Employed Staff</a:t>
            </a:r>
            <a:endParaRPr lang="en-US" sz="1000" dirty="0"/>
          </a:p>
        </p:txBody>
      </p:sp>
      <p:sp>
        <p:nvSpPr>
          <p:cNvPr id="20" name="Text 18"/>
          <p:cNvSpPr/>
          <p:nvPr/>
        </p:nvSpPr>
        <p:spPr>
          <a:xfrm>
            <a:off x="3566160" y="3054096"/>
            <a:ext cx="1234440" cy="219456"/>
          </a:xfrm>
          <a:prstGeom prst="rect">
            <a:avLst/>
          </a:prstGeom>
          <a:noFill/>
          <a:ln/>
        </p:spPr>
        <p:txBody>
          <a:bodyPr wrap="square" lIns="0" tIns="0" rIns="0" bIns="0" rtlCol="0" anchor="ctr"/>
          <a:lstStyle/>
          <a:p>
            <a:pPr algn="r" indent="0" marL="0">
              <a:buNone/>
            </a:pPr>
            <a:r>
              <a:rPr lang="en-US" sz="1000" dirty="0">
                <a:solidFill>
                  <a:srgbClr val="2E7D52"/>
                </a:solidFill>
                <a:latin typeface="Calibri" pitchFamily="34" charset="0"/>
                <a:ea typeface="Calibri" pitchFamily="34" charset="-122"/>
                <a:cs typeface="Calibri" pitchFamily="34" charset="-120"/>
              </a:rPr>
              <a:t>Included</a:t>
            </a:r>
            <a:endParaRPr lang="en-US" sz="1000" dirty="0"/>
          </a:p>
        </p:txBody>
      </p:sp>
      <p:sp>
        <p:nvSpPr>
          <p:cNvPr id="21" name="Shape 19"/>
          <p:cNvSpPr/>
          <p:nvPr/>
        </p:nvSpPr>
        <p:spPr>
          <a:xfrm>
            <a:off x="411480" y="3364992"/>
            <a:ext cx="4572000" cy="384048"/>
          </a:xfrm>
          <a:prstGeom prst="rect">
            <a:avLst/>
          </a:prstGeom>
          <a:solidFill>
            <a:srgbClr val="FFFFFF"/>
          </a:solidFill>
          <a:ln w="12700">
            <a:solidFill>
              <a:srgbClr val="F3F4F6"/>
            </a:solidFill>
            <a:prstDash val="solid"/>
          </a:ln>
        </p:spPr>
      </p:sp>
      <p:sp>
        <p:nvSpPr>
          <p:cNvPr id="22" name="Text 20"/>
          <p:cNvSpPr/>
          <p:nvPr/>
        </p:nvSpPr>
        <p:spPr>
          <a:xfrm>
            <a:off x="548640" y="3438144"/>
            <a:ext cx="2926080" cy="219456"/>
          </a:xfrm>
          <a:prstGeom prst="rect">
            <a:avLst/>
          </a:prstGeom>
          <a:noFill/>
          <a:ln/>
        </p:spPr>
        <p:txBody>
          <a:bodyPr wrap="square" lIns="0" tIns="0" rIns="0" bIns="0" rtlCol="0" anchor="ctr"/>
          <a:lstStyle/>
          <a:p>
            <a:pPr indent="0" marL="0">
              <a:buNone/>
            </a:pPr>
            <a:r>
              <a:rPr lang="en-US" sz="1000" dirty="0">
                <a:solidFill>
                  <a:srgbClr val="2E7D52"/>
                </a:solidFill>
                <a:latin typeface="Calibri" pitchFamily="34" charset="0"/>
                <a:ea typeface="Calibri" pitchFamily="34" charset="-122"/>
                <a:cs typeface="Calibri" pitchFamily="34" charset="-120"/>
              </a:rPr>
              <a:t>Supply &amp; Equipment Management</a:t>
            </a:r>
            <a:endParaRPr lang="en-US" sz="1000" dirty="0"/>
          </a:p>
        </p:txBody>
      </p:sp>
      <p:sp>
        <p:nvSpPr>
          <p:cNvPr id="23" name="Text 21"/>
          <p:cNvSpPr/>
          <p:nvPr/>
        </p:nvSpPr>
        <p:spPr>
          <a:xfrm>
            <a:off x="3566160" y="3438144"/>
            <a:ext cx="1234440" cy="219456"/>
          </a:xfrm>
          <a:prstGeom prst="rect">
            <a:avLst/>
          </a:prstGeom>
          <a:noFill/>
          <a:ln/>
        </p:spPr>
        <p:txBody>
          <a:bodyPr wrap="square" lIns="0" tIns="0" rIns="0" bIns="0" rtlCol="0" anchor="ctr"/>
          <a:lstStyle/>
          <a:p>
            <a:pPr algn="r" indent="0" marL="0">
              <a:buNone/>
            </a:pPr>
            <a:r>
              <a:rPr lang="en-US" sz="1000" dirty="0">
                <a:solidFill>
                  <a:srgbClr val="2E7D52"/>
                </a:solidFill>
                <a:latin typeface="Calibri" pitchFamily="34" charset="0"/>
                <a:ea typeface="Calibri" pitchFamily="34" charset="-122"/>
                <a:cs typeface="Calibri" pitchFamily="34" charset="-120"/>
              </a:rPr>
              <a:t>Included</a:t>
            </a:r>
            <a:endParaRPr lang="en-US" sz="1000" dirty="0"/>
          </a:p>
        </p:txBody>
      </p:sp>
      <p:sp>
        <p:nvSpPr>
          <p:cNvPr id="24" name="Shape 22"/>
          <p:cNvSpPr/>
          <p:nvPr/>
        </p:nvSpPr>
        <p:spPr>
          <a:xfrm>
            <a:off x="411480" y="3803904"/>
            <a:ext cx="4572000" cy="420624"/>
          </a:xfrm>
          <a:prstGeom prst="rect">
            <a:avLst/>
          </a:prstGeom>
          <a:solidFill>
            <a:srgbClr val="0D1F3C"/>
          </a:solidFill>
          <a:ln w="12700">
            <a:solidFill>
              <a:srgbClr val="0D1F3C"/>
            </a:solidFill>
            <a:prstDash val="solid"/>
          </a:ln>
        </p:spPr>
      </p:sp>
      <p:sp>
        <p:nvSpPr>
          <p:cNvPr id="25" name="Text 23"/>
          <p:cNvSpPr/>
          <p:nvPr/>
        </p:nvSpPr>
        <p:spPr>
          <a:xfrm>
            <a:off x="566928" y="3913632"/>
            <a:ext cx="2560320" cy="23774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Monthly Total</a:t>
            </a:r>
            <a:endParaRPr lang="en-US" sz="1100" dirty="0"/>
          </a:p>
        </p:txBody>
      </p:sp>
      <p:sp>
        <p:nvSpPr>
          <p:cNvPr id="26" name="Text 24"/>
          <p:cNvSpPr/>
          <p:nvPr/>
        </p:nvSpPr>
        <p:spPr>
          <a:xfrm>
            <a:off x="3291840" y="3895344"/>
            <a:ext cx="1508760" cy="274320"/>
          </a:xfrm>
          <a:prstGeom prst="rect">
            <a:avLst/>
          </a:prstGeom>
          <a:noFill/>
          <a:ln/>
        </p:spPr>
        <p:txBody>
          <a:bodyPr wrap="square" lIns="0" tIns="0" rIns="0" bIns="0" rtlCol="0" anchor="ctr"/>
          <a:lstStyle/>
          <a:p>
            <a:pPr algn="r" indent="0" marL="0">
              <a:buNone/>
            </a:pPr>
            <a:r>
              <a:rPr lang="en-US" sz="1300" b="1" dirty="0">
                <a:solidFill>
                  <a:srgbClr val="B8760A"/>
                </a:solidFill>
                <a:latin typeface="Trebuchet MS" pitchFamily="34" charset="0"/>
                <a:ea typeface="Trebuchet MS" pitchFamily="34" charset="-122"/>
                <a:cs typeface="Trebuchet MS" pitchFamily="34" charset="-120"/>
              </a:rPr>
              <a:t>$1,000</a:t>
            </a:r>
            <a:endParaRPr lang="en-US" sz="1300" dirty="0"/>
          </a:p>
        </p:txBody>
      </p:sp>
      <p:sp>
        <p:nvSpPr>
          <p:cNvPr id="27" name="Shape 25"/>
          <p:cNvSpPr/>
          <p:nvPr/>
        </p:nvSpPr>
        <p:spPr>
          <a:xfrm>
            <a:off x="5120640" y="347472"/>
            <a:ext cx="16459" cy="4526280"/>
          </a:xfrm>
          <a:prstGeom prst="rect">
            <a:avLst/>
          </a:prstGeom>
          <a:solidFill>
            <a:srgbClr val="E5E7EB"/>
          </a:solidFill>
          <a:ln w="12700">
            <a:solidFill>
              <a:srgbClr val="E5E7EB"/>
            </a:solidFill>
            <a:prstDash val="solid"/>
          </a:ln>
        </p:spPr>
      </p:sp>
      <p:sp>
        <p:nvSpPr>
          <p:cNvPr id="28" name="Text 26"/>
          <p:cNvSpPr/>
          <p:nvPr/>
        </p:nvSpPr>
        <p:spPr>
          <a:xfrm>
            <a:off x="5303520" y="347472"/>
            <a:ext cx="3429000" cy="182880"/>
          </a:xfrm>
          <a:prstGeom prst="rect">
            <a:avLst/>
          </a:prstGeom>
          <a:noFill/>
          <a:ln/>
        </p:spPr>
        <p:txBody>
          <a:bodyPr wrap="square" lIns="0" tIns="0" rIns="0" bIns="0" rtlCol="0" anchor="ctr"/>
          <a:lstStyle/>
          <a:p>
            <a:pPr indent="0" marL="0">
              <a:buNone/>
            </a:pPr>
            <a:r>
              <a:rPr lang="en-US" sz="700" b="1" spc="350" kern="0" dirty="0">
                <a:solidFill>
                  <a:srgbClr val="9CA3AF"/>
                </a:solidFill>
                <a:latin typeface="Calibri" pitchFamily="34" charset="0"/>
                <a:ea typeface="Calibri" pitchFamily="34" charset="-122"/>
                <a:cs typeface="Calibri" pitchFamily="34" charset="-120"/>
              </a:rPr>
              <a:t>READY TO MOVE FORWARD?</a:t>
            </a:r>
            <a:endParaRPr lang="en-US" sz="700" dirty="0"/>
          </a:p>
        </p:txBody>
      </p:sp>
      <p:sp>
        <p:nvSpPr>
          <p:cNvPr id="29" name="Text 27"/>
          <p:cNvSpPr/>
          <p:nvPr/>
        </p:nvSpPr>
        <p:spPr>
          <a:xfrm>
            <a:off x="5303520" y="566928"/>
            <a:ext cx="3429000" cy="713232"/>
          </a:xfrm>
          <a:prstGeom prst="rect">
            <a:avLst/>
          </a:prstGeom>
          <a:noFill/>
          <a:ln/>
        </p:spPr>
        <p:txBody>
          <a:bodyPr wrap="square" lIns="0" tIns="0" rIns="0" bIns="0" rtlCol="0" anchor="ctr"/>
          <a:lstStyle/>
          <a:p>
            <a:pPr indent="0" marL="0">
              <a:lnSpc>
                <a:spcPct val="110000"/>
              </a:lnSpc>
              <a:buNone/>
            </a:pPr>
            <a:r>
              <a:rPr lang="en-US" sz="1800" b="1" dirty="0">
                <a:solidFill>
                  <a:srgbClr val="0D1F3C"/>
                </a:solidFill>
                <a:latin typeface="Trebuchet MS" pitchFamily="34" charset="0"/>
                <a:ea typeface="Trebuchet MS" pitchFamily="34" charset="-122"/>
                <a:cs typeface="Trebuchet MS" pitchFamily="34" charset="-120"/>
              </a:rPr>
              <a:t>What happens when</a:t>
            </a:r>
            <a:endParaRPr lang="en-US" sz="1800" dirty="0"/>
          </a:p>
          <a:p>
            <a:pPr indent="0" marL="0">
              <a:lnSpc>
                <a:spcPct val="110000"/>
              </a:lnSpc>
              <a:buNone/>
            </a:pPr>
            <a:r>
              <a:rPr lang="en-US" sz="1800" b="1" dirty="0">
                <a:solidFill>
                  <a:srgbClr val="0D1F3C"/>
                </a:solidFill>
                <a:latin typeface="Trebuchet MS" pitchFamily="34" charset="0"/>
                <a:ea typeface="Trebuchet MS" pitchFamily="34" charset="-122"/>
                <a:cs typeface="Trebuchet MS" pitchFamily="34" charset="-120"/>
              </a:rPr>
              <a:t>you say yes:</a:t>
            </a:r>
            <a:endParaRPr lang="en-US" sz="1800" dirty="0"/>
          </a:p>
        </p:txBody>
      </p:sp>
      <p:sp>
        <p:nvSpPr>
          <p:cNvPr id="30" name="Text 28"/>
          <p:cNvSpPr/>
          <p:nvPr/>
        </p:nvSpPr>
        <p:spPr>
          <a:xfrm>
            <a:off x="5303520" y="1389888"/>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1</a:t>
            </a:r>
            <a:endParaRPr lang="en-US" sz="1300" dirty="0"/>
          </a:p>
        </p:txBody>
      </p:sp>
      <p:sp>
        <p:nvSpPr>
          <p:cNvPr id="31" name="Shape 29"/>
          <p:cNvSpPr/>
          <p:nvPr/>
        </p:nvSpPr>
        <p:spPr>
          <a:xfrm>
            <a:off x="5303520" y="1700784"/>
            <a:ext cx="274320" cy="22860"/>
          </a:xfrm>
          <a:prstGeom prst="rect">
            <a:avLst/>
          </a:prstGeom>
          <a:solidFill>
            <a:srgbClr val="B8760A"/>
          </a:solidFill>
          <a:ln w="12700">
            <a:solidFill>
              <a:srgbClr val="B8760A"/>
            </a:solidFill>
            <a:prstDash val="solid"/>
          </a:ln>
        </p:spPr>
      </p:sp>
      <p:sp>
        <p:nvSpPr>
          <p:cNvPr id="32" name="Text 30"/>
          <p:cNvSpPr/>
          <p:nvPr/>
        </p:nvSpPr>
        <p:spPr>
          <a:xfrm>
            <a:off x="5650992" y="1426464"/>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Agreement signed &amp; start date confirmed</a:t>
            </a:r>
            <a:endParaRPr lang="en-US" sz="1050" dirty="0"/>
          </a:p>
        </p:txBody>
      </p:sp>
      <p:sp>
        <p:nvSpPr>
          <p:cNvPr id="33" name="Text 31"/>
          <p:cNvSpPr/>
          <p:nvPr/>
        </p:nvSpPr>
        <p:spPr>
          <a:xfrm>
            <a:off x="5303520" y="2057400"/>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2</a:t>
            </a:r>
            <a:endParaRPr lang="en-US" sz="1300" dirty="0"/>
          </a:p>
        </p:txBody>
      </p:sp>
      <p:sp>
        <p:nvSpPr>
          <p:cNvPr id="34" name="Shape 32"/>
          <p:cNvSpPr/>
          <p:nvPr/>
        </p:nvSpPr>
        <p:spPr>
          <a:xfrm>
            <a:off x="5303520" y="2368296"/>
            <a:ext cx="274320" cy="22860"/>
          </a:xfrm>
          <a:prstGeom prst="rect">
            <a:avLst/>
          </a:prstGeom>
          <a:solidFill>
            <a:srgbClr val="B8760A"/>
          </a:solidFill>
          <a:ln w="12700">
            <a:solidFill>
              <a:srgbClr val="B8760A"/>
            </a:solidFill>
            <a:prstDash val="solid"/>
          </a:ln>
        </p:spPr>
      </p:sp>
      <p:sp>
        <p:nvSpPr>
          <p:cNvPr id="35" name="Text 33"/>
          <p:cNvSpPr/>
          <p:nvPr/>
        </p:nvSpPr>
        <p:spPr>
          <a:xfrm>
            <a:off x="5650992" y="2093976"/>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CEO + QA Manager schedule facility site walk</a:t>
            </a:r>
            <a:endParaRPr lang="en-US" sz="1050" dirty="0"/>
          </a:p>
        </p:txBody>
      </p:sp>
      <p:sp>
        <p:nvSpPr>
          <p:cNvPr id="36" name="Text 34"/>
          <p:cNvSpPr/>
          <p:nvPr/>
        </p:nvSpPr>
        <p:spPr>
          <a:xfrm>
            <a:off x="5303520" y="2724912"/>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3</a:t>
            </a:r>
            <a:endParaRPr lang="en-US" sz="1300" dirty="0"/>
          </a:p>
        </p:txBody>
      </p:sp>
      <p:sp>
        <p:nvSpPr>
          <p:cNvPr id="37" name="Shape 35"/>
          <p:cNvSpPr/>
          <p:nvPr/>
        </p:nvSpPr>
        <p:spPr>
          <a:xfrm>
            <a:off x="5303520" y="3035808"/>
            <a:ext cx="274320" cy="22860"/>
          </a:xfrm>
          <a:prstGeom prst="rect">
            <a:avLst/>
          </a:prstGeom>
          <a:solidFill>
            <a:srgbClr val="B8760A"/>
          </a:solidFill>
          <a:ln w="12700">
            <a:solidFill>
              <a:srgbClr val="B8760A"/>
            </a:solidFill>
            <a:prstDash val="solid"/>
          </a:ln>
        </p:spPr>
      </p:sp>
      <p:sp>
        <p:nvSpPr>
          <p:cNvPr id="38" name="Text 36"/>
          <p:cNvSpPr/>
          <p:nvPr/>
        </p:nvSpPr>
        <p:spPr>
          <a:xfrm>
            <a:off x="5650992" y="2761488"/>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Team assigned, keys exchanged, supplies staged</a:t>
            </a:r>
            <a:endParaRPr lang="en-US" sz="1050" dirty="0"/>
          </a:p>
        </p:txBody>
      </p:sp>
      <p:sp>
        <p:nvSpPr>
          <p:cNvPr id="39" name="Text 37"/>
          <p:cNvSpPr/>
          <p:nvPr/>
        </p:nvSpPr>
        <p:spPr>
          <a:xfrm>
            <a:off x="5303520" y="3392424"/>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4</a:t>
            </a:r>
            <a:endParaRPr lang="en-US" sz="1300" dirty="0"/>
          </a:p>
        </p:txBody>
      </p:sp>
      <p:sp>
        <p:nvSpPr>
          <p:cNvPr id="40" name="Shape 38"/>
          <p:cNvSpPr/>
          <p:nvPr/>
        </p:nvSpPr>
        <p:spPr>
          <a:xfrm>
            <a:off x="5303520" y="3703320"/>
            <a:ext cx="274320" cy="22860"/>
          </a:xfrm>
          <a:prstGeom prst="rect">
            <a:avLst/>
          </a:prstGeom>
          <a:solidFill>
            <a:srgbClr val="B8760A"/>
          </a:solidFill>
          <a:ln w="12700">
            <a:solidFill>
              <a:srgbClr val="B8760A"/>
            </a:solidFill>
            <a:prstDash val="solid"/>
          </a:ln>
        </p:spPr>
      </p:sp>
      <p:sp>
        <p:nvSpPr>
          <p:cNvPr id="41" name="Text 39"/>
          <p:cNvSpPr/>
          <p:nvPr/>
        </p:nvSpPr>
        <p:spPr>
          <a:xfrm>
            <a:off x="5650992" y="3429000"/>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Inspection dashboard created — you get login access</a:t>
            </a:r>
            <a:endParaRPr lang="en-US" sz="1050" dirty="0"/>
          </a:p>
        </p:txBody>
      </p:sp>
      <p:sp>
        <p:nvSpPr>
          <p:cNvPr id="42" name="Text 40"/>
          <p:cNvSpPr/>
          <p:nvPr/>
        </p:nvSpPr>
        <p:spPr>
          <a:xfrm>
            <a:off x="5303520" y="4059936"/>
            <a:ext cx="274320" cy="292608"/>
          </a:xfrm>
          <a:prstGeom prst="rect">
            <a:avLst/>
          </a:prstGeom>
          <a:noFill/>
          <a:ln/>
        </p:spPr>
        <p:txBody>
          <a:bodyPr wrap="square" lIns="0" tIns="0" rIns="0" bIns="0" rtlCol="0" anchor="ctr"/>
          <a:lstStyle/>
          <a:p>
            <a:pPr indent="0" marL="0">
              <a:buNone/>
            </a:pPr>
            <a:r>
              <a:rPr lang="en-US" sz="1300" b="1" dirty="0">
                <a:solidFill>
                  <a:srgbClr val="B8760A"/>
                </a:solidFill>
                <a:latin typeface="Trebuchet MS" pitchFamily="34" charset="0"/>
                <a:ea typeface="Trebuchet MS" pitchFamily="34" charset="-122"/>
                <a:cs typeface="Trebuchet MS" pitchFamily="34" charset="-120"/>
              </a:rPr>
              <a:t>5</a:t>
            </a:r>
            <a:endParaRPr lang="en-US" sz="1300" dirty="0"/>
          </a:p>
        </p:txBody>
      </p:sp>
      <p:sp>
        <p:nvSpPr>
          <p:cNvPr id="43" name="Shape 41"/>
          <p:cNvSpPr/>
          <p:nvPr/>
        </p:nvSpPr>
        <p:spPr>
          <a:xfrm>
            <a:off x="5303520" y="4370832"/>
            <a:ext cx="274320" cy="22860"/>
          </a:xfrm>
          <a:prstGeom prst="rect">
            <a:avLst/>
          </a:prstGeom>
          <a:solidFill>
            <a:srgbClr val="B8760A"/>
          </a:solidFill>
          <a:ln w="12700">
            <a:solidFill>
              <a:srgbClr val="B8760A"/>
            </a:solidFill>
            <a:prstDash val="solid"/>
          </a:ln>
        </p:spPr>
      </p:sp>
      <p:sp>
        <p:nvSpPr>
          <p:cNvPr id="44" name="Text 42"/>
          <p:cNvSpPr/>
          <p:nvPr/>
        </p:nvSpPr>
        <p:spPr>
          <a:xfrm>
            <a:off x="5650992" y="4096512"/>
            <a:ext cx="3063240" cy="475488"/>
          </a:xfrm>
          <a:prstGeom prst="rect">
            <a:avLst/>
          </a:prstGeom>
          <a:noFill/>
          <a:ln/>
        </p:spPr>
        <p:txBody>
          <a:bodyPr wrap="square" lIns="0" tIns="0" rIns="0" bIns="0" rtlCol="0" anchor="ctr"/>
          <a:lstStyle/>
          <a:p>
            <a:pPr indent="0" marL="0">
              <a:lnSpc>
                <a:spcPct val="120000"/>
              </a:lnSpc>
              <a:buNone/>
            </a:pPr>
            <a:r>
              <a:rPr lang="en-US" sz="1050" dirty="0">
                <a:solidFill>
                  <a:srgbClr val="374151"/>
                </a:solidFill>
                <a:latin typeface="Calibri" pitchFamily="34" charset="0"/>
                <a:ea typeface="Calibri" pitchFamily="34" charset="-122"/>
                <a:cs typeface="Calibri" pitchFamily="34" charset="-120"/>
              </a:rPr>
              <a:t>First service delivered on your start date, July 1, 2026</a:t>
            </a:r>
            <a:endParaRPr lang="en-US" sz="1050" dirty="0"/>
          </a:p>
        </p:txBody>
      </p:sp>
      <p:sp>
        <p:nvSpPr>
          <p:cNvPr id="45" name="Shape 43"/>
          <p:cNvSpPr/>
          <p:nvPr/>
        </p:nvSpPr>
        <p:spPr>
          <a:xfrm>
            <a:off x="5303520" y="4617720"/>
            <a:ext cx="3429000" cy="16459"/>
          </a:xfrm>
          <a:prstGeom prst="rect">
            <a:avLst/>
          </a:prstGeom>
          <a:solidFill>
            <a:srgbClr val="E5E7EB"/>
          </a:solidFill>
          <a:ln w="12700">
            <a:solidFill>
              <a:srgbClr val="E5E7EB"/>
            </a:solidFill>
            <a:prstDash val="solid"/>
          </a:ln>
        </p:spPr>
      </p:sp>
      <p:sp>
        <p:nvSpPr>
          <p:cNvPr id="46" name="Text 44"/>
          <p:cNvSpPr/>
          <p:nvPr/>
        </p:nvSpPr>
        <p:spPr>
          <a:xfrm>
            <a:off x="5303520" y="4681728"/>
            <a:ext cx="3429000" cy="256032"/>
          </a:xfrm>
          <a:prstGeom prst="rect">
            <a:avLst/>
          </a:prstGeom>
          <a:noFill/>
          <a:ln/>
        </p:spPr>
        <p:txBody>
          <a:bodyPr wrap="square" lIns="0" tIns="0" rIns="0" bIns="0" rtlCol="0" anchor="ctr"/>
          <a:lstStyle/>
          <a:p>
            <a:pPr indent="0" marL="0">
              <a:buNone/>
            </a:pPr>
            <a:r>
              <a:rPr lang="en-US" sz="1200" b="1" dirty="0">
                <a:solidFill>
                  <a:srgbClr val="0D1F3C"/>
                </a:solidFill>
                <a:latin typeface="Trebuchet MS" pitchFamily="34" charset="0"/>
                <a:ea typeface="Trebuchet MS" pitchFamily="34" charset="-122"/>
                <a:cs typeface="Trebuchet MS" pitchFamily="34" charset="-120"/>
              </a:rPr>
              <a:t>Hereford Johnson</a:t>
            </a:r>
            <a:endParaRPr lang="en-US" sz="1200" dirty="0"/>
          </a:p>
        </p:txBody>
      </p:sp>
      <p:sp>
        <p:nvSpPr>
          <p:cNvPr id="47" name="Text 45"/>
          <p:cNvSpPr/>
          <p:nvPr/>
        </p:nvSpPr>
        <p:spPr>
          <a:xfrm>
            <a:off x="5303520" y="4919472"/>
            <a:ext cx="3429000" cy="201168"/>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623-321-2542  ·  office@maddogcleaning.com</a:t>
            </a:r>
            <a:endParaRPr lang="en-US" sz="950" dirty="0"/>
          </a:p>
        </p:txBody>
      </p:sp>
      <p:pic>
        <p:nvPicPr>
          <p:cNvPr id="48" name="Image 0" descr="./mdf_logo_white.png">    </p:cNvPr>
          <p:cNvPicPr>
            <a:picLocks noChangeAspect="1"/>
          </p:cNvPicPr>
          <p:nvPr/>
        </p:nvPicPr>
        <p:blipFill>
          <a:blip r:embed="rId1"/>
          <a:srcRect l="0" r="0" t="0" b="0"/>
          <a:stretch/>
        </p:blipFill>
        <p:spPr>
          <a:xfrm>
            <a:off x="7818120" y="4526280"/>
            <a:ext cx="1005840" cy="502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2026-05-29T00:07:19Z</dcterms:created>
  <dcterms:modified xsi:type="dcterms:W3CDTF">2026-05-29T00:07:19Z</dcterms:modified>
</cp:coreProperties>
</file>